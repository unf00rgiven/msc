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31"/>
    <p:restoredTop sz="94598"/>
  </p:normalViewPr>
  <p:slideViewPr>
    <p:cSldViewPr snapToGrid="0" snapToObjects="1">
      <p:cViewPr varScale="1">
        <p:scale>
          <a:sx n="158" d="100"/>
          <a:sy n="158" d="100"/>
        </p:scale>
        <p:origin x="336" y="184"/>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Energy Production (kWh)</c:v>
                </c:pt>
              </c:strCache>
            </c:strRef>
          </c:tx>
          <c:spPr>
            <a:solidFill>
              <a:srgbClr val="F5A623"/>
            </a:solidFill>
            <a:effectLst/>
          </c:spPr>
          <c:invertIfNegative val="0"/>
          <c:dLbls>
            <c:numFmt formatCode="#,##0" sourceLinked="0"/>
            <c:spPr>
              <a:noFill/>
              <a:ln>
                <a:noFill/>
              </a:ln>
              <a:effectLst/>
            </c:spPr>
            <c:txPr>
              <a:bodyPr/>
              <a:lstStyle/>
              <a:p>
                <a:pPr>
                  <a:defRPr sz="12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Sep
65.0</c:v>
                </c:pt>
                <c:pt idx="1">
                  <c:v>Oct
42.0</c:v>
                </c:pt>
                <c:pt idx="2">
                  <c:v>Nov
23.9</c:v>
                </c:pt>
                <c:pt idx="3">
                  <c:v>Dec
12.2</c:v>
                </c:pt>
                <c:pt idx="4">
                  <c:v>Jan
14.4</c:v>
                </c:pt>
                <c:pt idx="5">
                  <c:v>Feb
21.1</c:v>
                </c:pt>
              </c:strCache>
            </c:strRef>
          </c:cat>
          <c:val>
            <c:numRef>
              <c:f>Sheet1!$B$2:$B$7</c:f>
              <c:numCache>
                <c:formatCode>General</c:formatCode>
                <c:ptCount val="6"/>
                <c:pt idx="0">
                  <c:v>65</c:v>
                </c:pt>
                <c:pt idx="1">
                  <c:v>42</c:v>
                </c:pt>
                <c:pt idx="2">
                  <c:v>23.9</c:v>
                </c:pt>
                <c:pt idx="3">
                  <c:v>12.2</c:v>
                </c:pt>
                <c:pt idx="4">
                  <c:v>14.4</c:v>
                </c:pt>
                <c:pt idx="5">
                  <c:v>21.1</c:v>
                </c:pt>
              </c:numCache>
            </c:numRef>
          </c:val>
          <c:extLst>
            <c:ext xmlns:c16="http://schemas.microsoft.com/office/drawing/2014/chart" uri="{C3380CC4-5D6E-409C-BE32-E72D297353CC}">
              <c16:uniqueId val="{00000000-93F9-3645-9FB1-FD0F898D839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D9EBF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203A4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D9EBF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A3040"/>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Daily Production (kWh)</c:v>
                </c:pt>
              </c:strCache>
            </c:strRef>
          </c:tx>
          <c:spPr>
            <a:solidFill>
              <a:srgbClr val="F5A623"/>
            </a:solidFill>
            <a:effectLst/>
          </c:spPr>
          <c:invertIfNegative val="0"/>
          <c:cat>
            <c:strRef>
              <c:f>Sheet1!$A$2:$A$31</c:f>
              <c:strCach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strCache>
            </c:strRef>
          </c:cat>
          <c:val>
            <c:numRef>
              <c:f>Sheet1!$B$2:$B$31</c:f>
              <c:numCache>
                <c:formatCode>General</c:formatCode>
                <c:ptCount val="30"/>
                <c:pt idx="0">
                  <c:v>2.1</c:v>
                </c:pt>
                <c:pt idx="1">
                  <c:v>2.8</c:v>
                </c:pt>
                <c:pt idx="2">
                  <c:v>3.3</c:v>
                </c:pt>
                <c:pt idx="3">
                  <c:v>3.5</c:v>
                </c:pt>
                <c:pt idx="4">
                  <c:v>3.2</c:v>
                </c:pt>
                <c:pt idx="5">
                  <c:v>2.9</c:v>
                </c:pt>
                <c:pt idx="6">
                  <c:v>1.4</c:v>
                </c:pt>
                <c:pt idx="7">
                  <c:v>0.9</c:v>
                </c:pt>
                <c:pt idx="8">
                  <c:v>2.7</c:v>
                </c:pt>
                <c:pt idx="9">
                  <c:v>3.4</c:v>
                </c:pt>
                <c:pt idx="10">
                  <c:v>3.2</c:v>
                </c:pt>
                <c:pt idx="11">
                  <c:v>3.1</c:v>
                </c:pt>
                <c:pt idx="12">
                  <c:v>2.6</c:v>
                </c:pt>
                <c:pt idx="13">
                  <c:v>2.2000000000000002</c:v>
                </c:pt>
                <c:pt idx="14">
                  <c:v>3</c:v>
                </c:pt>
                <c:pt idx="15">
                  <c:v>3.3</c:v>
                </c:pt>
                <c:pt idx="16">
                  <c:v>2.8</c:v>
                </c:pt>
                <c:pt idx="17">
                  <c:v>2.5</c:v>
                </c:pt>
                <c:pt idx="18">
                  <c:v>1.8</c:v>
                </c:pt>
                <c:pt idx="19">
                  <c:v>2.1</c:v>
                </c:pt>
                <c:pt idx="20">
                  <c:v>2.4</c:v>
                </c:pt>
                <c:pt idx="21">
                  <c:v>3.1</c:v>
                </c:pt>
                <c:pt idx="22">
                  <c:v>3.4</c:v>
                </c:pt>
                <c:pt idx="23">
                  <c:v>3.2</c:v>
                </c:pt>
                <c:pt idx="24">
                  <c:v>2.9</c:v>
                </c:pt>
                <c:pt idx="25">
                  <c:v>1.2</c:v>
                </c:pt>
                <c:pt idx="26">
                  <c:v>0.6</c:v>
                </c:pt>
                <c:pt idx="27">
                  <c:v>1.8</c:v>
                </c:pt>
                <c:pt idx="28">
                  <c:v>2.2000000000000002</c:v>
                </c:pt>
                <c:pt idx="29">
                  <c:v>2.7</c:v>
                </c:pt>
              </c:numCache>
            </c:numRef>
          </c:val>
          <c:extLst>
            <c:ext xmlns:c16="http://schemas.microsoft.com/office/drawing/2014/chart" uri="{C3380CC4-5D6E-409C-BE32-E72D297353CC}">
              <c16:uniqueId val="{00000000-7E80-864F-AD7F-4CF9F3F8A44E}"/>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66666"/>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DDD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6666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E8F4F8"/>
    </a:solidFill>
    <a:ln>
      <a:noFill/>
    </a:ln>
    <a:effectLst/>
  </c:spPr>
  <c:externalData r:id="rId1">
    <c:autoUpdate val="0"/>
  </c:externalData>
</c:chartSpace>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61834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Char char="•"/>
            </a:pPr>
            <a:r>
              <a:rPr lang="en-US" sz="1200" b="0" i="0" kern="1200" dirty="0">
                <a:solidFill>
                  <a:schemeClr val="tx1"/>
                </a:solidFill>
                <a:effectLst/>
                <a:latin typeface="+mn-lt"/>
              </a:rPr>
              <a:t>Good afternoon, my name is Ognjen Stojisavljević, I work as a researcher at RT-RK Institute in Novi Sad, and this paper was prepared together with my colleague Marija Antić.</a:t>
            </a:r>
          </a:p>
          <a:p>
            <a:pPr>
              <a:buChar char="•"/>
            </a:pPr>
            <a:r>
              <a:rPr lang="en-US" sz="1200" b="0" i="0" kern="1200" dirty="0">
                <a:solidFill>
                  <a:schemeClr val="tx1"/>
                </a:solidFill>
                <a:effectLst/>
                <a:latin typeface="+mn-lt"/>
              </a:rPr>
              <a:t>The question we started from is simple: if you live in an apartment and you cannot put panels on the roof, what can you do?</a:t>
            </a:r>
          </a:p>
          <a:p>
            <a:pPr>
              <a:buChar char="•"/>
            </a:pPr>
            <a:r>
              <a:rPr lang="en-US" sz="1200" b="0" i="0" kern="1200" dirty="0">
                <a:solidFill>
                  <a:schemeClr val="tx1"/>
                </a:solidFill>
                <a:effectLst/>
                <a:latin typeface="+mn-lt"/>
              </a:rPr>
              <a:t>What we built is a balcony power plant connected to a smart home system, so you can see exactly how much energy your balcony is producing at any moment.</a:t>
            </a:r>
          </a:p>
          <a:p>
            <a:pPr>
              <a:buChar char="•"/>
            </a:pPr>
            <a:r>
              <a:rPr lang="en-US" sz="1200" b="0" i="0" kern="1200" dirty="0">
                <a:solidFill>
                  <a:schemeClr val="tx1"/>
                </a:solidFill>
                <a:effectLst/>
                <a:latin typeface="+mn-lt"/>
              </a:rPr>
              <a:t>I will take about fifteen minutes, and I am happy to take your questions at the end.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Char char="•"/>
            </a:pPr>
            <a:r>
              <a:rPr lang="en-US" sz="1200" b="0" i="0" kern="1200" dirty="0">
                <a:solidFill>
                  <a:schemeClr val="tx1"/>
                </a:solidFill>
                <a:effectLst/>
                <a:latin typeface="+mn-lt"/>
              </a:rPr>
              <a:t>Electricity prices across Europe have been rising, and people are looking for ways to reduce their bills — but most of them live in apartments where rooftop solar is simply not an option.</a:t>
            </a:r>
          </a:p>
          <a:p>
            <a:pPr>
              <a:buChar char="•"/>
            </a:pPr>
            <a:r>
              <a:rPr lang="en-US" sz="1200" b="0" i="0" kern="1200" dirty="0">
                <a:solidFill>
                  <a:schemeClr val="tx1"/>
                </a:solidFill>
                <a:effectLst/>
                <a:latin typeface="+mn-lt"/>
              </a:rPr>
              <a:t>Balcony power plants solve the access problem — they plug into a standard socket, require no permits in most European countries, and can be installed in under an hour.</a:t>
            </a:r>
          </a:p>
          <a:p>
            <a:pPr>
              <a:buChar char="•"/>
            </a:pPr>
            <a:r>
              <a:rPr lang="en-US" sz="1200" b="0" i="0" kern="1200" dirty="0">
                <a:solidFill>
                  <a:schemeClr val="tx1"/>
                </a:solidFill>
                <a:effectLst/>
                <a:latin typeface="+mn-lt"/>
              </a:rPr>
              <a:t>But we wanted to go one step further — instead of just generating energy and hoping for the best, we connected the system to a smart home platform so the user can actually see what is happening.</a:t>
            </a:r>
          </a:p>
          <a:p>
            <a:pPr>
              <a:buChar char="•"/>
            </a:pPr>
            <a:r>
              <a:rPr lang="en-US" sz="1200" b="0" i="0" kern="1200" dirty="0">
                <a:solidFill>
                  <a:schemeClr val="tx1"/>
                </a:solidFill>
                <a:effectLst/>
                <a:latin typeface="+mn-lt"/>
              </a:rPr>
              <a:t>That combination of local energy production and real-time awareness is the core of this paper.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Char char="•"/>
            </a:pPr>
            <a:r>
              <a:rPr lang="en-US" sz="1200" b="0" i="0" kern="1200" dirty="0">
                <a:solidFill>
                  <a:schemeClr val="tx1"/>
                </a:solidFill>
                <a:effectLst/>
                <a:latin typeface="+mn-lt"/>
              </a:rPr>
              <a:t>There is good existing work on balcony PV systems — Krauter and Bendfeld looked at microinverter efficiency, Polański studied large residential buildings — and separately there is strong work on smart home energy management from Badar, and from our own colleagues Ivanović and Nikolić at RT-RK.</a:t>
            </a:r>
          </a:p>
          <a:p>
            <a:pPr>
              <a:buChar char="•"/>
            </a:pPr>
            <a:r>
              <a:rPr lang="en-US" sz="1200" b="0" i="0" kern="1200" dirty="0">
                <a:solidFill>
                  <a:schemeClr val="tx1"/>
                </a:solidFill>
                <a:effectLst/>
                <a:latin typeface="+mn-lt"/>
              </a:rPr>
              <a:t>What none of this work does is combine the two — there is no study that integrates a balcony PV system into a smart home platform and validates it with real operational data.</a:t>
            </a:r>
          </a:p>
          <a:p>
            <a:pPr>
              <a:buChar char="•"/>
            </a:pPr>
            <a:r>
              <a:rPr lang="en-US" sz="1200" b="0" i="0" kern="1200" dirty="0">
                <a:solidFill>
                  <a:schemeClr val="tx1"/>
                </a:solidFill>
                <a:effectLst/>
                <a:latin typeface="+mn-lt"/>
              </a:rPr>
              <a:t>That is the gap we address.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Char char="•"/>
            </a:pPr>
            <a:r>
              <a:rPr lang="en-US" sz="1200" b="0" i="0" kern="1200" dirty="0">
                <a:solidFill>
                  <a:schemeClr val="tx1"/>
                </a:solidFill>
                <a:effectLst/>
                <a:latin typeface="+mn-lt"/>
              </a:rPr>
              <a:t>The platform we integrated with is OBLO — a smart home system developed at RT-RK built around four components: a local controller, a cloud service, a client application, and peripheral devices.</a:t>
            </a:r>
          </a:p>
          <a:p>
            <a:pPr>
              <a:buChar char="•"/>
            </a:pPr>
            <a:r>
              <a:rPr lang="en-US" sz="1200" b="0" i="0" kern="1200" dirty="0">
                <a:solidFill>
                  <a:schemeClr val="tx1"/>
                </a:solidFill>
                <a:effectLst/>
                <a:latin typeface="+mn-lt"/>
              </a:rPr>
              <a:t>The controller is the central piece — it manages all connected devices and supports a wide range of protocols, which is what made the integration straightforward.</a:t>
            </a:r>
          </a:p>
          <a:p>
            <a:pPr>
              <a:buChar char="•"/>
            </a:pPr>
            <a:r>
              <a:rPr lang="en-US" sz="1200" b="0" i="0" kern="1200" dirty="0">
                <a:solidFill>
                  <a:schemeClr val="tx1"/>
                </a:solidFill>
                <a:effectLst/>
                <a:latin typeface="+mn-lt"/>
              </a:rPr>
              <a:t>From the platform's perspective, the balcony PV system is simply another peripheral device — a sensor that reports power and energy values, just like a temperature sensor reports temperature.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Char char="•"/>
            </a:pPr>
            <a:r>
              <a:rPr lang="en-US" sz="1200" b="0" i="0" kern="1200" dirty="0">
                <a:solidFill>
                  <a:schemeClr val="tx1"/>
                </a:solidFill>
                <a:effectLst/>
                <a:latin typeface="+mn-lt"/>
              </a:rPr>
              <a:t>The physical installation is two three-hundred-watt panels connected to a single microinverter — six hundred watts total, no battery storage.</a:t>
            </a:r>
          </a:p>
          <a:p>
            <a:pPr>
              <a:buChar char="•"/>
            </a:pPr>
            <a:r>
              <a:rPr lang="en-US" sz="1200" b="0" i="0" kern="1200" dirty="0">
                <a:solidFill>
                  <a:schemeClr val="tx1"/>
                </a:solidFill>
                <a:effectLst/>
                <a:latin typeface="+mn-lt"/>
              </a:rPr>
              <a:t>The challenge is that the microinverter communicates over a proprietary two-point-four gigahertz RF protocol that cannot be read directly, so we needed a bridge.</a:t>
            </a:r>
          </a:p>
          <a:p>
            <a:pPr>
              <a:buChar char="•"/>
            </a:pPr>
            <a:r>
              <a:rPr lang="en-US" sz="1200" b="0" i="0" kern="1200" dirty="0">
                <a:solidFill>
                  <a:schemeClr val="tx1"/>
                </a:solidFill>
                <a:effectLst/>
                <a:latin typeface="+mn-lt"/>
              </a:rPr>
              <a:t>We built that bridge using an ESP8266 microcontroller and an NRF24 radio module running the open-source OpenDTU firmware — the total hardware cost is under ten euros.</a:t>
            </a:r>
          </a:p>
          <a:p>
            <a:pPr>
              <a:buChar char="•"/>
            </a:pPr>
            <a:r>
              <a:rPr lang="en-US" sz="1200" b="0" i="0" kern="1200" dirty="0">
                <a:solidFill>
                  <a:schemeClr val="tx1"/>
                </a:solidFill>
                <a:effectLst/>
                <a:latin typeface="+mn-lt"/>
              </a:rPr>
              <a:t>The result is that the inverter's proprietary RF output becomes a standard JSON REST API that any system can read over the local network.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Char char="•"/>
            </a:pPr>
            <a:r>
              <a:rPr lang="en-US" sz="1200" b="0" i="0" kern="1200" dirty="0">
                <a:solidFill>
                  <a:schemeClr val="tx1"/>
                </a:solidFill>
                <a:effectLst/>
                <a:latin typeface="+mn-lt"/>
              </a:rPr>
              <a:t>The data flow has five steps: the inverter transmits to the DTU over RF, the DTU exposes it via HTTP, the OBLO controller polls that endpoint every ten minutes, parses the response, and publishes the values via MQTT to the cloud and the mobile app.</a:t>
            </a:r>
          </a:p>
          <a:p>
            <a:pPr>
              <a:buChar char="•"/>
            </a:pPr>
            <a:r>
              <a:rPr lang="en-US" sz="1200" b="0" i="0" kern="1200" dirty="0">
                <a:solidFill>
                  <a:schemeClr val="tx1"/>
                </a:solidFill>
                <a:effectLst/>
                <a:latin typeface="+mn-lt"/>
              </a:rPr>
              <a:t>The ten-minute polling interval was chosen deliberately — it is enough granularity for residential monitoring while adding negligible load to the network.</a:t>
            </a:r>
          </a:p>
          <a:p>
            <a:pPr>
              <a:buChar char="•"/>
            </a:pPr>
            <a:r>
              <a:rPr lang="en-US" sz="1200" b="0" i="0" kern="1200" dirty="0">
                <a:solidFill>
                  <a:schemeClr val="tx1"/>
                </a:solidFill>
                <a:effectLst/>
                <a:latin typeface="+mn-lt"/>
              </a:rPr>
              <a:t>The important architectural point is that the controller treats the PV system as a virtual sensor — the rest of the platform has no idea it is dealing with a solar panel, which means the integration is clean and reusable.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Char char="•"/>
            </a:pPr>
            <a:r>
              <a:rPr lang="en-US" sz="1200" b="0" i="0" kern="1200" dirty="0">
                <a:solidFill>
                  <a:schemeClr val="tx1"/>
                </a:solidFill>
                <a:effectLst/>
                <a:latin typeface="+mn-lt"/>
              </a:rPr>
              <a:t>The system ran continuously from September 2025 to February 2026 — six months of real operational data from an installation in Suhr, Switzerland.</a:t>
            </a:r>
          </a:p>
          <a:p>
            <a:pPr>
              <a:buChar char="•"/>
            </a:pPr>
            <a:r>
              <a:rPr lang="en-US" sz="1200" b="0" i="0" kern="1200" dirty="0">
                <a:solidFill>
                  <a:schemeClr val="tx1"/>
                </a:solidFill>
                <a:effectLst/>
                <a:latin typeface="+mn-lt"/>
              </a:rPr>
              <a:t>I want to be explicit upfront: this covers autumn and winter, not summer — so the numbers you are about to see are the low end of what this system can do.</a:t>
            </a:r>
          </a:p>
          <a:p>
            <a:pPr>
              <a:buChar char="•"/>
            </a:pPr>
            <a:r>
              <a:rPr lang="en-US" sz="1200" b="0" i="0" kern="1200" dirty="0">
                <a:solidFill>
                  <a:schemeClr val="tx1"/>
                </a:solidFill>
                <a:effectLst/>
                <a:latin typeface="+mn-lt"/>
              </a:rPr>
              <a:t>Data collection was fully automated — the controller logged everything without any manual intervention, which is itself part of what we were validating.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Char char="•"/>
            </a:pPr>
            <a:r>
              <a:rPr lang="en-US" sz="1200" b="0" i="0" kern="1200" dirty="0">
                <a:solidFill>
                  <a:schemeClr val="tx1"/>
                </a:solidFill>
                <a:effectLst/>
                <a:latin typeface="+mn-lt"/>
              </a:rPr>
              <a:t>September was the strongest month at sixty-five kilowatt-hours, and from there production fell steadily through the autumn, reaching its lowest point in December at twelve-point-two kilowatt-hours.</a:t>
            </a:r>
          </a:p>
          <a:p>
            <a:pPr>
              <a:buChar char="•"/>
            </a:pPr>
            <a:r>
              <a:rPr lang="en-US" sz="1200" b="0" i="0" kern="1200" dirty="0">
                <a:solidFill>
                  <a:schemeClr val="tx1"/>
                </a:solidFill>
                <a:effectLst/>
                <a:latin typeface="+mn-lt"/>
              </a:rPr>
              <a:t>That September-to-December ratio of five-point-four to one shows just how sensitive these systems are to the season.</a:t>
            </a:r>
          </a:p>
          <a:p>
            <a:pPr>
              <a:buChar char="•"/>
            </a:pPr>
            <a:r>
              <a:rPr lang="en-US" sz="1200" b="0" i="0" kern="1200" dirty="0">
                <a:solidFill>
                  <a:schemeClr val="tx1"/>
                </a:solidFill>
                <a:effectLst/>
                <a:latin typeface="+mn-lt"/>
              </a:rPr>
              <a:t>From January onward production starts recovering — the days are getting longer — and critically, there were no gaps in the data across the entire six months.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Char char="•"/>
            </a:pPr>
            <a:r>
              <a:rPr lang="en-US" sz="1200" b="0" i="0" kern="1200" dirty="0">
                <a:solidFill>
                  <a:schemeClr val="tx1"/>
                </a:solidFill>
                <a:effectLst/>
                <a:latin typeface="+mn-lt"/>
              </a:rPr>
              <a:t>If we zoom into September day by day, you can see the weather signature clearly — the peaks are sunny days reaching about three-point-five kilowatt-hours, and every dip is an overcast day.</a:t>
            </a:r>
          </a:p>
          <a:p>
            <a:pPr>
              <a:buChar char="•"/>
            </a:pPr>
            <a:r>
              <a:rPr lang="en-US" sz="1200" b="0" i="0" kern="1200" dirty="0">
                <a:solidFill>
                  <a:schemeClr val="tx1"/>
                </a:solidFill>
                <a:effectLst/>
                <a:latin typeface="+mn-lt"/>
              </a:rPr>
              <a:t>In winter, that same chart would show most days below half a kilowatt-hour.</a:t>
            </a:r>
          </a:p>
          <a:p>
            <a:pPr>
              <a:buChar char="•"/>
            </a:pPr>
            <a:r>
              <a:rPr lang="en-US" sz="1200" b="0" i="0" kern="1200" dirty="0">
                <a:solidFill>
                  <a:schemeClr val="tx1"/>
                </a:solidFill>
                <a:effectLst/>
                <a:latin typeface="+mn-lt"/>
              </a:rPr>
              <a:t>This is the reason real-time monitoring matters — without visibility into what is actually being produced, the user has no way to act on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Char char="•"/>
            </a:pPr>
            <a:r>
              <a:rPr lang="en-US" sz="1200" b="0" i="0" kern="1200" dirty="0">
                <a:solidFill>
                  <a:schemeClr val="tx1"/>
                </a:solidFill>
                <a:effectLst/>
                <a:latin typeface="+mn-lt"/>
              </a:rPr>
              <a:t>Over the six months, the system saved fifty-three-point-five-eight Swiss francs — at thirty cents per kilowatt-hour, which is the current Swiss residential tariff — and avoided seventeen-point-eight-six kilograms of CO₂.</a:t>
            </a:r>
          </a:p>
          <a:p>
            <a:pPr>
              <a:buChar char="•"/>
            </a:pPr>
            <a:r>
              <a:rPr lang="en-US" sz="1200" b="0" i="0" kern="1200" dirty="0">
                <a:solidFill>
                  <a:schemeClr val="tx1"/>
                </a:solidFill>
                <a:effectLst/>
                <a:latin typeface="+mn-lt"/>
              </a:rPr>
              <a:t>The specific yield of two-ninety-eight kilowatt-hours per kilowatt-peak is consistent with what Krauter and Bendfeld report for comparable systems.</a:t>
            </a:r>
          </a:p>
          <a:p>
            <a:pPr>
              <a:buChar char="•"/>
            </a:pPr>
            <a:r>
              <a:rPr lang="en-US" sz="1200" b="0" i="0" kern="1200" dirty="0">
                <a:solidFill>
                  <a:schemeClr val="tx1"/>
                </a:solidFill>
                <a:effectLst/>
                <a:latin typeface="+mn-lt"/>
              </a:rPr>
              <a:t>The capacity factor of six-point-eight percent looks low, but I want to be clear — this is a winter number. Annual capacity factors for these systems typically run between ten and fifteen percent.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Char char="•"/>
            </a:pPr>
            <a:r>
              <a:rPr lang="en-US" sz="1200" b="0" i="0" kern="1200" dirty="0">
                <a:solidFill>
                  <a:schemeClr val="tx1"/>
                </a:solidFill>
                <a:effectLst/>
                <a:latin typeface="+mn-lt"/>
              </a:rPr>
              <a:t>Across six months of continuous operation, we recorded zero data loss — no communication failures, no gaps in the dataset.</a:t>
            </a:r>
          </a:p>
          <a:p>
            <a:pPr>
              <a:buChar char="•"/>
            </a:pPr>
            <a:r>
              <a:rPr lang="en-US" sz="1200" b="0" i="0" kern="1200" dirty="0">
                <a:solidFill>
                  <a:schemeClr val="tx1"/>
                </a:solidFill>
                <a:effectLst/>
                <a:latin typeface="+mn-lt"/>
              </a:rPr>
              <a:t>The MQTT stack connecting the inverter interface, the controller, the cloud, and the mobile app remained stable throughout without a single interruption.</a:t>
            </a:r>
          </a:p>
          <a:p>
            <a:pPr>
              <a:buChar char="•"/>
            </a:pPr>
            <a:r>
              <a:rPr lang="en-US" sz="1200" b="0" i="0" kern="1200" dirty="0">
                <a:solidFill>
                  <a:schemeClr val="tx1"/>
                </a:solidFill>
                <a:effectLst/>
                <a:latin typeface="+mn-lt"/>
              </a:rPr>
              <a:t>And because the PV unit is abstracted as a virtual sensor, adding a new energy device in the future — a heat pump, an EV charger — requires no changes to the platform at all.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Char char="•"/>
            </a:pPr>
            <a:r>
              <a:rPr lang="en-US" sz="1200" b="0" i="0" kern="1200" dirty="0">
                <a:solidFill>
                  <a:schemeClr val="tx1"/>
                </a:solidFill>
                <a:effectLst/>
                <a:latin typeface="+mn-lt"/>
              </a:rPr>
              <a:t>The results are consistent with the literature — the specific yield and capacity factor are both in the expected range for a balcony system running through autumn and winter.</a:t>
            </a:r>
          </a:p>
          <a:p>
            <a:pPr>
              <a:buChar char="•"/>
            </a:pPr>
            <a:r>
              <a:rPr lang="en-US" sz="1200" b="0" i="0" kern="1200" dirty="0">
                <a:solidFill>
                  <a:schemeClr val="tx1"/>
                </a:solidFill>
                <a:effectLst/>
                <a:latin typeface="+mn-lt"/>
              </a:rPr>
              <a:t>The limitations are real and I want to name them directly: this is one installation, six months of data, and the financial calculation assumes a fixed tariff.</a:t>
            </a:r>
          </a:p>
          <a:p>
            <a:pPr>
              <a:buChar char="•"/>
            </a:pPr>
            <a:r>
              <a:rPr lang="en-US" sz="1200" b="0" i="0" kern="1200" dirty="0">
                <a:solidFill>
                  <a:schemeClr val="tx1"/>
                </a:solidFill>
                <a:effectLst/>
                <a:latin typeface="+mn-lt"/>
              </a:rPr>
              <a:t>But the contribution I want to highlight is not the energy number itself — it is the demonstration that this integration works cleanly and can be replicated on any platform that speaks HTTP and MQTT.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Char char="•"/>
            </a:pPr>
            <a:r>
              <a:rPr lang="en-US" sz="1200" b="0" i="0" kern="1200" dirty="0">
                <a:solidFill>
                  <a:schemeClr val="tx1"/>
                </a:solidFill>
                <a:effectLst/>
                <a:latin typeface="+mn-lt"/>
              </a:rPr>
              <a:t>To summarize: a six-hundred-watt balcony system produced one-seventy-eight-point-six kilowatt-hours over six months, saved fifty-three francs, and avoided eighteen kilograms of CO₂ — and it did all of this as a fully integrated part of a smart home platform.</a:t>
            </a:r>
          </a:p>
          <a:p>
            <a:pPr>
              <a:buChar char="•"/>
            </a:pPr>
            <a:r>
              <a:rPr lang="en-US" sz="1200" b="0" i="0" kern="1200" dirty="0">
                <a:solidFill>
                  <a:schemeClr val="tx1"/>
                </a:solidFill>
                <a:effectLst/>
                <a:latin typeface="+mn-lt"/>
              </a:rPr>
              <a:t>The next steps we are most interested in are extending the dataset to cover a full year and building smart automation on top of the production data — so that household appliances can run automatically when solar output is at its peak.</a:t>
            </a:r>
          </a:p>
          <a:p>
            <a:pPr>
              <a:buChar char="•"/>
            </a:pPr>
            <a:r>
              <a:rPr lang="en-US" sz="1200" b="0" i="0" kern="1200" dirty="0">
                <a:solidFill>
                  <a:schemeClr val="tx1"/>
                </a:solidFill>
                <a:effectLst/>
                <a:latin typeface="+mn-lt"/>
              </a:rPr>
              <a:t>With that, I am happy to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Char char="•"/>
            </a:pPr>
            <a:r>
              <a:rPr lang="en-US" sz="1200" b="0" i="0" kern="1200" dirty="0">
                <a:solidFill>
                  <a:schemeClr val="tx1"/>
                </a:solidFill>
                <a:effectLst/>
                <a:latin typeface="+mn-lt"/>
              </a:rPr>
              <a:t>Thank you for your attention — I would be happy to take your questions.</a:t>
            </a:r>
          </a:p>
          <a:p>
            <a:pPr>
              <a:buChar char="•"/>
            </a:pPr>
            <a:r>
              <a:rPr lang="en-US" sz="1200" b="0" i="0" kern="1200" dirty="0">
                <a:solidFill>
                  <a:schemeClr val="tx1"/>
                </a:solidFill>
                <a:effectLst/>
                <a:latin typeface="+mn-lt"/>
              </a:rPr>
              <a:t>Q: Hardware cost? — The DTU costs under ten euros. Panels and inverter together range from one-fifty to three hundred euros.</a:t>
            </a:r>
          </a:p>
          <a:p>
            <a:pPr>
              <a:buChar char="•"/>
            </a:pPr>
            <a:r>
              <a:rPr lang="en-US" sz="1200" b="0" i="0" kern="1200" dirty="0">
                <a:solidFill>
                  <a:schemeClr val="tx1"/>
                </a:solidFill>
                <a:effectLst/>
                <a:latin typeface="+mn-lt"/>
              </a:rPr>
              <a:t>Q: Why not a direct API from the inverter? — Proprietary RF protocol, not documented. OpenDTU reverse-engineered it — only open solution available.</a:t>
            </a:r>
          </a:p>
          <a:p>
            <a:pPr>
              <a:buChar char="•"/>
            </a:pPr>
            <a:r>
              <a:rPr lang="en-US" sz="1200" b="0" i="0" kern="1200" dirty="0">
                <a:solidFill>
                  <a:schemeClr val="tx1"/>
                </a:solidFill>
                <a:effectLst/>
                <a:latin typeface="+mn-lt"/>
              </a:rPr>
              <a:t>Q: Summer performance? — Not in our dataset. Estimated six-hundred to eight-hundred kilowatt-hours per year for a six-hundred-watt system in Switzerland.</a:t>
            </a:r>
          </a:p>
          <a:p>
            <a:pPr>
              <a:buChar char="•"/>
            </a:pPr>
            <a:r>
              <a:rPr lang="en-US" sz="1200" b="0" i="0" kern="1200" dirty="0">
                <a:solidFill>
                  <a:schemeClr val="tx1"/>
                </a:solidFill>
                <a:effectLst/>
                <a:latin typeface="+mn-lt"/>
              </a:rPr>
              <a:t>Q: Works on other platforms? — Yes. Standard REST and MQTT — not specific to OBLO.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9.xml.rels><?xml version="1.0" encoding="UTF-8"?><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0.xml.rels><?xml version="1.0" encoding="UTF-8"?><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027"/>
        </a:solidFill>
        <a:effectLst/>
      </p:bgPr>
    </p:bg>
    <p:spTree>
      <p:nvGrpSpPr>
        <p:cNvPr id="1" name=""/>
        <p:cNvGrpSpPr/>
        <p:nvPr/>
      </p:nvGrpSpPr>
      <p:grpSpPr>
        <a:xfrm>
          <a:off x="0" y="0"/>
          <a:ext cx="0" cy="0"/>
          <a:chOff x="0" y="0"/>
          <a:chExt cx="0" cy="0"/>
        </a:xfrm>
      </p:grpSpPr>
      <p:sp>
        <p:nvSpPr>
          <p:cNvPr id="2" name="Shape 0"/>
          <p:cNvSpPr/>
          <p:nvPr/>
        </p:nvSpPr>
        <p:spPr>
          <a:xfrm>
            <a:off x="5943600" y="-1371600"/>
            <a:ext cx="5486400" cy="5486400"/>
          </a:xfrm>
          <a:prstGeom prst="ellipse">
            <a:avLst/>
          </a:prstGeom>
          <a:solidFill>
            <a:srgbClr val="F5A623">
              <a:alpha val="15000"/>
            </a:srgbClr>
          </a:solidFill>
          <a:ln w="12700">
            <a:solidFill>
              <a:srgbClr val="F5A623">
                <a:alpha val="15000"/>
              </a:srgbClr>
            </a:solidFill>
            <a:prstDash val="solid"/>
          </a:ln>
        </p:spPr>
        <p:txBody>
          <a:bodyPr/>
          <a:lstStyle/>
          <a:p>
            <a:endParaRPr lang="en-US"/>
          </a:p>
        </p:txBody>
      </p:sp>
      <p:sp>
        <p:nvSpPr>
          <p:cNvPr id="3" name="Shape 1"/>
          <p:cNvSpPr/>
          <p:nvPr/>
        </p:nvSpPr>
        <p:spPr>
          <a:xfrm>
            <a:off x="6858000" y="-731520"/>
            <a:ext cx="3657600" cy="3657600"/>
          </a:xfrm>
          <a:prstGeom prst="ellipse">
            <a:avLst/>
          </a:prstGeom>
          <a:solidFill>
            <a:srgbClr val="2ECC71">
              <a:alpha val="12000"/>
            </a:srgbClr>
          </a:solidFill>
          <a:ln w="12700">
            <a:solidFill>
              <a:srgbClr val="2ECC71">
                <a:alpha val="12000"/>
              </a:srgbClr>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457200" y="365760"/>
            <a:ext cx="1005840" cy="868680"/>
          </a:xfrm>
          <a:prstGeom prst="rect">
            <a:avLst/>
          </a:prstGeom>
        </p:spPr>
      </p:pic>
      <p:sp>
        <p:nvSpPr>
          <p:cNvPr id="5" name="Text 2"/>
          <p:cNvSpPr/>
          <p:nvPr/>
        </p:nvSpPr>
        <p:spPr>
          <a:xfrm>
            <a:off x="457200" y="1325880"/>
            <a:ext cx="8046720" cy="777240"/>
          </a:xfrm>
          <a:prstGeom prst="rect">
            <a:avLst/>
          </a:prstGeom>
          <a:noFill/>
          <a:ln/>
        </p:spPr>
        <p:txBody>
          <a:bodyPr wrap="square" rtlCol="0" anchor="ctr"/>
          <a:lstStyle/>
          <a:p>
            <a:pPr marL="0" indent="0" algn="l">
              <a:buNone/>
            </a:pPr>
            <a:r>
              <a:rPr lang="en-US" sz="3100" b="1" dirty="0">
                <a:solidFill>
                  <a:srgbClr val="FFFFFF"/>
                </a:solidFill>
                <a:latin typeface="Calibri" pitchFamily="34" charset="0"/>
                <a:ea typeface="Calibri" pitchFamily="34" charset="-122"/>
                <a:cs typeface="Calibri" pitchFamily="34" charset="-120"/>
              </a:rPr>
              <a:t>Solar Energy Production in Urban Environments</a:t>
            </a:r>
            <a:endParaRPr lang="en-US" sz="3100" dirty="0"/>
          </a:p>
        </p:txBody>
      </p:sp>
      <p:sp>
        <p:nvSpPr>
          <p:cNvPr id="6" name="Shape 3"/>
          <p:cNvSpPr/>
          <p:nvPr/>
        </p:nvSpPr>
        <p:spPr>
          <a:xfrm>
            <a:off x="457200" y="2194560"/>
            <a:ext cx="5486400" cy="45720"/>
          </a:xfrm>
          <a:prstGeom prst="rect">
            <a:avLst/>
          </a:prstGeom>
          <a:solidFill>
            <a:srgbClr val="F5A623"/>
          </a:solidFill>
          <a:ln w="12700">
            <a:solidFill>
              <a:srgbClr val="F5A623"/>
            </a:solidFill>
            <a:prstDash val="solid"/>
          </a:ln>
        </p:spPr>
        <p:txBody>
          <a:bodyPr/>
          <a:lstStyle/>
          <a:p>
            <a:endParaRPr lang="en-US"/>
          </a:p>
        </p:txBody>
      </p:sp>
      <p:sp>
        <p:nvSpPr>
          <p:cNvPr id="7" name="Text 4"/>
          <p:cNvSpPr/>
          <p:nvPr/>
        </p:nvSpPr>
        <p:spPr>
          <a:xfrm>
            <a:off x="457200" y="2331720"/>
            <a:ext cx="8229600" cy="502920"/>
          </a:xfrm>
          <a:prstGeom prst="rect">
            <a:avLst/>
          </a:prstGeom>
          <a:noFill/>
          <a:ln/>
        </p:spPr>
        <p:txBody>
          <a:bodyPr wrap="square" rtlCol="0" anchor="ctr"/>
          <a:lstStyle/>
          <a:p>
            <a:pPr marL="0" indent="0" algn="l">
              <a:buNone/>
            </a:pPr>
            <a:r>
              <a:rPr lang="en-US" sz="1700" dirty="0">
                <a:solidFill>
                  <a:srgbClr val="8EAEBE"/>
                </a:solidFill>
                <a:latin typeface="Calibri" pitchFamily="34" charset="0"/>
                <a:ea typeface="Calibri" pitchFamily="34" charset="-122"/>
                <a:cs typeface="Calibri" pitchFamily="34" charset="-120"/>
              </a:rPr>
              <a:t>Integration of Balcony Power Plant into the OBLO Smart Home System</a:t>
            </a:r>
            <a:endParaRPr lang="en-US" sz="1700" dirty="0"/>
          </a:p>
        </p:txBody>
      </p:sp>
      <p:sp>
        <p:nvSpPr>
          <p:cNvPr id="8" name="Text 5"/>
          <p:cNvSpPr/>
          <p:nvPr/>
        </p:nvSpPr>
        <p:spPr>
          <a:xfrm>
            <a:off x="457200" y="3017520"/>
            <a:ext cx="8229600" cy="365760"/>
          </a:xfrm>
          <a:prstGeom prst="rect">
            <a:avLst/>
          </a:prstGeom>
          <a:noFill/>
          <a:ln/>
        </p:spPr>
        <p:txBody>
          <a:bodyPr wrap="square" rtlCol="0" anchor="ctr"/>
          <a:lstStyle/>
          <a:p>
            <a:pPr marL="0" indent="0" algn="l">
              <a:buNone/>
            </a:pPr>
            <a:r>
              <a:rPr lang="en-US" sz="1400" dirty="0">
                <a:solidFill>
                  <a:srgbClr val="D9EBF0"/>
                </a:solidFill>
                <a:latin typeface="Calibri" pitchFamily="34" charset="0"/>
                <a:ea typeface="Calibri" pitchFamily="34" charset="-122"/>
                <a:cs typeface="Calibri" pitchFamily="34" charset="-120"/>
              </a:rPr>
              <a:t>Ognjen Stojisavljević  |  Marija Antić</a:t>
            </a:r>
            <a:endParaRPr lang="en-US" sz="1400" dirty="0"/>
          </a:p>
        </p:txBody>
      </p:sp>
      <p:sp>
        <p:nvSpPr>
          <p:cNvPr id="9" name="Text 6"/>
          <p:cNvSpPr/>
          <p:nvPr/>
        </p:nvSpPr>
        <p:spPr>
          <a:xfrm>
            <a:off x="457200" y="3383280"/>
            <a:ext cx="8229600" cy="320040"/>
          </a:xfrm>
          <a:prstGeom prst="rect">
            <a:avLst/>
          </a:prstGeom>
          <a:noFill/>
          <a:ln/>
        </p:spPr>
        <p:txBody>
          <a:bodyPr wrap="square" rtlCol="0" anchor="ctr"/>
          <a:lstStyle/>
          <a:p>
            <a:pPr marL="0" indent="0" algn="l">
              <a:buNone/>
            </a:pPr>
            <a:r>
              <a:rPr lang="en-US" sz="1100" dirty="0">
                <a:solidFill>
                  <a:srgbClr val="8EAEBE"/>
                </a:solidFill>
                <a:latin typeface="Calibri" pitchFamily="34" charset="0"/>
                <a:ea typeface="Calibri" pitchFamily="34" charset="-122"/>
                <a:cs typeface="Calibri" pitchFamily="34" charset="-120"/>
              </a:rPr>
              <a:t>RT-RK Institute for Computer Based Systems  |  Faculty of Technical Sciences, University of Novi Sad</a:t>
            </a:r>
            <a:endParaRPr lang="en-US" sz="1100" dirty="0"/>
          </a:p>
        </p:txBody>
      </p:sp>
      <p:sp>
        <p:nvSpPr>
          <p:cNvPr id="10" name="Shape 7"/>
          <p:cNvSpPr/>
          <p:nvPr/>
        </p:nvSpPr>
        <p:spPr>
          <a:xfrm>
            <a:off x="457200" y="4160520"/>
            <a:ext cx="1920240" cy="347472"/>
          </a:xfrm>
          <a:prstGeom prst="roundRect">
            <a:avLst>
              <a:gd name="adj" fmla="val 26316"/>
            </a:avLst>
          </a:prstGeom>
          <a:solidFill>
            <a:srgbClr val="203A43"/>
          </a:solidFill>
          <a:ln w="12700">
            <a:solidFill>
              <a:srgbClr val="F5A623"/>
            </a:solidFill>
            <a:prstDash val="solid"/>
          </a:ln>
        </p:spPr>
        <p:txBody>
          <a:bodyPr/>
          <a:lstStyle/>
          <a:p>
            <a:endParaRPr lang="en-US"/>
          </a:p>
        </p:txBody>
      </p:sp>
      <p:sp>
        <p:nvSpPr>
          <p:cNvPr id="11" name="Text 8"/>
          <p:cNvSpPr/>
          <p:nvPr/>
        </p:nvSpPr>
        <p:spPr>
          <a:xfrm>
            <a:off x="457200" y="4160520"/>
            <a:ext cx="1920240" cy="347472"/>
          </a:xfrm>
          <a:prstGeom prst="rect">
            <a:avLst/>
          </a:prstGeom>
          <a:noFill/>
          <a:ln/>
        </p:spPr>
        <p:txBody>
          <a:bodyPr wrap="square" lIns="0" tIns="0" rIns="0" bIns="0" rtlCol="0" anchor="ctr"/>
          <a:lstStyle/>
          <a:p>
            <a:pPr marL="0" indent="0" algn="ctr">
              <a:buNone/>
            </a:pPr>
            <a:r>
              <a:rPr lang="en-US" sz="1000" dirty="0">
                <a:solidFill>
                  <a:srgbClr val="F5A623"/>
                </a:solidFill>
                <a:latin typeface="Calibri" pitchFamily="34" charset="0"/>
                <a:ea typeface="Calibri" pitchFamily="34" charset="-122"/>
                <a:cs typeface="Calibri" pitchFamily="34" charset="-120"/>
              </a:rPr>
              <a:t>Smart Home</a:t>
            </a:r>
            <a:endParaRPr lang="en-US" sz="1000" dirty="0"/>
          </a:p>
        </p:txBody>
      </p:sp>
      <p:sp>
        <p:nvSpPr>
          <p:cNvPr id="12" name="Shape 9"/>
          <p:cNvSpPr/>
          <p:nvPr/>
        </p:nvSpPr>
        <p:spPr>
          <a:xfrm>
            <a:off x="2560320" y="4160520"/>
            <a:ext cx="1920240" cy="347472"/>
          </a:xfrm>
          <a:prstGeom prst="roundRect">
            <a:avLst>
              <a:gd name="adj" fmla="val 26316"/>
            </a:avLst>
          </a:prstGeom>
          <a:solidFill>
            <a:srgbClr val="203A43"/>
          </a:solidFill>
          <a:ln w="12700">
            <a:solidFill>
              <a:srgbClr val="F5A623"/>
            </a:solidFill>
            <a:prstDash val="solid"/>
          </a:ln>
        </p:spPr>
        <p:txBody>
          <a:bodyPr/>
          <a:lstStyle/>
          <a:p>
            <a:endParaRPr lang="en-US"/>
          </a:p>
        </p:txBody>
      </p:sp>
      <p:sp>
        <p:nvSpPr>
          <p:cNvPr id="13" name="Text 10"/>
          <p:cNvSpPr/>
          <p:nvPr/>
        </p:nvSpPr>
        <p:spPr>
          <a:xfrm>
            <a:off x="2560320" y="4160520"/>
            <a:ext cx="1920240" cy="347472"/>
          </a:xfrm>
          <a:prstGeom prst="rect">
            <a:avLst/>
          </a:prstGeom>
          <a:noFill/>
          <a:ln/>
        </p:spPr>
        <p:txBody>
          <a:bodyPr wrap="square" lIns="0" tIns="0" rIns="0" bIns="0" rtlCol="0" anchor="ctr"/>
          <a:lstStyle/>
          <a:p>
            <a:pPr marL="0" indent="0" algn="ctr">
              <a:buNone/>
            </a:pPr>
            <a:r>
              <a:rPr lang="en-US" sz="1000" dirty="0">
                <a:solidFill>
                  <a:srgbClr val="F5A623"/>
                </a:solidFill>
                <a:latin typeface="Calibri" pitchFamily="34" charset="0"/>
                <a:ea typeface="Calibri" pitchFamily="34" charset="-122"/>
                <a:cs typeface="Calibri" pitchFamily="34" charset="-120"/>
              </a:rPr>
              <a:t>Photovoltaics</a:t>
            </a:r>
            <a:endParaRPr lang="en-US" sz="1000" dirty="0"/>
          </a:p>
        </p:txBody>
      </p:sp>
      <p:sp>
        <p:nvSpPr>
          <p:cNvPr id="14" name="Shape 11"/>
          <p:cNvSpPr/>
          <p:nvPr/>
        </p:nvSpPr>
        <p:spPr>
          <a:xfrm>
            <a:off x="4663440" y="4160520"/>
            <a:ext cx="1920240" cy="347472"/>
          </a:xfrm>
          <a:prstGeom prst="roundRect">
            <a:avLst>
              <a:gd name="adj" fmla="val 26316"/>
            </a:avLst>
          </a:prstGeom>
          <a:solidFill>
            <a:srgbClr val="203A43"/>
          </a:solidFill>
          <a:ln w="12700">
            <a:solidFill>
              <a:srgbClr val="F5A623"/>
            </a:solidFill>
            <a:prstDash val="solid"/>
          </a:ln>
        </p:spPr>
        <p:txBody>
          <a:bodyPr/>
          <a:lstStyle/>
          <a:p>
            <a:endParaRPr lang="en-US"/>
          </a:p>
        </p:txBody>
      </p:sp>
      <p:sp>
        <p:nvSpPr>
          <p:cNvPr id="15" name="Text 12"/>
          <p:cNvSpPr/>
          <p:nvPr/>
        </p:nvSpPr>
        <p:spPr>
          <a:xfrm>
            <a:off x="4663440" y="4160520"/>
            <a:ext cx="1920240" cy="347472"/>
          </a:xfrm>
          <a:prstGeom prst="rect">
            <a:avLst/>
          </a:prstGeom>
          <a:noFill/>
          <a:ln/>
        </p:spPr>
        <p:txBody>
          <a:bodyPr wrap="square" lIns="0" tIns="0" rIns="0" bIns="0" rtlCol="0" anchor="ctr"/>
          <a:lstStyle/>
          <a:p>
            <a:pPr marL="0" indent="0" algn="ctr">
              <a:buNone/>
            </a:pPr>
            <a:r>
              <a:rPr lang="en-US" sz="1000" dirty="0">
                <a:solidFill>
                  <a:srgbClr val="F5A623"/>
                </a:solidFill>
                <a:latin typeface="Calibri" pitchFamily="34" charset="0"/>
                <a:ea typeface="Calibri" pitchFamily="34" charset="-122"/>
                <a:cs typeface="Calibri" pitchFamily="34" charset="-120"/>
              </a:rPr>
              <a:t>IoT</a:t>
            </a:r>
            <a:endParaRPr lang="en-US" sz="1000" dirty="0"/>
          </a:p>
        </p:txBody>
      </p:sp>
      <p:sp>
        <p:nvSpPr>
          <p:cNvPr id="16" name="Shape 13"/>
          <p:cNvSpPr/>
          <p:nvPr/>
        </p:nvSpPr>
        <p:spPr>
          <a:xfrm>
            <a:off x="6766560" y="4160520"/>
            <a:ext cx="1920240" cy="347472"/>
          </a:xfrm>
          <a:prstGeom prst="roundRect">
            <a:avLst>
              <a:gd name="adj" fmla="val 26316"/>
            </a:avLst>
          </a:prstGeom>
          <a:solidFill>
            <a:srgbClr val="203A43"/>
          </a:solidFill>
          <a:ln w="12700">
            <a:solidFill>
              <a:srgbClr val="F5A623"/>
            </a:solidFill>
            <a:prstDash val="solid"/>
          </a:ln>
        </p:spPr>
        <p:txBody>
          <a:bodyPr/>
          <a:lstStyle/>
          <a:p>
            <a:endParaRPr lang="en-US"/>
          </a:p>
        </p:txBody>
      </p:sp>
      <p:sp>
        <p:nvSpPr>
          <p:cNvPr id="17" name="Text 14"/>
          <p:cNvSpPr/>
          <p:nvPr/>
        </p:nvSpPr>
        <p:spPr>
          <a:xfrm>
            <a:off x="6766560" y="4160520"/>
            <a:ext cx="1920240" cy="347472"/>
          </a:xfrm>
          <a:prstGeom prst="rect">
            <a:avLst/>
          </a:prstGeom>
          <a:noFill/>
          <a:ln/>
        </p:spPr>
        <p:txBody>
          <a:bodyPr wrap="square" lIns="0" tIns="0" rIns="0" bIns="0" rtlCol="0" anchor="ctr"/>
          <a:lstStyle/>
          <a:p>
            <a:pPr marL="0" indent="0" algn="ctr">
              <a:buNone/>
            </a:pPr>
            <a:r>
              <a:rPr lang="en-US" sz="1000" dirty="0">
                <a:solidFill>
                  <a:srgbClr val="F5A623"/>
                </a:solidFill>
                <a:latin typeface="Calibri" pitchFamily="34" charset="0"/>
                <a:ea typeface="Calibri" pitchFamily="34" charset="-122"/>
                <a:cs typeface="Calibri" pitchFamily="34" charset="-120"/>
              </a:rPr>
              <a:t>Solar Energy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2027"/>
          </a:solidFill>
          <a:ln w="12700">
            <a:solidFill>
              <a:srgbClr val="0F2027"/>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173736" y="109728"/>
            <a:ext cx="384048" cy="384048"/>
          </a:xfrm>
          <a:prstGeom prst="rect">
            <a:avLst/>
          </a:prstGeom>
        </p:spPr>
      </p:pic>
      <p:sp>
        <p:nvSpPr>
          <p:cNvPr id="4" name="Text 1"/>
          <p:cNvSpPr/>
          <p:nvPr/>
        </p:nvSpPr>
        <p:spPr>
          <a:xfrm>
            <a:off x="685800" y="109728"/>
            <a:ext cx="7772400" cy="41148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Problem Statement &amp; Motivation</a:t>
            </a:r>
            <a:endParaRPr lang="en-US" sz="2000" dirty="0"/>
          </a:p>
        </p:txBody>
      </p:sp>
      <p:sp>
        <p:nvSpPr>
          <p:cNvPr id="5" name="Shape 2"/>
          <p:cNvSpPr/>
          <p:nvPr/>
        </p:nvSpPr>
        <p:spPr>
          <a:xfrm>
            <a:off x="274320" y="777240"/>
            <a:ext cx="2788920" cy="2743200"/>
          </a:xfrm>
          <a:prstGeom prst="rect">
            <a:avLst/>
          </a:prstGeom>
          <a:solidFill>
            <a:srgbClr val="E8F4F8"/>
          </a:solidFill>
          <a:ln w="25400">
            <a:solidFill>
              <a:srgbClr val="E74C3C"/>
            </a:solidFill>
            <a:prstDash val="solid"/>
          </a:ln>
        </p:spPr>
        <p:txBody>
          <a:bodyPr/>
          <a:lstStyle/>
          <a:p>
            <a:endParaRPr lang="en-US"/>
          </a:p>
        </p:txBody>
      </p:sp>
      <p:sp>
        <p:nvSpPr>
          <p:cNvPr id="6" name="Shape 3"/>
          <p:cNvSpPr/>
          <p:nvPr/>
        </p:nvSpPr>
        <p:spPr>
          <a:xfrm>
            <a:off x="274320" y="777240"/>
            <a:ext cx="2788920" cy="54864"/>
          </a:xfrm>
          <a:prstGeom prst="rect">
            <a:avLst/>
          </a:prstGeom>
          <a:solidFill>
            <a:srgbClr val="E74C3C"/>
          </a:solidFill>
          <a:ln w="12700">
            <a:solidFill>
              <a:srgbClr val="E74C3C"/>
            </a:solidFill>
            <a:prstDash val="solid"/>
          </a:ln>
        </p:spPr>
        <p:txBody>
          <a:bodyPr/>
          <a:lstStyle/>
          <a:p>
            <a:endParaRPr lang="en-US"/>
          </a:p>
        </p:txBody>
      </p:sp>
      <p:pic>
        <p:nvPicPr>
          <p:cNvPr id="7" name="Image 1" descr="preencoded.png"/>
          <p:cNvPicPr>
            <a:picLocks noChangeAspect="1"/>
          </p:cNvPicPr>
          <p:nvPr/>
        </p:nvPicPr>
        <p:blipFill>
          <a:blip r:embed="rId3"/>
          <a:stretch>
            <a:fillRect/>
          </a:stretch>
        </p:blipFill>
        <p:spPr>
          <a:xfrm>
            <a:off x="1371600" y="868680"/>
            <a:ext cx="594360" cy="530352"/>
          </a:xfrm>
          <a:prstGeom prst="rect">
            <a:avLst/>
          </a:prstGeom>
        </p:spPr>
      </p:pic>
      <p:sp>
        <p:nvSpPr>
          <p:cNvPr id="8" name="Text 4"/>
          <p:cNvSpPr/>
          <p:nvPr/>
        </p:nvSpPr>
        <p:spPr>
          <a:xfrm>
            <a:off x="365760" y="1463040"/>
            <a:ext cx="2606040" cy="411480"/>
          </a:xfrm>
          <a:prstGeom prst="rect">
            <a:avLst/>
          </a:prstGeom>
          <a:noFill/>
          <a:ln/>
        </p:spPr>
        <p:txBody>
          <a:bodyPr wrap="square" rtlCol="0" anchor="ctr"/>
          <a:lstStyle/>
          <a:p>
            <a:pPr marL="0" indent="0" algn="ctr">
              <a:buNone/>
            </a:pPr>
            <a:r>
              <a:rPr lang="en-US" sz="1300" b="1" dirty="0">
                <a:solidFill>
                  <a:srgbClr val="222222"/>
                </a:solidFill>
                <a:latin typeface="Calibri" pitchFamily="34" charset="0"/>
                <a:ea typeface="Calibri" pitchFamily="34" charset="-122"/>
                <a:cs typeface="Calibri" pitchFamily="34" charset="-120"/>
              </a:rPr>
              <a:t>Rising Energy Costs</a:t>
            </a:r>
            <a:endParaRPr lang="en-US" sz="1300" dirty="0"/>
          </a:p>
        </p:txBody>
      </p:sp>
      <p:sp>
        <p:nvSpPr>
          <p:cNvPr id="9" name="Text 5"/>
          <p:cNvSpPr/>
          <p:nvPr/>
        </p:nvSpPr>
        <p:spPr>
          <a:xfrm>
            <a:off x="365760" y="1920240"/>
            <a:ext cx="2606040" cy="1508760"/>
          </a:xfrm>
          <a:prstGeom prst="rect">
            <a:avLst/>
          </a:prstGeom>
          <a:noFill/>
          <a:ln/>
        </p:spPr>
        <p:txBody>
          <a:bodyPr wrap="square" rtlCol="0" anchor="t"/>
          <a:lstStyle/>
          <a:p>
            <a:pPr marL="0" indent="0" algn="ctr">
              <a:buNone/>
            </a:pPr>
            <a:r>
              <a:rPr lang="en-US" sz="1100" dirty="0">
                <a:solidFill>
                  <a:srgbClr val="444444"/>
                </a:solidFill>
                <a:latin typeface="Calibri" pitchFamily="34" charset="0"/>
                <a:ea typeface="Calibri" pitchFamily="34" charset="-122"/>
                <a:cs typeface="Calibri" pitchFamily="34" charset="-120"/>
              </a:rPr>
              <a:t>Electricity prices in the EU have increased significantly. Households seek ways to reduce dependency on the public grid.</a:t>
            </a:r>
            <a:endParaRPr lang="en-US" sz="1100" dirty="0"/>
          </a:p>
        </p:txBody>
      </p:sp>
      <p:sp>
        <p:nvSpPr>
          <p:cNvPr id="10" name="Shape 6"/>
          <p:cNvSpPr/>
          <p:nvPr/>
        </p:nvSpPr>
        <p:spPr>
          <a:xfrm>
            <a:off x="3246120" y="777240"/>
            <a:ext cx="2788920" cy="2743200"/>
          </a:xfrm>
          <a:prstGeom prst="rect">
            <a:avLst/>
          </a:prstGeom>
          <a:solidFill>
            <a:srgbClr val="E8F4F8"/>
          </a:solidFill>
          <a:ln w="25400">
            <a:solidFill>
              <a:srgbClr val="F5A623"/>
            </a:solidFill>
            <a:prstDash val="solid"/>
          </a:ln>
        </p:spPr>
        <p:txBody>
          <a:bodyPr/>
          <a:lstStyle/>
          <a:p>
            <a:endParaRPr lang="en-US"/>
          </a:p>
        </p:txBody>
      </p:sp>
      <p:sp>
        <p:nvSpPr>
          <p:cNvPr id="11" name="Shape 7"/>
          <p:cNvSpPr/>
          <p:nvPr/>
        </p:nvSpPr>
        <p:spPr>
          <a:xfrm>
            <a:off x="3246120" y="777240"/>
            <a:ext cx="2788920" cy="54864"/>
          </a:xfrm>
          <a:prstGeom prst="rect">
            <a:avLst/>
          </a:prstGeom>
          <a:solidFill>
            <a:srgbClr val="F5A623"/>
          </a:solidFill>
          <a:ln w="12700">
            <a:solidFill>
              <a:srgbClr val="F5A623"/>
            </a:solidFill>
            <a:prstDash val="solid"/>
          </a:ln>
        </p:spPr>
        <p:txBody>
          <a:bodyPr/>
          <a:lstStyle/>
          <a:p>
            <a:endParaRPr lang="en-US"/>
          </a:p>
        </p:txBody>
      </p:sp>
      <p:pic>
        <p:nvPicPr>
          <p:cNvPr id="12" name="Image 2" descr="preencoded.png"/>
          <p:cNvPicPr>
            <a:picLocks noChangeAspect="1"/>
          </p:cNvPicPr>
          <p:nvPr/>
        </p:nvPicPr>
        <p:blipFill>
          <a:blip r:embed="rId4"/>
          <a:stretch>
            <a:fillRect/>
          </a:stretch>
        </p:blipFill>
        <p:spPr>
          <a:xfrm>
            <a:off x="4343400" y="868680"/>
            <a:ext cx="594360" cy="530352"/>
          </a:xfrm>
          <a:prstGeom prst="rect">
            <a:avLst/>
          </a:prstGeom>
        </p:spPr>
      </p:pic>
      <p:sp>
        <p:nvSpPr>
          <p:cNvPr id="13" name="Text 8"/>
          <p:cNvSpPr/>
          <p:nvPr/>
        </p:nvSpPr>
        <p:spPr>
          <a:xfrm>
            <a:off x="3337560" y="1463040"/>
            <a:ext cx="2606040" cy="411480"/>
          </a:xfrm>
          <a:prstGeom prst="rect">
            <a:avLst/>
          </a:prstGeom>
          <a:noFill/>
          <a:ln/>
        </p:spPr>
        <p:txBody>
          <a:bodyPr wrap="square" rtlCol="0" anchor="ctr"/>
          <a:lstStyle/>
          <a:p>
            <a:pPr marL="0" indent="0" algn="ctr">
              <a:buNone/>
            </a:pPr>
            <a:r>
              <a:rPr lang="en-US" sz="1300" b="1" dirty="0">
                <a:solidFill>
                  <a:srgbClr val="222222"/>
                </a:solidFill>
                <a:latin typeface="Calibri" pitchFamily="34" charset="0"/>
                <a:ea typeface="Calibri" pitchFamily="34" charset="-122"/>
                <a:cs typeface="Calibri" pitchFamily="34" charset="-120"/>
              </a:rPr>
              <a:t>Urban Housing Constraints</a:t>
            </a:r>
            <a:endParaRPr lang="en-US" sz="1300" dirty="0"/>
          </a:p>
        </p:txBody>
      </p:sp>
      <p:sp>
        <p:nvSpPr>
          <p:cNvPr id="14" name="Text 9"/>
          <p:cNvSpPr/>
          <p:nvPr/>
        </p:nvSpPr>
        <p:spPr>
          <a:xfrm>
            <a:off x="3337560" y="1920240"/>
            <a:ext cx="2606040" cy="1508760"/>
          </a:xfrm>
          <a:prstGeom prst="rect">
            <a:avLst/>
          </a:prstGeom>
          <a:noFill/>
          <a:ln/>
        </p:spPr>
        <p:txBody>
          <a:bodyPr wrap="square" rtlCol="0" anchor="t"/>
          <a:lstStyle/>
          <a:p>
            <a:pPr marL="0" indent="0" algn="ctr">
              <a:buNone/>
            </a:pPr>
            <a:r>
              <a:rPr lang="en-US" sz="1100" dirty="0">
                <a:solidFill>
                  <a:srgbClr val="444444"/>
                </a:solidFill>
                <a:latin typeface="Calibri" pitchFamily="34" charset="0"/>
                <a:ea typeface="Calibri" pitchFamily="34" charset="-122"/>
                <a:cs typeface="Calibri" pitchFamily="34" charset="-120"/>
              </a:rPr>
              <a:t>The majority of urban residents live in apartment buildings where traditional rooftop PV installations are not feasible.</a:t>
            </a:r>
            <a:endParaRPr lang="en-US" sz="1100" dirty="0"/>
          </a:p>
        </p:txBody>
      </p:sp>
      <p:sp>
        <p:nvSpPr>
          <p:cNvPr id="15" name="Shape 10"/>
          <p:cNvSpPr/>
          <p:nvPr/>
        </p:nvSpPr>
        <p:spPr>
          <a:xfrm>
            <a:off x="6217920" y="777240"/>
            <a:ext cx="2788920" cy="2743200"/>
          </a:xfrm>
          <a:prstGeom prst="rect">
            <a:avLst/>
          </a:prstGeom>
          <a:solidFill>
            <a:srgbClr val="E8F4F8"/>
          </a:solidFill>
          <a:ln w="25400">
            <a:solidFill>
              <a:srgbClr val="2ECC71"/>
            </a:solidFill>
            <a:prstDash val="solid"/>
          </a:ln>
        </p:spPr>
        <p:txBody>
          <a:bodyPr/>
          <a:lstStyle/>
          <a:p>
            <a:endParaRPr lang="en-US"/>
          </a:p>
        </p:txBody>
      </p:sp>
      <p:sp>
        <p:nvSpPr>
          <p:cNvPr id="16" name="Shape 11"/>
          <p:cNvSpPr/>
          <p:nvPr/>
        </p:nvSpPr>
        <p:spPr>
          <a:xfrm>
            <a:off x="6217920" y="777240"/>
            <a:ext cx="2788920" cy="54864"/>
          </a:xfrm>
          <a:prstGeom prst="rect">
            <a:avLst/>
          </a:prstGeom>
          <a:solidFill>
            <a:srgbClr val="2ECC71"/>
          </a:solidFill>
          <a:ln w="12700">
            <a:solidFill>
              <a:srgbClr val="2ECC71"/>
            </a:solidFill>
            <a:prstDash val="solid"/>
          </a:ln>
        </p:spPr>
        <p:txBody>
          <a:bodyPr/>
          <a:lstStyle/>
          <a:p>
            <a:endParaRPr lang="en-US"/>
          </a:p>
        </p:txBody>
      </p:sp>
      <p:pic>
        <p:nvPicPr>
          <p:cNvPr id="17" name="Image 3" descr="preencoded.png"/>
          <p:cNvPicPr>
            <a:picLocks noChangeAspect="1"/>
          </p:cNvPicPr>
          <p:nvPr/>
        </p:nvPicPr>
        <p:blipFill>
          <a:blip r:embed="rId5"/>
          <a:stretch>
            <a:fillRect/>
          </a:stretch>
        </p:blipFill>
        <p:spPr>
          <a:xfrm>
            <a:off x="7315200" y="868680"/>
            <a:ext cx="594360" cy="530352"/>
          </a:xfrm>
          <a:prstGeom prst="rect">
            <a:avLst/>
          </a:prstGeom>
        </p:spPr>
      </p:pic>
      <p:sp>
        <p:nvSpPr>
          <p:cNvPr id="18" name="Text 12"/>
          <p:cNvSpPr/>
          <p:nvPr/>
        </p:nvSpPr>
        <p:spPr>
          <a:xfrm>
            <a:off x="6309360" y="1463040"/>
            <a:ext cx="2606040" cy="411480"/>
          </a:xfrm>
          <a:prstGeom prst="rect">
            <a:avLst/>
          </a:prstGeom>
          <a:noFill/>
          <a:ln/>
        </p:spPr>
        <p:txBody>
          <a:bodyPr wrap="square" rtlCol="0" anchor="ctr"/>
          <a:lstStyle/>
          <a:p>
            <a:pPr marL="0" indent="0" algn="ctr">
              <a:buNone/>
            </a:pPr>
            <a:r>
              <a:rPr lang="en-US" sz="1300" b="1" dirty="0">
                <a:solidFill>
                  <a:srgbClr val="222222"/>
                </a:solidFill>
                <a:latin typeface="Calibri" pitchFamily="34" charset="0"/>
                <a:ea typeface="Calibri" pitchFamily="34" charset="-122"/>
                <a:cs typeface="Calibri" pitchFamily="34" charset="-120"/>
              </a:rPr>
              <a:t>Sustainability Pressure</a:t>
            </a:r>
            <a:endParaRPr lang="en-US" sz="1300" dirty="0"/>
          </a:p>
        </p:txBody>
      </p:sp>
      <p:sp>
        <p:nvSpPr>
          <p:cNvPr id="19" name="Text 13"/>
          <p:cNvSpPr/>
          <p:nvPr/>
        </p:nvSpPr>
        <p:spPr>
          <a:xfrm>
            <a:off x="6309360" y="1920240"/>
            <a:ext cx="2606040" cy="1508760"/>
          </a:xfrm>
          <a:prstGeom prst="rect">
            <a:avLst/>
          </a:prstGeom>
          <a:noFill/>
          <a:ln/>
        </p:spPr>
        <p:txBody>
          <a:bodyPr wrap="square" rtlCol="0" anchor="t"/>
          <a:lstStyle/>
          <a:p>
            <a:pPr marL="0" indent="0" algn="ctr">
              <a:buNone/>
            </a:pPr>
            <a:r>
              <a:rPr lang="en-US" sz="1100" dirty="0">
                <a:solidFill>
                  <a:srgbClr val="444444"/>
                </a:solidFill>
                <a:latin typeface="Calibri" pitchFamily="34" charset="0"/>
                <a:ea typeface="Calibri" pitchFamily="34" charset="-122"/>
                <a:cs typeface="Calibri" pitchFamily="34" charset="-120"/>
              </a:rPr>
              <a:t>Growing environmental awareness and decarbonization goals drive demand for accessible, small-scale renewable solutions.</a:t>
            </a:r>
            <a:endParaRPr lang="en-US" sz="1100" dirty="0"/>
          </a:p>
        </p:txBody>
      </p:sp>
      <p:sp>
        <p:nvSpPr>
          <p:cNvPr id="20" name="Shape 14"/>
          <p:cNvSpPr/>
          <p:nvPr/>
        </p:nvSpPr>
        <p:spPr>
          <a:xfrm>
            <a:off x="274320" y="3703320"/>
            <a:ext cx="8595360" cy="457200"/>
          </a:xfrm>
          <a:prstGeom prst="rect">
            <a:avLst/>
          </a:prstGeom>
          <a:solidFill>
            <a:srgbClr val="203A43"/>
          </a:solidFill>
          <a:ln w="12700">
            <a:solidFill>
              <a:srgbClr val="203A43"/>
            </a:solidFill>
            <a:prstDash val="solid"/>
          </a:ln>
        </p:spPr>
        <p:txBody>
          <a:bodyPr/>
          <a:lstStyle/>
          <a:p>
            <a:endParaRPr lang="en-US"/>
          </a:p>
        </p:txBody>
      </p:sp>
      <p:sp>
        <p:nvSpPr>
          <p:cNvPr id="21" name="Text 15"/>
          <p:cNvSpPr/>
          <p:nvPr/>
        </p:nvSpPr>
        <p:spPr>
          <a:xfrm>
            <a:off x="274320" y="3703320"/>
            <a:ext cx="8595360" cy="457200"/>
          </a:xfrm>
          <a:prstGeom prst="rect">
            <a:avLst/>
          </a:prstGeom>
          <a:noFill/>
          <a:ln/>
        </p:spPr>
        <p:txBody>
          <a:bodyPr wrap="square" rtlCol="0" anchor="ctr"/>
          <a:lstStyle/>
          <a:p>
            <a:pPr marL="0" indent="0" algn="ctr">
              <a:buNone/>
            </a:pPr>
            <a:r>
              <a:rPr lang="en-US" sz="1200" b="1" dirty="0">
                <a:solidFill>
                  <a:srgbClr val="F5A623"/>
                </a:solidFill>
                <a:latin typeface="Calibri" pitchFamily="34" charset="0"/>
                <a:ea typeface="Calibri" pitchFamily="34" charset="-122"/>
                <a:cs typeface="Calibri" pitchFamily="34" charset="-120"/>
              </a:rPr>
              <a:t>💡  Solution: Balcony PV systems + IoT smart home integration → accessible, monitorable, low-cost solar for apartments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027"/>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03A43"/>
          </a:solidFill>
          <a:ln w="12700">
            <a:solidFill>
              <a:srgbClr val="203A43"/>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182880" y="109728"/>
            <a:ext cx="384048" cy="384048"/>
          </a:xfrm>
          <a:prstGeom prst="rect">
            <a:avLst/>
          </a:prstGeom>
        </p:spPr>
      </p:pic>
      <p:sp>
        <p:nvSpPr>
          <p:cNvPr id="4" name="Text 1"/>
          <p:cNvSpPr/>
          <p:nvPr/>
        </p:nvSpPr>
        <p:spPr>
          <a:xfrm>
            <a:off x="685800" y="109728"/>
            <a:ext cx="7772400" cy="41148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Related Work</a:t>
            </a:r>
            <a:endParaRPr lang="en-US" sz="2000" dirty="0"/>
          </a:p>
        </p:txBody>
      </p:sp>
      <p:sp>
        <p:nvSpPr>
          <p:cNvPr id="5" name="Shape 2"/>
          <p:cNvSpPr/>
          <p:nvPr/>
        </p:nvSpPr>
        <p:spPr>
          <a:xfrm>
            <a:off x="274320" y="777240"/>
            <a:ext cx="4114800" cy="3931920"/>
          </a:xfrm>
          <a:prstGeom prst="rect">
            <a:avLst/>
          </a:prstGeom>
          <a:solidFill>
            <a:srgbClr val="1A3040"/>
          </a:solidFill>
          <a:ln w="12700">
            <a:solidFill>
              <a:srgbClr val="F5A623"/>
            </a:solidFill>
            <a:prstDash val="solid"/>
          </a:ln>
        </p:spPr>
        <p:txBody>
          <a:bodyPr/>
          <a:lstStyle/>
          <a:p>
            <a:endParaRPr lang="en-US"/>
          </a:p>
        </p:txBody>
      </p:sp>
      <p:sp>
        <p:nvSpPr>
          <p:cNvPr id="6" name="Shape 3"/>
          <p:cNvSpPr/>
          <p:nvPr/>
        </p:nvSpPr>
        <p:spPr>
          <a:xfrm>
            <a:off x="274320" y="777240"/>
            <a:ext cx="4114800" cy="457200"/>
          </a:xfrm>
          <a:prstGeom prst="rect">
            <a:avLst/>
          </a:prstGeom>
          <a:solidFill>
            <a:srgbClr val="F5A623"/>
          </a:solidFill>
          <a:ln w="12700">
            <a:solidFill>
              <a:srgbClr val="F5A623"/>
            </a:solidFill>
            <a:prstDash val="solid"/>
          </a:ln>
        </p:spPr>
        <p:txBody>
          <a:bodyPr/>
          <a:lstStyle/>
          <a:p>
            <a:endParaRPr lang="en-US"/>
          </a:p>
        </p:txBody>
      </p:sp>
      <p:sp>
        <p:nvSpPr>
          <p:cNvPr id="7" name="Text 4"/>
          <p:cNvSpPr/>
          <p:nvPr/>
        </p:nvSpPr>
        <p:spPr>
          <a:xfrm>
            <a:off x="274320" y="777240"/>
            <a:ext cx="4114800" cy="457200"/>
          </a:xfrm>
          <a:prstGeom prst="rect">
            <a:avLst/>
          </a:prstGeom>
          <a:noFill/>
          <a:ln/>
        </p:spPr>
        <p:txBody>
          <a:bodyPr wrap="square" rtlCol="0" anchor="ctr"/>
          <a:lstStyle/>
          <a:p>
            <a:pPr marL="0" indent="0" algn="ctr">
              <a:buNone/>
            </a:pPr>
            <a:r>
              <a:rPr lang="en-US" sz="1300" b="1" dirty="0">
                <a:solidFill>
                  <a:srgbClr val="0F2027"/>
                </a:solidFill>
                <a:latin typeface="Calibri" pitchFamily="34" charset="0"/>
                <a:ea typeface="Calibri" pitchFamily="34" charset="-122"/>
                <a:cs typeface="Calibri" pitchFamily="34" charset="-120"/>
              </a:rPr>
              <a:t>Balcony PV Systems</a:t>
            </a:r>
            <a:endParaRPr lang="en-US" sz="1300" dirty="0"/>
          </a:p>
        </p:txBody>
      </p:sp>
      <p:sp>
        <p:nvSpPr>
          <p:cNvPr id="8" name="Text 5"/>
          <p:cNvSpPr/>
          <p:nvPr/>
        </p:nvSpPr>
        <p:spPr>
          <a:xfrm>
            <a:off x="411480" y="1325880"/>
            <a:ext cx="3840480" cy="3337560"/>
          </a:xfrm>
          <a:prstGeom prst="rect">
            <a:avLst/>
          </a:prstGeom>
          <a:noFill/>
          <a:ln/>
        </p:spPr>
        <p:txBody>
          <a:bodyPr wrap="square" rtlCol="0" anchor="t"/>
          <a:lstStyle/>
          <a:p>
            <a:pPr marL="0" indent="0">
              <a:buNone/>
            </a:pPr>
            <a:r>
              <a:rPr lang="en-US" sz="1050" b="1" dirty="0">
                <a:solidFill>
                  <a:srgbClr val="F5A623"/>
                </a:solidFill>
                <a:latin typeface="Calibri" pitchFamily="34" charset="0"/>
                <a:ea typeface="Calibri" pitchFamily="34" charset="-122"/>
                <a:cs typeface="Calibri" pitchFamily="34" charset="-120"/>
              </a:rPr>
              <a:t xml:space="preserve">1.  </a:t>
            </a:r>
            <a:r>
              <a:rPr lang="en-US" sz="1050" dirty="0">
                <a:solidFill>
                  <a:srgbClr val="D9EBF0"/>
                </a:solidFill>
                <a:latin typeface="Calibri" pitchFamily="34" charset="0"/>
                <a:ea typeface="Calibri" pitchFamily="34" charset="-122"/>
                <a:cs typeface="Calibri" pitchFamily="34" charset="-120"/>
              </a:rPr>
              <a:t>Krauter &amp; Bendfeld (2024): efficiency ranking of PV microinverters; yield estimations for balcony power plants
</a:t>
            </a:r>
            <a:r>
              <a:rPr lang="en-US" sz="1050" b="1" dirty="0">
                <a:solidFill>
                  <a:srgbClr val="F5A623"/>
                </a:solidFill>
                <a:latin typeface="Calibri" pitchFamily="34" charset="0"/>
                <a:ea typeface="Calibri" pitchFamily="34" charset="-122"/>
                <a:cs typeface="Calibri" pitchFamily="34" charset="-120"/>
              </a:rPr>
              <a:t xml:space="preserve">2.  </a:t>
            </a:r>
            <a:r>
              <a:rPr lang="en-US" sz="1050" dirty="0">
                <a:solidFill>
                  <a:srgbClr val="D9EBF0"/>
                </a:solidFill>
                <a:latin typeface="Calibri" pitchFamily="34" charset="0"/>
                <a:ea typeface="Calibri" pitchFamily="34" charset="-122"/>
                <a:cs typeface="Calibri" pitchFamily="34" charset="-120"/>
              </a:rPr>
              <a:t>Polański (2025): applicability in large-panel prefabricated urban housing
</a:t>
            </a:r>
            <a:r>
              <a:rPr lang="en-US" sz="1050" b="1" dirty="0">
                <a:solidFill>
                  <a:srgbClr val="F5A623"/>
                </a:solidFill>
                <a:latin typeface="Calibri" pitchFamily="34" charset="0"/>
                <a:ea typeface="Calibri" pitchFamily="34" charset="-122"/>
                <a:cs typeface="Calibri" pitchFamily="34" charset="-120"/>
              </a:rPr>
              <a:t xml:space="preserve">3.  </a:t>
            </a:r>
            <a:r>
              <a:rPr lang="en-US" sz="1050" dirty="0">
                <a:solidFill>
                  <a:srgbClr val="D9EBF0"/>
                </a:solidFill>
                <a:latin typeface="Calibri" pitchFamily="34" charset="0"/>
                <a:ea typeface="Calibri" pitchFamily="34" charset="-122"/>
                <a:cs typeface="Calibri" pitchFamily="34" charset="-120"/>
              </a:rPr>
              <a:t>Fakhraian et al. (2021): urban rooftop PV potential
</a:t>
            </a:r>
            <a:r>
              <a:rPr lang="en-US" sz="1050" b="1" dirty="0">
                <a:solidFill>
                  <a:srgbClr val="F5A623"/>
                </a:solidFill>
                <a:latin typeface="Calibri" pitchFamily="34" charset="0"/>
                <a:ea typeface="Calibri" pitchFamily="34" charset="-122"/>
                <a:cs typeface="Calibri" pitchFamily="34" charset="-120"/>
              </a:rPr>
              <a:t xml:space="preserve">4.  </a:t>
            </a:r>
            <a:r>
              <a:rPr lang="en-US" sz="1050" dirty="0">
                <a:solidFill>
                  <a:srgbClr val="D9EBF0"/>
                </a:solidFill>
                <a:latin typeface="Calibri" pitchFamily="34" charset="0"/>
                <a:ea typeface="Calibri" pitchFamily="34" charset="-122"/>
                <a:cs typeface="Calibri" pitchFamily="34" charset="-120"/>
              </a:rPr>
              <a:t>Brito et al. (2016): small-scale distributed generation in residential buildings</a:t>
            </a:r>
            <a:endParaRPr lang="en-US" sz="1050" dirty="0"/>
          </a:p>
        </p:txBody>
      </p:sp>
      <p:sp>
        <p:nvSpPr>
          <p:cNvPr id="9" name="Shape 6"/>
          <p:cNvSpPr/>
          <p:nvPr/>
        </p:nvSpPr>
        <p:spPr>
          <a:xfrm>
            <a:off x="4754880" y="777240"/>
            <a:ext cx="4114800" cy="3931920"/>
          </a:xfrm>
          <a:prstGeom prst="rect">
            <a:avLst/>
          </a:prstGeom>
          <a:solidFill>
            <a:srgbClr val="1A3040"/>
          </a:solidFill>
          <a:ln w="12700">
            <a:solidFill>
              <a:srgbClr val="2ECC71"/>
            </a:solidFill>
            <a:prstDash val="solid"/>
          </a:ln>
        </p:spPr>
        <p:txBody>
          <a:bodyPr/>
          <a:lstStyle/>
          <a:p>
            <a:endParaRPr lang="en-US"/>
          </a:p>
        </p:txBody>
      </p:sp>
      <p:sp>
        <p:nvSpPr>
          <p:cNvPr id="10" name="Shape 7"/>
          <p:cNvSpPr/>
          <p:nvPr/>
        </p:nvSpPr>
        <p:spPr>
          <a:xfrm>
            <a:off x="4754880" y="777240"/>
            <a:ext cx="4114800" cy="457200"/>
          </a:xfrm>
          <a:prstGeom prst="rect">
            <a:avLst/>
          </a:prstGeom>
          <a:solidFill>
            <a:srgbClr val="2ECC71"/>
          </a:solidFill>
          <a:ln w="12700">
            <a:solidFill>
              <a:srgbClr val="2ECC71"/>
            </a:solidFill>
            <a:prstDash val="solid"/>
          </a:ln>
        </p:spPr>
        <p:txBody>
          <a:bodyPr/>
          <a:lstStyle/>
          <a:p>
            <a:endParaRPr lang="en-US"/>
          </a:p>
        </p:txBody>
      </p:sp>
      <p:sp>
        <p:nvSpPr>
          <p:cNvPr id="11" name="Text 8"/>
          <p:cNvSpPr/>
          <p:nvPr/>
        </p:nvSpPr>
        <p:spPr>
          <a:xfrm>
            <a:off x="4754880" y="777240"/>
            <a:ext cx="4114800" cy="457200"/>
          </a:xfrm>
          <a:prstGeom prst="rect">
            <a:avLst/>
          </a:prstGeom>
          <a:noFill/>
          <a:ln/>
        </p:spPr>
        <p:txBody>
          <a:bodyPr wrap="square" rtlCol="0" anchor="ctr"/>
          <a:lstStyle/>
          <a:p>
            <a:pPr marL="0" indent="0" algn="ctr">
              <a:buNone/>
            </a:pPr>
            <a:r>
              <a:rPr lang="en-US" sz="1300" b="1" dirty="0">
                <a:solidFill>
                  <a:srgbClr val="0F2027"/>
                </a:solidFill>
                <a:latin typeface="Calibri" pitchFamily="34" charset="0"/>
                <a:ea typeface="Calibri" pitchFamily="34" charset="-122"/>
                <a:cs typeface="Calibri" pitchFamily="34" charset="-120"/>
              </a:rPr>
              <a:t>Smart Home &amp; IoT Energy</a:t>
            </a:r>
            <a:endParaRPr lang="en-US" sz="1300" dirty="0"/>
          </a:p>
        </p:txBody>
      </p:sp>
      <p:sp>
        <p:nvSpPr>
          <p:cNvPr id="12" name="Text 9"/>
          <p:cNvSpPr/>
          <p:nvPr/>
        </p:nvSpPr>
        <p:spPr>
          <a:xfrm>
            <a:off x="4892040" y="1325880"/>
            <a:ext cx="3840480" cy="3337560"/>
          </a:xfrm>
          <a:prstGeom prst="rect">
            <a:avLst/>
          </a:prstGeom>
          <a:noFill/>
          <a:ln/>
        </p:spPr>
        <p:txBody>
          <a:bodyPr wrap="square" rtlCol="0" anchor="t"/>
          <a:lstStyle/>
          <a:p>
            <a:pPr marL="0" indent="0">
              <a:buNone/>
            </a:pPr>
            <a:r>
              <a:rPr lang="en-US" sz="1050" b="1" dirty="0">
                <a:solidFill>
                  <a:srgbClr val="2ECC71"/>
                </a:solidFill>
                <a:latin typeface="Calibri" pitchFamily="34" charset="0"/>
                <a:ea typeface="Calibri" pitchFamily="34" charset="-122"/>
                <a:cs typeface="Calibri" pitchFamily="34" charset="-120"/>
              </a:rPr>
              <a:t xml:space="preserve">1.  </a:t>
            </a:r>
            <a:r>
              <a:rPr lang="en-US" sz="1050" dirty="0">
                <a:solidFill>
                  <a:srgbClr val="D9EBF0"/>
                </a:solidFill>
                <a:latin typeface="Calibri" pitchFamily="34" charset="0"/>
                <a:ea typeface="Calibri" pitchFamily="34" charset="-122"/>
                <a:cs typeface="Calibri" pitchFamily="34" charset="-120"/>
              </a:rPr>
              <a:t>Badar &amp; Anvari-Moghaddam (2020): comprehensive review of smart home energy management systems
</a:t>
            </a:r>
            <a:r>
              <a:rPr lang="en-US" sz="1050" b="1" dirty="0">
                <a:solidFill>
                  <a:srgbClr val="2ECC71"/>
                </a:solidFill>
                <a:latin typeface="Calibri" pitchFamily="34" charset="0"/>
                <a:ea typeface="Calibri" pitchFamily="34" charset="-122"/>
                <a:cs typeface="Calibri" pitchFamily="34" charset="-120"/>
              </a:rPr>
              <a:t xml:space="preserve">2.  </a:t>
            </a:r>
            <a:r>
              <a:rPr lang="en-US" sz="1050" dirty="0">
                <a:solidFill>
                  <a:srgbClr val="D9EBF0"/>
                </a:solidFill>
                <a:latin typeface="Calibri" pitchFamily="34" charset="0"/>
                <a:ea typeface="Calibri" pitchFamily="34" charset="-122"/>
                <a:cs typeface="Calibri" pitchFamily="34" charset="-120"/>
              </a:rPr>
              <a:t>Ivanović et al. (2019): data acquisition and storage in smart home solutions
</a:t>
            </a:r>
            <a:r>
              <a:rPr lang="en-US" sz="1050" b="1" dirty="0">
                <a:solidFill>
                  <a:srgbClr val="2ECC71"/>
                </a:solidFill>
                <a:latin typeface="Calibri" pitchFamily="34" charset="0"/>
                <a:ea typeface="Calibri" pitchFamily="34" charset="-122"/>
                <a:cs typeface="Calibri" pitchFamily="34" charset="-120"/>
              </a:rPr>
              <a:t xml:space="preserve">3.  </a:t>
            </a:r>
            <a:r>
              <a:rPr lang="en-US" sz="1050" dirty="0">
                <a:solidFill>
                  <a:srgbClr val="D9EBF0"/>
                </a:solidFill>
                <a:latin typeface="Calibri" pitchFamily="34" charset="0"/>
                <a:ea typeface="Calibri" pitchFamily="34" charset="-122"/>
                <a:cs typeface="Calibri" pitchFamily="34" charset="-120"/>
              </a:rPr>
              <a:t>Nikolić et al. (2025): cloud-enabled smart home energy optimization
</a:t>
            </a:r>
            <a:r>
              <a:rPr lang="en-US" sz="1050" b="1" dirty="0">
                <a:solidFill>
                  <a:srgbClr val="2ECC71"/>
                </a:solidFill>
                <a:latin typeface="Calibri" pitchFamily="34" charset="0"/>
                <a:ea typeface="Calibri" pitchFamily="34" charset="-122"/>
                <a:cs typeface="Calibri" pitchFamily="34" charset="-120"/>
              </a:rPr>
              <a:t xml:space="preserve">4.  </a:t>
            </a:r>
            <a:r>
              <a:rPr lang="en-US" sz="1050" dirty="0">
                <a:solidFill>
                  <a:srgbClr val="D9EBF0"/>
                </a:solidFill>
                <a:latin typeface="Calibri" pitchFamily="34" charset="0"/>
                <a:ea typeface="Calibri" pitchFamily="34" charset="-122"/>
                <a:cs typeface="Calibri" pitchFamily="34" charset="-120"/>
              </a:rPr>
              <a:t>IEA PVPS (2023): global trends in photovoltaic applications</a:t>
            </a:r>
            <a:endParaRPr lang="en-US" sz="1050" dirty="0"/>
          </a:p>
        </p:txBody>
      </p:sp>
      <p:sp>
        <p:nvSpPr>
          <p:cNvPr id="13" name="Shape 10"/>
          <p:cNvSpPr/>
          <p:nvPr/>
        </p:nvSpPr>
        <p:spPr>
          <a:xfrm>
            <a:off x="274320" y="4732020"/>
            <a:ext cx="8595360" cy="411480"/>
          </a:xfrm>
          <a:prstGeom prst="rect">
            <a:avLst/>
          </a:prstGeom>
          <a:solidFill>
            <a:srgbClr val="1A2A10"/>
          </a:solidFill>
          <a:ln w="12700">
            <a:solidFill>
              <a:srgbClr val="2ECC71"/>
            </a:solidFill>
            <a:prstDash val="solid"/>
          </a:ln>
        </p:spPr>
        <p:txBody>
          <a:bodyPr/>
          <a:lstStyle/>
          <a:p>
            <a:endParaRPr lang="en-US" dirty="0"/>
          </a:p>
        </p:txBody>
      </p:sp>
      <p:sp>
        <p:nvSpPr>
          <p:cNvPr id="14" name="Text 11"/>
          <p:cNvSpPr/>
          <p:nvPr/>
        </p:nvSpPr>
        <p:spPr>
          <a:xfrm>
            <a:off x="274320" y="4735055"/>
            <a:ext cx="8595360" cy="411480"/>
          </a:xfrm>
          <a:prstGeom prst="rect">
            <a:avLst/>
          </a:prstGeom>
          <a:noFill/>
          <a:ln/>
        </p:spPr>
        <p:txBody>
          <a:bodyPr wrap="square" rtlCol="0" anchor="ctr"/>
          <a:lstStyle/>
          <a:p>
            <a:pPr marL="0" indent="0" algn="ctr">
              <a:buNone/>
            </a:pPr>
            <a:r>
              <a:rPr lang="en-US" sz="1100" b="1" i="1" dirty="0">
                <a:solidFill>
                  <a:srgbClr val="2ECC71"/>
                </a:solidFill>
                <a:latin typeface="Calibri" pitchFamily="34" charset="0"/>
                <a:ea typeface="Calibri" pitchFamily="34" charset="-122"/>
                <a:cs typeface="Calibri" pitchFamily="34" charset="-120"/>
              </a:rPr>
              <a:t>Research Gap: Limited work combining real-time balcony PV monitoring with smart home infrastructure using real-world operational data</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027"/>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03A43"/>
          </a:solidFill>
          <a:ln w="12700">
            <a:solidFill>
              <a:srgbClr val="203A43"/>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182880" y="109728"/>
            <a:ext cx="384048" cy="384048"/>
          </a:xfrm>
          <a:prstGeom prst="rect">
            <a:avLst/>
          </a:prstGeom>
        </p:spPr>
      </p:pic>
      <p:sp>
        <p:nvSpPr>
          <p:cNvPr id="4" name="Text 1"/>
          <p:cNvSpPr/>
          <p:nvPr/>
        </p:nvSpPr>
        <p:spPr>
          <a:xfrm>
            <a:off x="685800" y="109728"/>
            <a:ext cx="7772400" cy="41148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OBLO Smart Home Architecture</a:t>
            </a:r>
            <a:endParaRPr lang="en-US" sz="2000" dirty="0"/>
          </a:p>
        </p:txBody>
      </p:sp>
      <p:sp>
        <p:nvSpPr>
          <p:cNvPr id="5" name="Shape 2"/>
          <p:cNvSpPr/>
          <p:nvPr/>
        </p:nvSpPr>
        <p:spPr>
          <a:xfrm>
            <a:off x="274320" y="777240"/>
            <a:ext cx="4114800" cy="2057400"/>
          </a:xfrm>
          <a:prstGeom prst="rect">
            <a:avLst/>
          </a:prstGeom>
          <a:solidFill>
            <a:srgbClr val="1A3040"/>
          </a:solidFill>
          <a:ln w="12700">
            <a:solidFill>
              <a:srgbClr val="F5A623"/>
            </a:solidFill>
            <a:prstDash val="solid"/>
          </a:ln>
        </p:spPr>
        <p:txBody>
          <a:bodyPr/>
          <a:lstStyle/>
          <a:p>
            <a:endParaRPr lang="en-US"/>
          </a:p>
        </p:txBody>
      </p:sp>
      <p:sp>
        <p:nvSpPr>
          <p:cNvPr id="6" name="Shape 3"/>
          <p:cNvSpPr/>
          <p:nvPr/>
        </p:nvSpPr>
        <p:spPr>
          <a:xfrm>
            <a:off x="274320" y="777240"/>
            <a:ext cx="64008" cy="2057400"/>
          </a:xfrm>
          <a:prstGeom prst="rect">
            <a:avLst/>
          </a:prstGeom>
          <a:solidFill>
            <a:srgbClr val="F5A623"/>
          </a:solidFill>
          <a:ln w="12700">
            <a:solidFill>
              <a:srgbClr val="F5A623"/>
            </a:solidFill>
            <a:prstDash val="solid"/>
          </a:ln>
        </p:spPr>
        <p:txBody>
          <a:bodyPr/>
          <a:lstStyle/>
          <a:p>
            <a:endParaRPr lang="en-US"/>
          </a:p>
        </p:txBody>
      </p:sp>
      <p:pic>
        <p:nvPicPr>
          <p:cNvPr id="7" name="Image 1" descr="preencoded.png"/>
          <p:cNvPicPr>
            <a:picLocks noChangeAspect="1"/>
          </p:cNvPicPr>
          <p:nvPr/>
        </p:nvPicPr>
        <p:blipFill>
          <a:blip r:embed="rId4"/>
          <a:stretch>
            <a:fillRect/>
          </a:stretch>
        </p:blipFill>
        <p:spPr>
          <a:xfrm>
            <a:off x="438912" y="914400"/>
            <a:ext cx="438912" cy="402336"/>
          </a:xfrm>
          <a:prstGeom prst="rect">
            <a:avLst/>
          </a:prstGeom>
        </p:spPr>
      </p:pic>
      <p:sp>
        <p:nvSpPr>
          <p:cNvPr id="8" name="Text 4"/>
          <p:cNvSpPr/>
          <p:nvPr/>
        </p:nvSpPr>
        <p:spPr>
          <a:xfrm>
            <a:off x="1005840" y="868680"/>
            <a:ext cx="3246120" cy="41148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Controller (Gateway)</a:t>
            </a:r>
            <a:endParaRPr lang="en-US" sz="1300" dirty="0"/>
          </a:p>
        </p:txBody>
      </p:sp>
      <p:sp>
        <p:nvSpPr>
          <p:cNvPr id="9" name="Text 5"/>
          <p:cNvSpPr/>
          <p:nvPr/>
        </p:nvSpPr>
        <p:spPr>
          <a:xfrm>
            <a:off x="438912" y="1344168"/>
            <a:ext cx="3840480" cy="1417320"/>
          </a:xfrm>
          <a:prstGeom prst="rect">
            <a:avLst/>
          </a:prstGeom>
          <a:noFill/>
          <a:ln/>
        </p:spPr>
        <p:txBody>
          <a:bodyPr wrap="square" rtlCol="0" anchor="t"/>
          <a:lstStyle/>
          <a:p>
            <a:pPr marL="0" indent="0">
              <a:buNone/>
            </a:pPr>
            <a:r>
              <a:rPr lang="en-US" sz="1050" dirty="0">
                <a:solidFill>
                  <a:srgbClr val="D9EBF0"/>
                </a:solidFill>
                <a:latin typeface="Calibri" pitchFamily="34" charset="0"/>
                <a:ea typeface="Calibri" pitchFamily="34" charset="-122"/>
                <a:cs typeface="Calibri" pitchFamily="34" charset="-120"/>
              </a:rPr>
              <a:t>Central hub. Manages all peripheral devices. Supports IP, BLE, ZigBee, Z-Wave, Matter. Receives and processes PV production data.</a:t>
            </a:r>
            <a:endParaRPr lang="en-US" sz="1050" dirty="0"/>
          </a:p>
        </p:txBody>
      </p:sp>
      <p:sp>
        <p:nvSpPr>
          <p:cNvPr id="10" name="Shape 6"/>
          <p:cNvSpPr/>
          <p:nvPr/>
        </p:nvSpPr>
        <p:spPr>
          <a:xfrm>
            <a:off x="4754880" y="777240"/>
            <a:ext cx="4114800" cy="2057400"/>
          </a:xfrm>
          <a:prstGeom prst="rect">
            <a:avLst/>
          </a:prstGeom>
          <a:solidFill>
            <a:srgbClr val="1A3040"/>
          </a:solidFill>
          <a:ln w="12700">
            <a:solidFill>
              <a:srgbClr val="2ECC71"/>
            </a:solidFill>
            <a:prstDash val="solid"/>
          </a:ln>
        </p:spPr>
        <p:txBody>
          <a:bodyPr/>
          <a:lstStyle/>
          <a:p>
            <a:endParaRPr lang="en-US"/>
          </a:p>
        </p:txBody>
      </p:sp>
      <p:sp>
        <p:nvSpPr>
          <p:cNvPr id="11" name="Shape 7"/>
          <p:cNvSpPr/>
          <p:nvPr/>
        </p:nvSpPr>
        <p:spPr>
          <a:xfrm>
            <a:off x="4754880" y="777240"/>
            <a:ext cx="64008" cy="2057400"/>
          </a:xfrm>
          <a:prstGeom prst="rect">
            <a:avLst/>
          </a:prstGeom>
          <a:solidFill>
            <a:srgbClr val="2ECC71"/>
          </a:solidFill>
          <a:ln w="12700">
            <a:solidFill>
              <a:srgbClr val="2ECC71"/>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4919472" y="914400"/>
            <a:ext cx="438912" cy="402336"/>
          </a:xfrm>
          <a:prstGeom prst="rect">
            <a:avLst/>
          </a:prstGeom>
        </p:spPr>
      </p:pic>
      <p:sp>
        <p:nvSpPr>
          <p:cNvPr id="13" name="Text 8"/>
          <p:cNvSpPr/>
          <p:nvPr/>
        </p:nvSpPr>
        <p:spPr>
          <a:xfrm>
            <a:off x="5486400" y="868680"/>
            <a:ext cx="3246120" cy="41148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Cloud Service</a:t>
            </a:r>
            <a:endParaRPr lang="en-US" sz="1300" dirty="0"/>
          </a:p>
        </p:txBody>
      </p:sp>
      <p:sp>
        <p:nvSpPr>
          <p:cNvPr id="14" name="Text 9"/>
          <p:cNvSpPr/>
          <p:nvPr/>
        </p:nvSpPr>
        <p:spPr>
          <a:xfrm>
            <a:off x="4919472" y="1344168"/>
            <a:ext cx="3840480" cy="1417320"/>
          </a:xfrm>
          <a:prstGeom prst="rect">
            <a:avLst/>
          </a:prstGeom>
          <a:noFill/>
          <a:ln/>
        </p:spPr>
        <p:txBody>
          <a:bodyPr wrap="square" rtlCol="0" anchor="t"/>
          <a:lstStyle/>
          <a:p>
            <a:pPr marL="0" indent="0">
              <a:buNone/>
            </a:pPr>
            <a:r>
              <a:rPr lang="en-US" sz="1050" dirty="0">
                <a:solidFill>
                  <a:srgbClr val="D9EBF0"/>
                </a:solidFill>
                <a:latin typeface="Calibri" pitchFamily="34" charset="0"/>
                <a:ea typeface="Calibri" pitchFamily="34" charset="-122"/>
                <a:cs typeface="Calibri" pitchFamily="34" charset="-120"/>
              </a:rPr>
              <a:t>Enables remote access outside local network. Routes HTTP/MQTT between client app and controller. Stores per-device data with unique IDs.</a:t>
            </a:r>
            <a:endParaRPr lang="en-US" sz="1050" dirty="0"/>
          </a:p>
        </p:txBody>
      </p:sp>
      <p:sp>
        <p:nvSpPr>
          <p:cNvPr id="15" name="Shape 10"/>
          <p:cNvSpPr/>
          <p:nvPr/>
        </p:nvSpPr>
        <p:spPr>
          <a:xfrm>
            <a:off x="274320" y="2944368"/>
            <a:ext cx="4114800" cy="2057400"/>
          </a:xfrm>
          <a:prstGeom prst="rect">
            <a:avLst/>
          </a:prstGeom>
          <a:solidFill>
            <a:srgbClr val="1A3040"/>
          </a:solidFill>
          <a:ln w="12700">
            <a:solidFill>
              <a:srgbClr val="3498DB"/>
            </a:solidFill>
            <a:prstDash val="solid"/>
          </a:ln>
        </p:spPr>
        <p:txBody>
          <a:bodyPr/>
          <a:lstStyle/>
          <a:p>
            <a:endParaRPr lang="en-US"/>
          </a:p>
        </p:txBody>
      </p:sp>
      <p:sp>
        <p:nvSpPr>
          <p:cNvPr id="16" name="Shape 11"/>
          <p:cNvSpPr/>
          <p:nvPr/>
        </p:nvSpPr>
        <p:spPr>
          <a:xfrm>
            <a:off x="274320" y="2944368"/>
            <a:ext cx="64008" cy="2057400"/>
          </a:xfrm>
          <a:prstGeom prst="rect">
            <a:avLst/>
          </a:prstGeom>
          <a:solidFill>
            <a:srgbClr val="3498DB"/>
          </a:solidFill>
          <a:ln w="12700">
            <a:solidFill>
              <a:srgbClr val="3498DB"/>
            </a:solidFill>
            <a:prstDash val="solid"/>
          </a:ln>
        </p:spPr>
        <p:txBody>
          <a:bodyPr/>
          <a:lstStyle/>
          <a:p>
            <a:endParaRPr lang="en-US"/>
          </a:p>
        </p:txBody>
      </p:sp>
      <p:pic>
        <p:nvPicPr>
          <p:cNvPr id="17" name="Image 3" descr="preencoded.png"/>
          <p:cNvPicPr>
            <a:picLocks noChangeAspect="1"/>
          </p:cNvPicPr>
          <p:nvPr/>
        </p:nvPicPr>
        <p:blipFill>
          <a:blip r:embed="rId6"/>
          <a:stretch>
            <a:fillRect/>
          </a:stretch>
        </p:blipFill>
        <p:spPr>
          <a:xfrm>
            <a:off x="438912" y="3081528"/>
            <a:ext cx="438912" cy="402336"/>
          </a:xfrm>
          <a:prstGeom prst="rect">
            <a:avLst/>
          </a:prstGeom>
        </p:spPr>
      </p:pic>
      <p:sp>
        <p:nvSpPr>
          <p:cNvPr id="18" name="Text 12"/>
          <p:cNvSpPr/>
          <p:nvPr/>
        </p:nvSpPr>
        <p:spPr>
          <a:xfrm>
            <a:off x="1005840" y="3035808"/>
            <a:ext cx="3246120" cy="41148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Client Application</a:t>
            </a:r>
            <a:endParaRPr lang="en-US" sz="1300" dirty="0"/>
          </a:p>
        </p:txBody>
      </p:sp>
      <p:sp>
        <p:nvSpPr>
          <p:cNvPr id="19" name="Text 13"/>
          <p:cNvSpPr/>
          <p:nvPr/>
        </p:nvSpPr>
        <p:spPr>
          <a:xfrm>
            <a:off x="438912" y="3511296"/>
            <a:ext cx="3840480" cy="1417320"/>
          </a:xfrm>
          <a:prstGeom prst="rect">
            <a:avLst/>
          </a:prstGeom>
          <a:noFill/>
          <a:ln/>
        </p:spPr>
        <p:txBody>
          <a:bodyPr wrap="square" rtlCol="0" anchor="t"/>
          <a:lstStyle/>
          <a:p>
            <a:pPr marL="0" indent="0">
              <a:buNone/>
            </a:pPr>
            <a:r>
              <a:rPr lang="en-US" sz="1050" dirty="0">
                <a:solidFill>
                  <a:srgbClr val="D9EBF0"/>
                </a:solidFill>
                <a:latin typeface="Calibri" pitchFamily="34" charset="0"/>
                <a:ea typeface="Calibri" pitchFamily="34" charset="-122"/>
                <a:cs typeface="Calibri" pitchFamily="34" charset="-120"/>
              </a:rPr>
              <a:t>Mobile or web interface. Displays real-time power output, hourly/daily/monthly energy statistics. Supports local (MQTT) and remote (HTTP) modes.</a:t>
            </a:r>
            <a:endParaRPr lang="en-US" sz="1050" dirty="0"/>
          </a:p>
        </p:txBody>
      </p:sp>
      <p:sp>
        <p:nvSpPr>
          <p:cNvPr id="20" name="Shape 14"/>
          <p:cNvSpPr/>
          <p:nvPr/>
        </p:nvSpPr>
        <p:spPr>
          <a:xfrm>
            <a:off x="4754880" y="2944368"/>
            <a:ext cx="4114800" cy="2057400"/>
          </a:xfrm>
          <a:prstGeom prst="rect">
            <a:avLst/>
          </a:prstGeom>
          <a:solidFill>
            <a:srgbClr val="1A3040"/>
          </a:solidFill>
          <a:ln w="12700">
            <a:solidFill>
              <a:srgbClr val="9B59B6"/>
            </a:solidFill>
            <a:prstDash val="solid"/>
          </a:ln>
        </p:spPr>
        <p:txBody>
          <a:bodyPr/>
          <a:lstStyle/>
          <a:p>
            <a:endParaRPr lang="en-US"/>
          </a:p>
        </p:txBody>
      </p:sp>
      <p:sp>
        <p:nvSpPr>
          <p:cNvPr id="21" name="Shape 15"/>
          <p:cNvSpPr/>
          <p:nvPr/>
        </p:nvSpPr>
        <p:spPr>
          <a:xfrm>
            <a:off x="4754880" y="2944368"/>
            <a:ext cx="64008" cy="2057400"/>
          </a:xfrm>
          <a:prstGeom prst="rect">
            <a:avLst/>
          </a:prstGeom>
          <a:solidFill>
            <a:srgbClr val="9B59B6"/>
          </a:solidFill>
          <a:ln w="12700">
            <a:solidFill>
              <a:srgbClr val="9B59B6"/>
            </a:solidFill>
            <a:prstDash val="solid"/>
          </a:ln>
        </p:spPr>
        <p:txBody>
          <a:bodyPr/>
          <a:lstStyle/>
          <a:p>
            <a:endParaRPr lang="en-US"/>
          </a:p>
        </p:txBody>
      </p:sp>
      <p:pic>
        <p:nvPicPr>
          <p:cNvPr id="22" name="Image 4" descr="preencoded.png"/>
          <p:cNvPicPr>
            <a:picLocks noChangeAspect="1"/>
          </p:cNvPicPr>
          <p:nvPr/>
        </p:nvPicPr>
        <p:blipFill>
          <a:blip r:embed="rId7"/>
          <a:stretch>
            <a:fillRect/>
          </a:stretch>
        </p:blipFill>
        <p:spPr>
          <a:xfrm>
            <a:off x="4919472" y="3081528"/>
            <a:ext cx="438912" cy="402336"/>
          </a:xfrm>
          <a:prstGeom prst="rect">
            <a:avLst/>
          </a:prstGeom>
        </p:spPr>
      </p:pic>
      <p:sp>
        <p:nvSpPr>
          <p:cNvPr id="23" name="Text 16"/>
          <p:cNvSpPr/>
          <p:nvPr/>
        </p:nvSpPr>
        <p:spPr>
          <a:xfrm>
            <a:off x="5486400" y="3035808"/>
            <a:ext cx="3246120" cy="41148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Peripheral Devices</a:t>
            </a:r>
            <a:endParaRPr lang="en-US" sz="1300" dirty="0"/>
          </a:p>
        </p:txBody>
      </p:sp>
      <p:sp>
        <p:nvSpPr>
          <p:cNvPr id="24" name="Text 17"/>
          <p:cNvSpPr/>
          <p:nvPr/>
        </p:nvSpPr>
        <p:spPr>
          <a:xfrm>
            <a:off x="4919472" y="3511296"/>
            <a:ext cx="3840480" cy="1417320"/>
          </a:xfrm>
          <a:prstGeom prst="rect">
            <a:avLst/>
          </a:prstGeom>
          <a:noFill/>
          <a:ln/>
        </p:spPr>
        <p:txBody>
          <a:bodyPr wrap="square" rtlCol="0" anchor="t"/>
          <a:lstStyle/>
          <a:p>
            <a:pPr marL="0" indent="0">
              <a:buNone/>
            </a:pPr>
            <a:r>
              <a:rPr lang="en-US" sz="1050" dirty="0">
                <a:solidFill>
                  <a:srgbClr val="D9EBF0"/>
                </a:solidFill>
                <a:latin typeface="Calibri" pitchFamily="34" charset="0"/>
                <a:ea typeface="Calibri" pitchFamily="34" charset="-122"/>
                <a:cs typeface="Calibri" pitchFamily="34" charset="-120"/>
              </a:rPr>
              <a:t>Sensors (data collection) and actuators (command execution). Balcony PV acts as an energy sensor — power (W) and cumulative energy (kWh).</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2027"/>
          </a:solidFill>
          <a:ln w="12700">
            <a:solidFill>
              <a:srgbClr val="0F2027"/>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182880" y="109728"/>
            <a:ext cx="384048" cy="384048"/>
          </a:xfrm>
          <a:prstGeom prst="rect">
            <a:avLst/>
          </a:prstGeom>
        </p:spPr>
      </p:pic>
      <p:sp>
        <p:nvSpPr>
          <p:cNvPr id="4" name="Text 1"/>
          <p:cNvSpPr/>
          <p:nvPr/>
        </p:nvSpPr>
        <p:spPr>
          <a:xfrm>
            <a:off x="685800" y="109728"/>
            <a:ext cx="7772400" cy="41148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Integration — Hardware Setup</a:t>
            </a:r>
            <a:endParaRPr lang="en-US" sz="2000" dirty="0"/>
          </a:p>
        </p:txBody>
      </p:sp>
      <p:sp>
        <p:nvSpPr>
          <p:cNvPr id="5" name="Shape 2"/>
          <p:cNvSpPr/>
          <p:nvPr/>
        </p:nvSpPr>
        <p:spPr>
          <a:xfrm>
            <a:off x="274320" y="777240"/>
            <a:ext cx="4114800" cy="4069080"/>
          </a:xfrm>
          <a:prstGeom prst="rect">
            <a:avLst/>
          </a:prstGeom>
          <a:solidFill>
            <a:srgbClr val="E8F4F8"/>
          </a:solidFill>
          <a:ln w="12700">
            <a:solidFill>
              <a:srgbClr val="DDDDDD"/>
            </a:solidFill>
            <a:prstDash val="solid"/>
          </a:ln>
        </p:spPr>
        <p:txBody>
          <a:bodyPr/>
          <a:lstStyle/>
          <a:p>
            <a:endParaRPr lang="en-US"/>
          </a:p>
        </p:txBody>
      </p:sp>
      <p:sp>
        <p:nvSpPr>
          <p:cNvPr id="6" name="Shape 3"/>
          <p:cNvSpPr/>
          <p:nvPr/>
        </p:nvSpPr>
        <p:spPr>
          <a:xfrm>
            <a:off x="274320" y="777240"/>
            <a:ext cx="4114800" cy="438912"/>
          </a:xfrm>
          <a:prstGeom prst="rect">
            <a:avLst/>
          </a:prstGeom>
          <a:solidFill>
            <a:srgbClr val="203A43"/>
          </a:solidFill>
          <a:ln w="12700">
            <a:solidFill>
              <a:srgbClr val="203A43"/>
            </a:solidFill>
            <a:prstDash val="solid"/>
          </a:ln>
        </p:spPr>
        <p:txBody>
          <a:bodyPr/>
          <a:lstStyle/>
          <a:p>
            <a:endParaRPr lang="en-US"/>
          </a:p>
        </p:txBody>
      </p:sp>
      <p:sp>
        <p:nvSpPr>
          <p:cNvPr id="7" name="Text 4"/>
          <p:cNvSpPr/>
          <p:nvPr/>
        </p:nvSpPr>
        <p:spPr>
          <a:xfrm>
            <a:off x="274320" y="777240"/>
            <a:ext cx="4114800" cy="438912"/>
          </a:xfrm>
          <a:prstGeom prst="rect">
            <a:avLst/>
          </a:prstGeom>
          <a:noFill/>
          <a:ln/>
        </p:spPr>
        <p:txBody>
          <a:bodyPr wrap="square" rtlCol="0" anchor="ctr"/>
          <a:lstStyle/>
          <a:p>
            <a:pPr marL="0" indent="0" algn="ctr">
              <a:buNone/>
            </a:pPr>
            <a:r>
              <a:rPr lang="en-US" sz="1300" b="1" dirty="0">
                <a:solidFill>
                  <a:srgbClr val="F5A623"/>
                </a:solidFill>
                <a:latin typeface="Calibri" pitchFamily="34" charset="0"/>
                <a:ea typeface="Calibri" pitchFamily="34" charset="-122"/>
                <a:cs typeface="Calibri" pitchFamily="34" charset="-120"/>
              </a:rPr>
              <a:t>PV Installation</a:t>
            </a:r>
            <a:endParaRPr lang="en-US" sz="1300" dirty="0"/>
          </a:p>
        </p:txBody>
      </p:sp>
      <p:sp>
        <p:nvSpPr>
          <p:cNvPr id="8" name="Text 5"/>
          <p:cNvSpPr/>
          <p:nvPr/>
        </p:nvSpPr>
        <p:spPr>
          <a:xfrm>
            <a:off x="457200" y="1298448"/>
            <a:ext cx="3657600" cy="384048"/>
          </a:xfrm>
          <a:prstGeom prst="rect">
            <a:avLst/>
          </a:prstGeom>
          <a:noFill/>
          <a:ln/>
        </p:spPr>
        <p:txBody>
          <a:bodyPr wrap="square" rtlCol="0" anchor="ctr"/>
          <a:lstStyle/>
          <a:p>
            <a:pPr marL="0" indent="0">
              <a:buNone/>
            </a:pPr>
            <a:r>
              <a:rPr lang="en-US" sz="1100" b="1" dirty="0">
                <a:solidFill>
                  <a:srgbClr val="222222"/>
                </a:solidFill>
                <a:latin typeface="Calibri" pitchFamily="34" charset="0"/>
                <a:ea typeface="Calibri" pitchFamily="34" charset="-122"/>
                <a:cs typeface="Calibri" pitchFamily="34" charset="-120"/>
              </a:rPr>
              <a:t xml:space="preserve">2 solar panels: </a:t>
            </a:r>
            <a:r>
              <a:rPr lang="en-US" sz="1100" dirty="0">
                <a:solidFill>
                  <a:srgbClr val="444444"/>
                </a:solidFill>
                <a:latin typeface="Calibri" pitchFamily="34" charset="0"/>
                <a:ea typeface="Calibri" pitchFamily="34" charset="-122"/>
                <a:cs typeface="Calibri" pitchFamily="34" charset="-120"/>
              </a:rPr>
              <a:t>connected in parallel to one microinverter</a:t>
            </a:r>
            <a:endParaRPr lang="en-US" sz="1100" dirty="0"/>
          </a:p>
        </p:txBody>
      </p:sp>
      <p:sp>
        <p:nvSpPr>
          <p:cNvPr id="9" name="Text 6"/>
          <p:cNvSpPr/>
          <p:nvPr/>
        </p:nvSpPr>
        <p:spPr>
          <a:xfrm>
            <a:off x="457200" y="1728216"/>
            <a:ext cx="3657600" cy="384048"/>
          </a:xfrm>
          <a:prstGeom prst="rect">
            <a:avLst/>
          </a:prstGeom>
          <a:noFill/>
          <a:ln/>
        </p:spPr>
        <p:txBody>
          <a:bodyPr wrap="square" rtlCol="0" anchor="ctr"/>
          <a:lstStyle/>
          <a:p>
            <a:pPr marL="0" indent="0">
              <a:buNone/>
            </a:pPr>
            <a:r>
              <a:rPr lang="en-US" sz="1100" b="1" dirty="0">
                <a:solidFill>
                  <a:srgbClr val="222222"/>
                </a:solidFill>
                <a:latin typeface="Calibri" pitchFamily="34" charset="0"/>
                <a:ea typeface="Calibri" pitchFamily="34" charset="-122"/>
                <a:cs typeface="Calibri" pitchFamily="34" charset="-120"/>
              </a:rPr>
              <a:t xml:space="preserve">Total capacity: </a:t>
            </a:r>
            <a:r>
              <a:rPr lang="en-US" sz="1100" dirty="0">
                <a:solidFill>
                  <a:srgbClr val="444444"/>
                </a:solidFill>
                <a:latin typeface="Calibri" pitchFamily="34" charset="0"/>
                <a:ea typeface="Calibri" pitchFamily="34" charset="-122"/>
                <a:cs typeface="Calibri" pitchFamily="34" charset="-120"/>
              </a:rPr>
              <a:t>600 W peak (2 × 300 W panels)</a:t>
            </a:r>
            <a:endParaRPr lang="en-US" sz="1100" dirty="0"/>
          </a:p>
        </p:txBody>
      </p:sp>
      <p:sp>
        <p:nvSpPr>
          <p:cNvPr id="10" name="Text 7"/>
          <p:cNvSpPr/>
          <p:nvPr/>
        </p:nvSpPr>
        <p:spPr>
          <a:xfrm>
            <a:off x="457200" y="2157984"/>
            <a:ext cx="3657600" cy="384048"/>
          </a:xfrm>
          <a:prstGeom prst="rect">
            <a:avLst/>
          </a:prstGeom>
          <a:noFill/>
          <a:ln/>
        </p:spPr>
        <p:txBody>
          <a:bodyPr wrap="square" rtlCol="0" anchor="ctr"/>
          <a:lstStyle/>
          <a:p>
            <a:pPr marL="0" indent="0">
              <a:buNone/>
            </a:pPr>
            <a:r>
              <a:rPr lang="en-US" sz="1100" b="1" dirty="0">
                <a:solidFill>
                  <a:srgbClr val="222222"/>
                </a:solidFill>
                <a:latin typeface="Calibri" pitchFamily="34" charset="0"/>
                <a:ea typeface="Calibri" pitchFamily="34" charset="-122"/>
                <a:cs typeface="Calibri" pitchFamily="34" charset="-120"/>
              </a:rPr>
              <a:t xml:space="preserve">Inverter comm.: </a:t>
            </a:r>
            <a:r>
              <a:rPr lang="en-US" sz="1100" dirty="0">
                <a:solidFill>
                  <a:srgbClr val="444444"/>
                </a:solidFill>
                <a:latin typeface="Calibri" pitchFamily="34" charset="0"/>
                <a:ea typeface="Calibri" pitchFamily="34" charset="-122"/>
                <a:cs typeface="Calibri" pitchFamily="34" charset="-120"/>
              </a:rPr>
              <a:t>proprietary 2.4 GHz RF protocol</a:t>
            </a:r>
            <a:endParaRPr lang="en-US" sz="1100" dirty="0"/>
          </a:p>
        </p:txBody>
      </p:sp>
      <p:sp>
        <p:nvSpPr>
          <p:cNvPr id="11" name="Text 8"/>
          <p:cNvSpPr/>
          <p:nvPr/>
        </p:nvSpPr>
        <p:spPr>
          <a:xfrm>
            <a:off x="457200" y="2587752"/>
            <a:ext cx="3657600" cy="384048"/>
          </a:xfrm>
          <a:prstGeom prst="rect">
            <a:avLst/>
          </a:prstGeom>
          <a:noFill/>
          <a:ln/>
        </p:spPr>
        <p:txBody>
          <a:bodyPr wrap="square" rtlCol="0" anchor="ctr"/>
          <a:lstStyle/>
          <a:p>
            <a:pPr marL="0" indent="0">
              <a:buNone/>
            </a:pPr>
            <a:r>
              <a:rPr lang="en-US" sz="1100" b="1" dirty="0">
                <a:solidFill>
                  <a:srgbClr val="222222"/>
                </a:solidFill>
                <a:latin typeface="Calibri" pitchFamily="34" charset="0"/>
                <a:ea typeface="Calibri" pitchFamily="34" charset="-122"/>
                <a:cs typeface="Calibri" pitchFamily="34" charset="-120"/>
              </a:rPr>
              <a:t xml:space="preserve">No battery: </a:t>
            </a:r>
            <a:r>
              <a:rPr lang="en-US" sz="1100" dirty="0">
                <a:solidFill>
                  <a:srgbClr val="444444"/>
                </a:solidFill>
                <a:latin typeface="Calibri" pitchFamily="34" charset="0"/>
                <a:ea typeface="Calibri" pitchFamily="34" charset="-122"/>
                <a:cs typeface="Calibri" pitchFamily="34" charset="-120"/>
              </a:rPr>
              <a:t>all energy consumed or fed into household network</a:t>
            </a:r>
            <a:endParaRPr lang="en-US" sz="1100" dirty="0"/>
          </a:p>
        </p:txBody>
      </p:sp>
      <p:sp>
        <p:nvSpPr>
          <p:cNvPr id="13" name="Shape 10"/>
          <p:cNvSpPr/>
          <p:nvPr/>
        </p:nvSpPr>
        <p:spPr>
          <a:xfrm>
            <a:off x="4754880" y="777240"/>
            <a:ext cx="4114800" cy="4069080"/>
          </a:xfrm>
          <a:prstGeom prst="rect">
            <a:avLst/>
          </a:prstGeom>
          <a:solidFill>
            <a:srgbClr val="E8F4F8"/>
          </a:solidFill>
          <a:ln w="12700">
            <a:solidFill>
              <a:srgbClr val="DDDDDD"/>
            </a:solidFill>
            <a:prstDash val="solid"/>
          </a:ln>
        </p:spPr>
        <p:txBody>
          <a:bodyPr/>
          <a:lstStyle/>
          <a:p>
            <a:endParaRPr lang="en-US"/>
          </a:p>
        </p:txBody>
      </p:sp>
      <p:sp>
        <p:nvSpPr>
          <p:cNvPr id="14" name="Shape 11"/>
          <p:cNvSpPr/>
          <p:nvPr/>
        </p:nvSpPr>
        <p:spPr>
          <a:xfrm>
            <a:off x="4754880" y="777240"/>
            <a:ext cx="4114800" cy="438912"/>
          </a:xfrm>
          <a:prstGeom prst="rect">
            <a:avLst/>
          </a:prstGeom>
          <a:solidFill>
            <a:srgbClr val="203A43"/>
          </a:solidFill>
          <a:ln w="12700">
            <a:solidFill>
              <a:srgbClr val="203A43"/>
            </a:solidFill>
            <a:prstDash val="solid"/>
          </a:ln>
        </p:spPr>
        <p:txBody>
          <a:bodyPr/>
          <a:lstStyle/>
          <a:p>
            <a:endParaRPr lang="en-US"/>
          </a:p>
        </p:txBody>
      </p:sp>
      <p:sp>
        <p:nvSpPr>
          <p:cNvPr id="15" name="Text 12"/>
          <p:cNvSpPr/>
          <p:nvPr/>
        </p:nvSpPr>
        <p:spPr>
          <a:xfrm>
            <a:off x="4754880" y="777240"/>
            <a:ext cx="4114800" cy="438912"/>
          </a:xfrm>
          <a:prstGeom prst="rect">
            <a:avLst/>
          </a:prstGeom>
          <a:noFill/>
          <a:ln/>
        </p:spPr>
        <p:txBody>
          <a:bodyPr wrap="square" rtlCol="0" anchor="ctr"/>
          <a:lstStyle/>
          <a:p>
            <a:pPr marL="0" indent="0" algn="ctr">
              <a:buNone/>
            </a:pPr>
            <a:r>
              <a:rPr lang="en-US" sz="1300" b="1" dirty="0">
                <a:solidFill>
                  <a:srgbClr val="2ECC71"/>
                </a:solidFill>
                <a:latin typeface="Calibri" pitchFamily="34" charset="0"/>
                <a:ea typeface="Calibri" pitchFamily="34" charset="-122"/>
                <a:cs typeface="Calibri" pitchFamily="34" charset="-120"/>
              </a:rPr>
              <a:t>DTU (Data Transfer Unit)</a:t>
            </a:r>
            <a:endParaRPr lang="en-US" sz="1300" dirty="0"/>
          </a:p>
        </p:txBody>
      </p:sp>
      <p:sp>
        <p:nvSpPr>
          <p:cNvPr id="16" name="Text 13"/>
          <p:cNvSpPr/>
          <p:nvPr/>
        </p:nvSpPr>
        <p:spPr>
          <a:xfrm>
            <a:off x="4937760" y="1298448"/>
            <a:ext cx="3749040" cy="384048"/>
          </a:xfrm>
          <a:prstGeom prst="rect">
            <a:avLst/>
          </a:prstGeom>
          <a:noFill/>
          <a:ln/>
        </p:spPr>
        <p:txBody>
          <a:bodyPr wrap="square" rtlCol="0" anchor="ctr"/>
          <a:lstStyle/>
          <a:p>
            <a:pPr marL="0" indent="0">
              <a:buNone/>
            </a:pPr>
            <a:r>
              <a:rPr lang="en-US" sz="1100" b="1" dirty="0">
                <a:solidFill>
                  <a:srgbClr val="222222"/>
                </a:solidFill>
                <a:latin typeface="Calibri" pitchFamily="34" charset="0"/>
                <a:ea typeface="Calibri" pitchFamily="34" charset="-122"/>
                <a:cs typeface="Calibri" pitchFamily="34" charset="-120"/>
              </a:rPr>
              <a:t xml:space="preserve">MCU: </a:t>
            </a:r>
            <a:r>
              <a:rPr lang="en-US" sz="1100" dirty="0">
                <a:solidFill>
                  <a:srgbClr val="444444"/>
                </a:solidFill>
                <a:latin typeface="Calibri" pitchFamily="34" charset="0"/>
                <a:ea typeface="Calibri" pitchFamily="34" charset="-122"/>
                <a:cs typeface="Calibri" pitchFamily="34" charset="-120"/>
              </a:rPr>
              <a:t>ESP8266 (Wemos D1 mini)</a:t>
            </a:r>
            <a:endParaRPr lang="en-US" sz="1100" dirty="0"/>
          </a:p>
        </p:txBody>
      </p:sp>
      <p:sp>
        <p:nvSpPr>
          <p:cNvPr id="17" name="Text 14"/>
          <p:cNvSpPr/>
          <p:nvPr/>
        </p:nvSpPr>
        <p:spPr>
          <a:xfrm>
            <a:off x="4937760" y="1728216"/>
            <a:ext cx="3749040" cy="384048"/>
          </a:xfrm>
          <a:prstGeom prst="rect">
            <a:avLst/>
          </a:prstGeom>
          <a:noFill/>
          <a:ln/>
        </p:spPr>
        <p:txBody>
          <a:bodyPr wrap="square" rtlCol="0" anchor="ctr"/>
          <a:lstStyle/>
          <a:p>
            <a:pPr marL="0" indent="0">
              <a:buNone/>
            </a:pPr>
            <a:r>
              <a:rPr lang="en-US" sz="1100" b="1" dirty="0">
                <a:solidFill>
                  <a:srgbClr val="222222"/>
                </a:solidFill>
                <a:latin typeface="Calibri" pitchFamily="34" charset="0"/>
                <a:ea typeface="Calibri" pitchFamily="34" charset="-122"/>
                <a:cs typeface="Calibri" pitchFamily="34" charset="-120"/>
              </a:rPr>
              <a:t xml:space="preserve">RF module: </a:t>
            </a:r>
            <a:r>
              <a:rPr lang="en-US" sz="1100" dirty="0">
                <a:solidFill>
                  <a:srgbClr val="444444"/>
                </a:solidFill>
                <a:latin typeface="Calibri" pitchFamily="34" charset="0"/>
                <a:ea typeface="Calibri" pitchFamily="34" charset="-122"/>
                <a:cs typeface="Calibri" pitchFamily="34" charset="-120"/>
              </a:rPr>
              <a:t>NRF24L01+ 2.4 GHz</a:t>
            </a:r>
            <a:endParaRPr lang="en-US" sz="1100" dirty="0"/>
          </a:p>
        </p:txBody>
      </p:sp>
      <p:sp>
        <p:nvSpPr>
          <p:cNvPr id="18" name="Text 15"/>
          <p:cNvSpPr/>
          <p:nvPr/>
        </p:nvSpPr>
        <p:spPr>
          <a:xfrm>
            <a:off x="4937760" y="2157984"/>
            <a:ext cx="3749040" cy="384048"/>
          </a:xfrm>
          <a:prstGeom prst="rect">
            <a:avLst/>
          </a:prstGeom>
          <a:noFill/>
          <a:ln/>
        </p:spPr>
        <p:txBody>
          <a:bodyPr wrap="square" rtlCol="0" anchor="ctr"/>
          <a:lstStyle/>
          <a:p>
            <a:pPr marL="0" indent="0">
              <a:buNone/>
            </a:pPr>
            <a:r>
              <a:rPr lang="en-US" sz="1100" b="1" dirty="0">
                <a:solidFill>
                  <a:srgbClr val="222222"/>
                </a:solidFill>
                <a:latin typeface="Calibri" pitchFamily="34" charset="0"/>
                <a:ea typeface="Calibri" pitchFamily="34" charset="-122"/>
                <a:cs typeface="Calibri" pitchFamily="34" charset="-120"/>
              </a:rPr>
              <a:t xml:space="preserve">Firmware: </a:t>
            </a:r>
            <a:r>
              <a:rPr lang="en-US" sz="1100" dirty="0">
                <a:solidFill>
                  <a:srgbClr val="444444"/>
                </a:solidFill>
                <a:latin typeface="Calibri" pitchFamily="34" charset="0"/>
                <a:ea typeface="Calibri" pitchFamily="34" charset="-122"/>
                <a:cs typeface="Calibri" pitchFamily="34" charset="-120"/>
              </a:rPr>
              <a:t>Open-source OpenDTU project</a:t>
            </a:r>
            <a:endParaRPr lang="en-US" sz="1100" dirty="0"/>
          </a:p>
        </p:txBody>
      </p:sp>
      <p:sp>
        <p:nvSpPr>
          <p:cNvPr id="19" name="Text 16"/>
          <p:cNvSpPr/>
          <p:nvPr/>
        </p:nvSpPr>
        <p:spPr>
          <a:xfrm>
            <a:off x="4937760" y="2587752"/>
            <a:ext cx="3749040" cy="384048"/>
          </a:xfrm>
          <a:prstGeom prst="rect">
            <a:avLst/>
          </a:prstGeom>
          <a:noFill/>
          <a:ln/>
        </p:spPr>
        <p:txBody>
          <a:bodyPr wrap="square" rtlCol="0" anchor="ctr"/>
          <a:lstStyle/>
          <a:p>
            <a:pPr marL="0" indent="0">
              <a:buNone/>
            </a:pPr>
            <a:r>
              <a:rPr lang="en-US" sz="1100" b="1" dirty="0">
                <a:solidFill>
                  <a:srgbClr val="222222"/>
                </a:solidFill>
                <a:latin typeface="Calibri" pitchFamily="34" charset="0"/>
                <a:ea typeface="Calibri" pitchFamily="34" charset="-122"/>
                <a:cs typeface="Calibri" pitchFamily="34" charset="-120"/>
              </a:rPr>
              <a:t xml:space="preserve">Discovery: </a:t>
            </a:r>
            <a:r>
              <a:rPr lang="en-US" sz="1100" dirty="0">
                <a:solidFill>
                  <a:srgbClr val="444444"/>
                </a:solidFill>
                <a:latin typeface="Calibri" pitchFamily="34" charset="0"/>
                <a:ea typeface="Calibri" pitchFamily="34" charset="-122"/>
                <a:cs typeface="Calibri" pitchFamily="34" charset="-120"/>
              </a:rPr>
              <a:t>mDNS — no static IP needed</a:t>
            </a:r>
            <a:endParaRPr lang="en-US" sz="1100" dirty="0"/>
          </a:p>
        </p:txBody>
      </p:sp>
      <p:sp>
        <p:nvSpPr>
          <p:cNvPr id="20" name="Text 17"/>
          <p:cNvSpPr/>
          <p:nvPr/>
        </p:nvSpPr>
        <p:spPr>
          <a:xfrm>
            <a:off x="4937760" y="3017520"/>
            <a:ext cx="3749040" cy="384048"/>
          </a:xfrm>
          <a:prstGeom prst="rect">
            <a:avLst/>
          </a:prstGeom>
          <a:noFill/>
          <a:ln/>
        </p:spPr>
        <p:txBody>
          <a:bodyPr wrap="square" rtlCol="0" anchor="ctr"/>
          <a:lstStyle/>
          <a:p>
            <a:pPr marL="0" indent="0">
              <a:buNone/>
            </a:pPr>
            <a:r>
              <a:rPr lang="en-US" sz="1100" b="1" dirty="0">
                <a:solidFill>
                  <a:srgbClr val="222222"/>
                </a:solidFill>
                <a:latin typeface="Calibri" pitchFamily="34" charset="0"/>
                <a:ea typeface="Calibri" pitchFamily="34" charset="-122"/>
                <a:cs typeface="Calibri" pitchFamily="34" charset="-120"/>
              </a:rPr>
              <a:t xml:space="preserve">Interface: </a:t>
            </a:r>
            <a:r>
              <a:rPr lang="en-US" sz="1100" dirty="0">
                <a:solidFill>
                  <a:srgbClr val="444444"/>
                </a:solidFill>
                <a:latin typeface="Calibri" pitchFamily="34" charset="0"/>
                <a:ea typeface="Calibri" pitchFamily="34" charset="-122"/>
                <a:cs typeface="Calibri" pitchFamily="34" charset="-120"/>
              </a:rPr>
              <a:t>Embedded HTTP server, JSON REST API</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027"/>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03A43"/>
          </a:solidFill>
          <a:ln w="12700">
            <a:solidFill>
              <a:srgbClr val="203A43"/>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182880" y="109728"/>
            <a:ext cx="384048" cy="384048"/>
          </a:xfrm>
          <a:prstGeom prst="rect">
            <a:avLst/>
          </a:prstGeom>
        </p:spPr>
      </p:pic>
      <p:sp>
        <p:nvSpPr>
          <p:cNvPr id="4" name="Text 1"/>
          <p:cNvSpPr/>
          <p:nvPr/>
        </p:nvSpPr>
        <p:spPr>
          <a:xfrm>
            <a:off x="685800" y="109728"/>
            <a:ext cx="7772400" cy="41148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Integration — Data Flow &amp; Software</a:t>
            </a:r>
            <a:endParaRPr lang="en-US" sz="2000" dirty="0"/>
          </a:p>
        </p:txBody>
      </p:sp>
      <p:sp>
        <p:nvSpPr>
          <p:cNvPr id="5" name="Shape 2"/>
          <p:cNvSpPr/>
          <p:nvPr/>
        </p:nvSpPr>
        <p:spPr>
          <a:xfrm>
            <a:off x="274320" y="822960"/>
            <a:ext cx="1572768" cy="2103120"/>
          </a:xfrm>
          <a:prstGeom prst="rect">
            <a:avLst/>
          </a:prstGeom>
          <a:solidFill>
            <a:srgbClr val="1A3040"/>
          </a:solidFill>
          <a:ln w="19050">
            <a:solidFill>
              <a:srgbClr val="F5A623"/>
            </a:solidFill>
            <a:prstDash val="solid"/>
          </a:ln>
        </p:spPr>
        <p:txBody>
          <a:bodyPr/>
          <a:lstStyle/>
          <a:p>
            <a:endParaRPr lang="en-US"/>
          </a:p>
        </p:txBody>
      </p:sp>
      <p:sp>
        <p:nvSpPr>
          <p:cNvPr id="6" name="Shape 3"/>
          <p:cNvSpPr/>
          <p:nvPr/>
        </p:nvSpPr>
        <p:spPr>
          <a:xfrm>
            <a:off x="804672" y="914400"/>
            <a:ext cx="502920" cy="457200"/>
          </a:xfrm>
          <a:prstGeom prst="ellipse">
            <a:avLst/>
          </a:prstGeom>
          <a:solidFill>
            <a:srgbClr val="F5A623"/>
          </a:solidFill>
          <a:ln w="12700">
            <a:solidFill>
              <a:srgbClr val="F5A623"/>
            </a:solidFill>
            <a:prstDash val="solid"/>
          </a:ln>
        </p:spPr>
        <p:txBody>
          <a:bodyPr/>
          <a:lstStyle/>
          <a:p>
            <a:endParaRPr lang="en-US"/>
          </a:p>
        </p:txBody>
      </p:sp>
      <p:sp>
        <p:nvSpPr>
          <p:cNvPr id="7" name="Text 4"/>
          <p:cNvSpPr/>
          <p:nvPr/>
        </p:nvSpPr>
        <p:spPr>
          <a:xfrm>
            <a:off x="804672" y="914400"/>
            <a:ext cx="502920" cy="457200"/>
          </a:xfrm>
          <a:prstGeom prst="rect">
            <a:avLst/>
          </a:prstGeom>
          <a:noFill/>
          <a:ln/>
        </p:spPr>
        <p:txBody>
          <a:bodyPr wrap="square" lIns="0" tIns="0" rIns="0" bIns="0" rtlCol="0" anchor="ctr"/>
          <a:lstStyle/>
          <a:p>
            <a:pPr marL="0" indent="0" algn="ctr">
              <a:buNone/>
            </a:pPr>
            <a:r>
              <a:rPr lang="en-US" sz="1600" b="1" dirty="0">
                <a:solidFill>
                  <a:srgbClr val="0F2027"/>
                </a:solidFill>
                <a:latin typeface="Calibri" pitchFamily="34" charset="0"/>
                <a:ea typeface="Calibri" pitchFamily="34" charset="-122"/>
                <a:cs typeface="Calibri" pitchFamily="34" charset="-120"/>
              </a:rPr>
              <a:t>1</a:t>
            </a:r>
            <a:endParaRPr lang="en-US" sz="1600" dirty="0"/>
          </a:p>
        </p:txBody>
      </p:sp>
      <p:sp>
        <p:nvSpPr>
          <p:cNvPr id="8" name="Text 5"/>
          <p:cNvSpPr/>
          <p:nvPr/>
        </p:nvSpPr>
        <p:spPr>
          <a:xfrm>
            <a:off x="320040" y="1435608"/>
            <a:ext cx="1481328"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RF Link</a:t>
            </a:r>
            <a:endParaRPr lang="en-US" sz="1200" dirty="0"/>
          </a:p>
        </p:txBody>
      </p:sp>
      <p:sp>
        <p:nvSpPr>
          <p:cNvPr id="9" name="Text 6"/>
          <p:cNvSpPr/>
          <p:nvPr/>
        </p:nvSpPr>
        <p:spPr>
          <a:xfrm>
            <a:off x="320040" y="1810512"/>
            <a:ext cx="1481328" cy="1051560"/>
          </a:xfrm>
          <a:prstGeom prst="rect">
            <a:avLst/>
          </a:prstGeom>
          <a:noFill/>
          <a:ln/>
        </p:spPr>
        <p:txBody>
          <a:bodyPr wrap="square" rtlCol="0" anchor="t"/>
          <a:lstStyle/>
          <a:p>
            <a:pPr marL="0" indent="0" algn="ctr">
              <a:buNone/>
            </a:pPr>
            <a:r>
              <a:rPr lang="en-US" sz="950" dirty="0">
                <a:solidFill>
                  <a:srgbClr val="D9EBF0"/>
                </a:solidFill>
                <a:latin typeface="Calibri" pitchFamily="34" charset="0"/>
                <a:ea typeface="Calibri" pitchFamily="34" charset="-122"/>
                <a:cs typeface="Calibri" pitchFamily="34" charset="-120"/>
              </a:rPr>
              <a:t>Microinverter → DTU (ESP8266)</a:t>
            </a:r>
            <a:endParaRPr lang="en-US" sz="950" dirty="0"/>
          </a:p>
          <a:p>
            <a:pPr marL="0" indent="0" algn="ctr">
              <a:buNone/>
            </a:pPr>
            <a:r>
              <a:rPr lang="en-US" sz="950" dirty="0">
                <a:solidFill>
                  <a:srgbClr val="D9EBF0"/>
                </a:solidFill>
                <a:latin typeface="Calibri" pitchFamily="34" charset="0"/>
                <a:ea typeface="Calibri" pitchFamily="34" charset="-122"/>
                <a:cs typeface="Calibri" pitchFamily="34" charset="-120"/>
              </a:rPr>
              <a:t>Proprietary 2.4 GHz RF</a:t>
            </a:r>
            <a:endParaRPr lang="en-US" sz="950" dirty="0"/>
          </a:p>
        </p:txBody>
      </p:sp>
      <p:sp>
        <p:nvSpPr>
          <p:cNvPr id="10" name="Shape 7"/>
          <p:cNvSpPr/>
          <p:nvPr/>
        </p:nvSpPr>
        <p:spPr>
          <a:xfrm>
            <a:off x="1856232" y="1837944"/>
            <a:ext cx="91440" cy="73152"/>
          </a:xfrm>
          <a:prstGeom prst="rect">
            <a:avLst/>
          </a:prstGeom>
          <a:solidFill>
            <a:srgbClr val="8EAEBE"/>
          </a:solidFill>
          <a:ln w="12700">
            <a:solidFill>
              <a:srgbClr val="8EAEBE"/>
            </a:solidFill>
            <a:prstDash val="solid"/>
          </a:ln>
        </p:spPr>
        <p:txBody>
          <a:bodyPr/>
          <a:lstStyle/>
          <a:p>
            <a:endParaRPr lang="en-US"/>
          </a:p>
        </p:txBody>
      </p:sp>
      <p:sp>
        <p:nvSpPr>
          <p:cNvPr id="11" name="Shape 8"/>
          <p:cNvSpPr/>
          <p:nvPr/>
        </p:nvSpPr>
        <p:spPr>
          <a:xfrm>
            <a:off x="1956816" y="822960"/>
            <a:ext cx="1572768" cy="2103120"/>
          </a:xfrm>
          <a:prstGeom prst="rect">
            <a:avLst/>
          </a:prstGeom>
          <a:solidFill>
            <a:srgbClr val="1A3040"/>
          </a:solidFill>
          <a:ln w="19050">
            <a:solidFill>
              <a:srgbClr val="2ECC71"/>
            </a:solidFill>
            <a:prstDash val="solid"/>
          </a:ln>
        </p:spPr>
        <p:txBody>
          <a:bodyPr/>
          <a:lstStyle/>
          <a:p>
            <a:endParaRPr lang="en-US"/>
          </a:p>
        </p:txBody>
      </p:sp>
      <p:sp>
        <p:nvSpPr>
          <p:cNvPr id="12" name="Shape 9"/>
          <p:cNvSpPr/>
          <p:nvPr/>
        </p:nvSpPr>
        <p:spPr>
          <a:xfrm>
            <a:off x="2487168" y="914400"/>
            <a:ext cx="502920" cy="457200"/>
          </a:xfrm>
          <a:prstGeom prst="ellipse">
            <a:avLst/>
          </a:prstGeom>
          <a:solidFill>
            <a:srgbClr val="2ECC71"/>
          </a:solidFill>
          <a:ln w="12700">
            <a:solidFill>
              <a:srgbClr val="2ECC71"/>
            </a:solidFill>
            <a:prstDash val="solid"/>
          </a:ln>
        </p:spPr>
        <p:txBody>
          <a:bodyPr/>
          <a:lstStyle/>
          <a:p>
            <a:endParaRPr lang="en-US"/>
          </a:p>
        </p:txBody>
      </p:sp>
      <p:sp>
        <p:nvSpPr>
          <p:cNvPr id="13" name="Text 10"/>
          <p:cNvSpPr/>
          <p:nvPr/>
        </p:nvSpPr>
        <p:spPr>
          <a:xfrm>
            <a:off x="2487168" y="914400"/>
            <a:ext cx="502920" cy="457200"/>
          </a:xfrm>
          <a:prstGeom prst="rect">
            <a:avLst/>
          </a:prstGeom>
          <a:noFill/>
          <a:ln/>
        </p:spPr>
        <p:txBody>
          <a:bodyPr wrap="square" lIns="0" tIns="0" rIns="0" bIns="0" rtlCol="0" anchor="ctr"/>
          <a:lstStyle/>
          <a:p>
            <a:pPr marL="0" indent="0" algn="ctr">
              <a:buNone/>
            </a:pPr>
            <a:r>
              <a:rPr lang="en-US" sz="1600" b="1" dirty="0">
                <a:solidFill>
                  <a:srgbClr val="0F2027"/>
                </a:solidFill>
                <a:latin typeface="Calibri" pitchFamily="34" charset="0"/>
                <a:ea typeface="Calibri" pitchFamily="34" charset="-122"/>
                <a:cs typeface="Calibri" pitchFamily="34" charset="-120"/>
              </a:rPr>
              <a:t>2</a:t>
            </a:r>
            <a:endParaRPr lang="en-US" sz="1600" dirty="0"/>
          </a:p>
        </p:txBody>
      </p:sp>
      <p:sp>
        <p:nvSpPr>
          <p:cNvPr id="14" name="Text 11"/>
          <p:cNvSpPr/>
          <p:nvPr/>
        </p:nvSpPr>
        <p:spPr>
          <a:xfrm>
            <a:off x="2002536" y="1435608"/>
            <a:ext cx="1481328"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REST API</a:t>
            </a:r>
            <a:endParaRPr lang="en-US" sz="1200" dirty="0"/>
          </a:p>
        </p:txBody>
      </p:sp>
      <p:sp>
        <p:nvSpPr>
          <p:cNvPr id="15" name="Text 12"/>
          <p:cNvSpPr/>
          <p:nvPr/>
        </p:nvSpPr>
        <p:spPr>
          <a:xfrm>
            <a:off x="2002536" y="1810512"/>
            <a:ext cx="1481328" cy="1051560"/>
          </a:xfrm>
          <a:prstGeom prst="rect">
            <a:avLst/>
          </a:prstGeom>
          <a:noFill/>
          <a:ln/>
        </p:spPr>
        <p:txBody>
          <a:bodyPr wrap="square" rtlCol="0" anchor="t"/>
          <a:lstStyle/>
          <a:p>
            <a:pPr marL="0" indent="0" algn="ctr">
              <a:buNone/>
            </a:pPr>
            <a:r>
              <a:rPr lang="en-US" sz="950" dirty="0">
                <a:solidFill>
                  <a:srgbClr val="D9EBF0"/>
                </a:solidFill>
                <a:latin typeface="Calibri" pitchFamily="34" charset="0"/>
                <a:ea typeface="Calibri" pitchFamily="34" charset="-122"/>
                <a:cs typeface="Calibri" pitchFamily="34" charset="-120"/>
              </a:rPr>
              <a:t>DTU HTTP server returns JSON</a:t>
            </a:r>
            <a:endParaRPr lang="en-US" sz="950" dirty="0"/>
          </a:p>
          <a:p>
            <a:pPr marL="0" indent="0" algn="ctr">
              <a:buNone/>
            </a:pPr>
            <a:r>
              <a:rPr lang="en-US" sz="950" dirty="0">
                <a:solidFill>
                  <a:srgbClr val="D9EBF0"/>
                </a:solidFill>
                <a:latin typeface="Calibri" pitchFamily="34" charset="0"/>
                <a:ea typeface="Calibri" pitchFamily="34" charset="-122"/>
                <a:cs typeface="Calibri" pitchFamily="34" charset="-120"/>
              </a:rPr>
              <a:t>AC voltage, current, power, energy</a:t>
            </a:r>
            <a:endParaRPr lang="en-US" sz="950" dirty="0"/>
          </a:p>
        </p:txBody>
      </p:sp>
      <p:sp>
        <p:nvSpPr>
          <p:cNvPr id="16" name="Shape 13"/>
          <p:cNvSpPr/>
          <p:nvPr/>
        </p:nvSpPr>
        <p:spPr>
          <a:xfrm>
            <a:off x="3538728" y="1837944"/>
            <a:ext cx="91440" cy="73152"/>
          </a:xfrm>
          <a:prstGeom prst="rect">
            <a:avLst/>
          </a:prstGeom>
          <a:solidFill>
            <a:srgbClr val="8EAEBE"/>
          </a:solidFill>
          <a:ln w="12700">
            <a:solidFill>
              <a:srgbClr val="8EAEBE"/>
            </a:solidFill>
            <a:prstDash val="solid"/>
          </a:ln>
        </p:spPr>
        <p:txBody>
          <a:bodyPr/>
          <a:lstStyle/>
          <a:p>
            <a:endParaRPr lang="en-US"/>
          </a:p>
        </p:txBody>
      </p:sp>
      <p:sp>
        <p:nvSpPr>
          <p:cNvPr id="17" name="Shape 14"/>
          <p:cNvSpPr/>
          <p:nvPr/>
        </p:nvSpPr>
        <p:spPr>
          <a:xfrm>
            <a:off x="3639312" y="822960"/>
            <a:ext cx="1572768" cy="2103120"/>
          </a:xfrm>
          <a:prstGeom prst="rect">
            <a:avLst/>
          </a:prstGeom>
          <a:solidFill>
            <a:srgbClr val="1A3040"/>
          </a:solidFill>
          <a:ln w="19050">
            <a:solidFill>
              <a:srgbClr val="3498DB"/>
            </a:solidFill>
            <a:prstDash val="solid"/>
          </a:ln>
        </p:spPr>
        <p:txBody>
          <a:bodyPr/>
          <a:lstStyle/>
          <a:p>
            <a:endParaRPr lang="en-US"/>
          </a:p>
        </p:txBody>
      </p:sp>
      <p:sp>
        <p:nvSpPr>
          <p:cNvPr id="18" name="Shape 15"/>
          <p:cNvSpPr/>
          <p:nvPr/>
        </p:nvSpPr>
        <p:spPr>
          <a:xfrm>
            <a:off x="4169664" y="914400"/>
            <a:ext cx="502920" cy="457200"/>
          </a:xfrm>
          <a:prstGeom prst="ellipse">
            <a:avLst/>
          </a:prstGeom>
          <a:solidFill>
            <a:srgbClr val="3498DB"/>
          </a:solidFill>
          <a:ln w="12700">
            <a:solidFill>
              <a:srgbClr val="3498DB"/>
            </a:solidFill>
            <a:prstDash val="solid"/>
          </a:ln>
        </p:spPr>
        <p:txBody>
          <a:bodyPr/>
          <a:lstStyle/>
          <a:p>
            <a:endParaRPr lang="en-US"/>
          </a:p>
        </p:txBody>
      </p:sp>
      <p:sp>
        <p:nvSpPr>
          <p:cNvPr id="19" name="Text 16"/>
          <p:cNvSpPr/>
          <p:nvPr/>
        </p:nvSpPr>
        <p:spPr>
          <a:xfrm>
            <a:off x="4169664" y="914400"/>
            <a:ext cx="502920" cy="457200"/>
          </a:xfrm>
          <a:prstGeom prst="rect">
            <a:avLst/>
          </a:prstGeom>
          <a:noFill/>
          <a:ln/>
        </p:spPr>
        <p:txBody>
          <a:bodyPr wrap="square" lIns="0" tIns="0" rIns="0" bIns="0" rtlCol="0" anchor="ctr"/>
          <a:lstStyle/>
          <a:p>
            <a:pPr marL="0" indent="0" algn="ctr">
              <a:buNone/>
            </a:pPr>
            <a:r>
              <a:rPr lang="en-US" sz="1600" b="1" dirty="0">
                <a:solidFill>
                  <a:srgbClr val="0F2027"/>
                </a:solidFill>
                <a:latin typeface="Calibri" pitchFamily="34" charset="0"/>
                <a:ea typeface="Calibri" pitchFamily="34" charset="-122"/>
                <a:cs typeface="Calibri" pitchFamily="34" charset="-120"/>
              </a:rPr>
              <a:t>3</a:t>
            </a:r>
            <a:endParaRPr lang="en-US" sz="1600" dirty="0"/>
          </a:p>
        </p:txBody>
      </p:sp>
      <p:sp>
        <p:nvSpPr>
          <p:cNvPr id="20" name="Text 17"/>
          <p:cNvSpPr/>
          <p:nvPr/>
        </p:nvSpPr>
        <p:spPr>
          <a:xfrm>
            <a:off x="3685032" y="1435608"/>
            <a:ext cx="1481328"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HTTP Polling</a:t>
            </a:r>
            <a:endParaRPr lang="en-US" sz="1200" dirty="0"/>
          </a:p>
        </p:txBody>
      </p:sp>
      <p:sp>
        <p:nvSpPr>
          <p:cNvPr id="21" name="Text 18"/>
          <p:cNvSpPr/>
          <p:nvPr/>
        </p:nvSpPr>
        <p:spPr>
          <a:xfrm>
            <a:off x="3685032" y="1810512"/>
            <a:ext cx="1481328" cy="1051560"/>
          </a:xfrm>
          <a:prstGeom prst="rect">
            <a:avLst/>
          </a:prstGeom>
          <a:noFill/>
          <a:ln/>
        </p:spPr>
        <p:txBody>
          <a:bodyPr wrap="square" rtlCol="0" anchor="t"/>
          <a:lstStyle/>
          <a:p>
            <a:pPr marL="0" indent="0" algn="ctr">
              <a:buNone/>
            </a:pPr>
            <a:r>
              <a:rPr lang="en-US" sz="950" dirty="0">
                <a:solidFill>
                  <a:srgbClr val="D9EBF0"/>
                </a:solidFill>
                <a:latin typeface="Calibri" pitchFamily="34" charset="0"/>
                <a:ea typeface="Calibri" pitchFamily="34" charset="-122"/>
                <a:cs typeface="Calibri" pitchFamily="34" charset="-120"/>
              </a:rPr>
              <a:t>OBLO Controller polls DTU</a:t>
            </a:r>
            <a:endParaRPr lang="en-US" sz="950" dirty="0"/>
          </a:p>
          <a:p>
            <a:pPr marL="0" indent="0" algn="ctr">
              <a:buNone/>
            </a:pPr>
            <a:r>
              <a:rPr lang="en-US" sz="950" dirty="0">
                <a:solidFill>
                  <a:srgbClr val="D9EBF0"/>
                </a:solidFill>
                <a:latin typeface="Calibri" pitchFamily="34" charset="0"/>
                <a:ea typeface="Calibri" pitchFamily="34" charset="-122"/>
                <a:cs typeface="Calibri" pitchFamily="34" charset="-120"/>
              </a:rPr>
              <a:t>Every 10 minutes via HTTP GET</a:t>
            </a:r>
            <a:endParaRPr lang="en-US" sz="950" dirty="0"/>
          </a:p>
        </p:txBody>
      </p:sp>
      <p:sp>
        <p:nvSpPr>
          <p:cNvPr id="22" name="Shape 19"/>
          <p:cNvSpPr/>
          <p:nvPr/>
        </p:nvSpPr>
        <p:spPr>
          <a:xfrm>
            <a:off x="5221224" y="1837944"/>
            <a:ext cx="91440" cy="73152"/>
          </a:xfrm>
          <a:prstGeom prst="rect">
            <a:avLst/>
          </a:prstGeom>
          <a:solidFill>
            <a:srgbClr val="8EAEBE"/>
          </a:solidFill>
          <a:ln w="12700">
            <a:solidFill>
              <a:srgbClr val="8EAEBE"/>
            </a:solidFill>
            <a:prstDash val="solid"/>
          </a:ln>
        </p:spPr>
        <p:txBody>
          <a:bodyPr/>
          <a:lstStyle/>
          <a:p>
            <a:endParaRPr lang="en-US"/>
          </a:p>
        </p:txBody>
      </p:sp>
      <p:sp>
        <p:nvSpPr>
          <p:cNvPr id="23" name="Shape 20"/>
          <p:cNvSpPr/>
          <p:nvPr/>
        </p:nvSpPr>
        <p:spPr>
          <a:xfrm>
            <a:off x="5321808" y="822960"/>
            <a:ext cx="1572768" cy="2103120"/>
          </a:xfrm>
          <a:prstGeom prst="rect">
            <a:avLst/>
          </a:prstGeom>
          <a:solidFill>
            <a:srgbClr val="1A3040"/>
          </a:solidFill>
          <a:ln w="19050">
            <a:solidFill>
              <a:srgbClr val="9B59B6"/>
            </a:solidFill>
            <a:prstDash val="solid"/>
          </a:ln>
        </p:spPr>
        <p:txBody>
          <a:bodyPr/>
          <a:lstStyle/>
          <a:p>
            <a:endParaRPr lang="en-US"/>
          </a:p>
        </p:txBody>
      </p:sp>
      <p:sp>
        <p:nvSpPr>
          <p:cNvPr id="24" name="Shape 21"/>
          <p:cNvSpPr/>
          <p:nvPr/>
        </p:nvSpPr>
        <p:spPr>
          <a:xfrm>
            <a:off x="5852160" y="914400"/>
            <a:ext cx="502920" cy="457200"/>
          </a:xfrm>
          <a:prstGeom prst="ellipse">
            <a:avLst/>
          </a:prstGeom>
          <a:solidFill>
            <a:srgbClr val="9B59B6"/>
          </a:solidFill>
          <a:ln w="12700">
            <a:solidFill>
              <a:srgbClr val="9B59B6"/>
            </a:solidFill>
            <a:prstDash val="solid"/>
          </a:ln>
        </p:spPr>
        <p:txBody>
          <a:bodyPr/>
          <a:lstStyle/>
          <a:p>
            <a:endParaRPr lang="en-US"/>
          </a:p>
        </p:txBody>
      </p:sp>
      <p:sp>
        <p:nvSpPr>
          <p:cNvPr id="25" name="Text 22"/>
          <p:cNvSpPr/>
          <p:nvPr/>
        </p:nvSpPr>
        <p:spPr>
          <a:xfrm>
            <a:off x="5852160" y="914400"/>
            <a:ext cx="502920" cy="457200"/>
          </a:xfrm>
          <a:prstGeom prst="rect">
            <a:avLst/>
          </a:prstGeom>
          <a:noFill/>
          <a:ln/>
        </p:spPr>
        <p:txBody>
          <a:bodyPr wrap="square" lIns="0" tIns="0" rIns="0" bIns="0" rtlCol="0" anchor="ctr"/>
          <a:lstStyle/>
          <a:p>
            <a:pPr marL="0" indent="0" algn="ctr">
              <a:buNone/>
            </a:pPr>
            <a:r>
              <a:rPr lang="en-US" sz="1600" b="1" dirty="0">
                <a:solidFill>
                  <a:srgbClr val="0F2027"/>
                </a:solidFill>
                <a:latin typeface="Calibri" pitchFamily="34" charset="0"/>
                <a:ea typeface="Calibri" pitchFamily="34" charset="-122"/>
                <a:cs typeface="Calibri" pitchFamily="34" charset="-120"/>
              </a:rPr>
              <a:t>4</a:t>
            </a:r>
            <a:endParaRPr lang="en-US" sz="1600" dirty="0"/>
          </a:p>
        </p:txBody>
      </p:sp>
      <p:sp>
        <p:nvSpPr>
          <p:cNvPr id="26" name="Text 23"/>
          <p:cNvSpPr/>
          <p:nvPr/>
        </p:nvSpPr>
        <p:spPr>
          <a:xfrm>
            <a:off x="5367528" y="1435608"/>
            <a:ext cx="1481328"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Processing</a:t>
            </a:r>
            <a:endParaRPr lang="en-US" sz="1200" dirty="0"/>
          </a:p>
        </p:txBody>
      </p:sp>
      <p:sp>
        <p:nvSpPr>
          <p:cNvPr id="27" name="Text 24"/>
          <p:cNvSpPr/>
          <p:nvPr/>
        </p:nvSpPr>
        <p:spPr>
          <a:xfrm>
            <a:off x="5367528" y="1810512"/>
            <a:ext cx="1481328" cy="1051560"/>
          </a:xfrm>
          <a:prstGeom prst="rect">
            <a:avLst/>
          </a:prstGeom>
          <a:noFill/>
          <a:ln/>
        </p:spPr>
        <p:txBody>
          <a:bodyPr wrap="square" rtlCol="0" anchor="t"/>
          <a:lstStyle/>
          <a:p>
            <a:pPr marL="0" indent="0" algn="ctr">
              <a:buNone/>
            </a:pPr>
            <a:r>
              <a:rPr lang="en-US" sz="950" dirty="0">
                <a:solidFill>
                  <a:srgbClr val="D9EBF0"/>
                </a:solidFill>
                <a:latin typeface="Calibri" pitchFamily="34" charset="0"/>
                <a:ea typeface="Calibri" pitchFamily="34" charset="-122"/>
                <a:cs typeface="Calibri" pitchFamily="34" charset="-120"/>
              </a:rPr>
              <a:t>Controller parses JSON</a:t>
            </a:r>
            <a:endParaRPr lang="en-US" sz="950" dirty="0"/>
          </a:p>
          <a:p>
            <a:pPr marL="0" indent="0" algn="ctr">
              <a:buNone/>
            </a:pPr>
            <a:r>
              <a:rPr lang="en-US" sz="950" dirty="0">
                <a:solidFill>
                  <a:srgbClr val="D9EBF0"/>
                </a:solidFill>
                <a:latin typeface="Calibri" pitchFamily="34" charset="0"/>
                <a:ea typeface="Calibri" pitchFamily="34" charset="-122"/>
                <a:cs typeface="Calibri" pitchFamily="34" charset="-120"/>
              </a:rPr>
              <a:t>Maps to OBLO device properties</a:t>
            </a:r>
            <a:endParaRPr lang="en-US" sz="950" dirty="0"/>
          </a:p>
        </p:txBody>
      </p:sp>
      <p:sp>
        <p:nvSpPr>
          <p:cNvPr id="28" name="Shape 25"/>
          <p:cNvSpPr/>
          <p:nvPr/>
        </p:nvSpPr>
        <p:spPr>
          <a:xfrm>
            <a:off x="6903720" y="1837944"/>
            <a:ext cx="91440" cy="73152"/>
          </a:xfrm>
          <a:prstGeom prst="rect">
            <a:avLst/>
          </a:prstGeom>
          <a:solidFill>
            <a:srgbClr val="8EAEBE"/>
          </a:solidFill>
          <a:ln w="12700">
            <a:solidFill>
              <a:srgbClr val="8EAEBE"/>
            </a:solidFill>
            <a:prstDash val="solid"/>
          </a:ln>
        </p:spPr>
        <p:txBody>
          <a:bodyPr/>
          <a:lstStyle/>
          <a:p>
            <a:endParaRPr lang="en-US"/>
          </a:p>
        </p:txBody>
      </p:sp>
      <p:sp>
        <p:nvSpPr>
          <p:cNvPr id="29" name="Shape 26"/>
          <p:cNvSpPr/>
          <p:nvPr/>
        </p:nvSpPr>
        <p:spPr>
          <a:xfrm>
            <a:off x="7004304" y="822960"/>
            <a:ext cx="1572768" cy="2103120"/>
          </a:xfrm>
          <a:prstGeom prst="rect">
            <a:avLst/>
          </a:prstGeom>
          <a:solidFill>
            <a:srgbClr val="1A3040"/>
          </a:solidFill>
          <a:ln w="19050">
            <a:solidFill>
              <a:srgbClr val="F5A623"/>
            </a:solidFill>
            <a:prstDash val="solid"/>
          </a:ln>
        </p:spPr>
        <p:txBody>
          <a:bodyPr/>
          <a:lstStyle/>
          <a:p>
            <a:endParaRPr lang="en-US"/>
          </a:p>
        </p:txBody>
      </p:sp>
      <p:sp>
        <p:nvSpPr>
          <p:cNvPr id="30" name="Shape 27"/>
          <p:cNvSpPr/>
          <p:nvPr/>
        </p:nvSpPr>
        <p:spPr>
          <a:xfrm>
            <a:off x="7534656" y="914400"/>
            <a:ext cx="502920" cy="457200"/>
          </a:xfrm>
          <a:prstGeom prst="ellipse">
            <a:avLst/>
          </a:prstGeom>
          <a:solidFill>
            <a:srgbClr val="F5A623"/>
          </a:solidFill>
          <a:ln w="12700">
            <a:solidFill>
              <a:srgbClr val="F5A623"/>
            </a:solidFill>
            <a:prstDash val="solid"/>
          </a:ln>
        </p:spPr>
        <p:txBody>
          <a:bodyPr/>
          <a:lstStyle/>
          <a:p>
            <a:endParaRPr lang="en-US"/>
          </a:p>
        </p:txBody>
      </p:sp>
      <p:sp>
        <p:nvSpPr>
          <p:cNvPr id="31" name="Text 28"/>
          <p:cNvSpPr/>
          <p:nvPr/>
        </p:nvSpPr>
        <p:spPr>
          <a:xfrm>
            <a:off x="7534656" y="914400"/>
            <a:ext cx="502920" cy="457200"/>
          </a:xfrm>
          <a:prstGeom prst="rect">
            <a:avLst/>
          </a:prstGeom>
          <a:noFill/>
          <a:ln/>
        </p:spPr>
        <p:txBody>
          <a:bodyPr wrap="square" lIns="0" tIns="0" rIns="0" bIns="0" rtlCol="0" anchor="ctr"/>
          <a:lstStyle/>
          <a:p>
            <a:pPr marL="0" indent="0" algn="ctr">
              <a:buNone/>
            </a:pPr>
            <a:r>
              <a:rPr lang="en-US" sz="1600" b="1" dirty="0">
                <a:solidFill>
                  <a:srgbClr val="0F2027"/>
                </a:solidFill>
                <a:latin typeface="Calibri" pitchFamily="34" charset="0"/>
                <a:ea typeface="Calibri" pitchFamily="34" charset="-122"/>
                <a:cs typeface="Calibri" pitchFamily="34" charset="-120"/>
              </a:rPr>
              <a:t>5</a:t>
            </a:r>
            <a:endParaRPr lang="en-US" sz="1600" dirty="0"/>
          </a:p>
        </p:txBody>
      </p:sp>
      <p:sp>
        <p:nvSpPr>
          <p:cNvPr id="32" name="Text 29"/>
          <p:cNvSpPr/>
          <p:nvPr/>
        </p:nvSpPr>
        <p:spPr>
          <a:xfrm>
            <a:off x="7050024" y="1435608"/>
            <a:ext cx="1481328"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MQTT / Cloud</a:t>
            </a:r>
            <a:endParaRPr lang="en-US" sz="1200" dirty="0"/>
          </a:p>
        </p:txBody>
      </p:sp>
      <p:sp>
        <p:nvSpPr>
          <p:cNvPr id="33" name="Text 30"/>
          <p:cNvSpPr/>
          <p:nvPr/>
        </p:nvSpPr>
        <p:spPr>
          <a:xfrm>
            <a:off x="7050024" y="1810512"/>
            <a:ext cx="1481328" cy="1051560"/>
          </a:xfrm>
          <a:prstGeom prst="rect">
            <a:avLst/>
          </a:prstGeom>
          <a:noFill/>
          <a:ln/>
        </p:spPr>
        <p:txBody>
          <a:bodyPr wrap="square" rtlCol="0" anchor="t"/>
          <a:lstStyle/>
          <a:p>
            <a:pPr marL="0" indent="0" algn="ctr">
              <a:buNone/>
            </a:pPr>
            <a:r>
              <a:rPr lang="en-US" sz="950" dirty="0">
                <a:solidFill>
                  <a:srgbClr val="D9EBF0"/>
                </a:solidFill>
                <a:latin typeface="Calibri" pitchFamily="34" charset="0"/>
                <a:ea typeface="Calibri" pitchFamily="34" charset="-122"/>
                <a:cs typeface="Calibri" pitchFamily="34" charset="-120"/>
              </a:rPr>
              <a:t>Data pushed to cloud &amp; mobile app</a:t>
            </a:r>
            <a:endParaRPr lang="en-US" sz="950" dirty="0"/>
          </a:p>
          <a:p>
            <a:pPr marL="0" indent="0" algn="ctr">
              <a:buNone/>
            </a:pPr>
            <a:r>
              <a:rPr lang="en-US" sz="950" dirty="0">
                <a:solidFill>
                  <a:srgbClr val="D9EBF0"/>
                </a:solidFill>
                <a:latin typeface="Calibri" pitchFamily="34" charset="0"/>
                <a:ea typeface="Calibri" pitchFamily="34" charset="-122"/>
                <a:cs typeface="Calibri" pitchFamily="34" charset="-120"/>
              </a:rPr>
              <a:t>Hourly / daily / monthly aggregation</a:t>
            </a:r>
            <a:endParaRPr lang="en-US" sz="950" dirty="0"/>
          </a:p>
        </p:txBody>
      </p:sp>
      <p:sp>
        <p:nvSpPr>
          <p:cNvPr id="34" name="Shape 31"/>
          <p:cNvSpPr/>
          <p:nvPr/>
        </p:nvSpPr>
        <p:spPr>
          <a:xfrm>
            <a:off x="274320" y="3063240"/>
            <a:ext cx="8595360" cy="658368"/>
          </a:xfrm>
          <a:prstGeom prst="rect">
            <a:avLst/>
          </a:prstGeom>
          <a:solidFill>
            <a:srgbClr val="0A1A25"/>
          </a:solidFill>
          <a:ln w="12700">
            <a:solidFill>
              <a:srgbClr val="F5A623"/>
            </a:solidFill>
            <a:prstDash val="solid"/>
          </a:ln>
        </p:spPr>
        <p:txBody>
          <a:bodyPr/>
          <a:lstStyle/>
          <a:p>
            <a:endParaRPr lang="en-US"/>
          </a:p>
        </p:txBody>
      </p:sp>
      <p:sp>
        <p:nvSpPr>
          <p:cNvPr id="35" name="Text 32"/>
          <p:cNvSpPr/>
          <p:nvPr/>
        </p:nvSpPr>
        <p:spPr>
          <a:xfrm>
            <a:off x="274320" y="3063240"/>
            <a:ext cx="8595360" cy="658368"/>
          </a:xfrm>
          <a:prstGeom prst="rect">
            <a:avLst/>
          </a:prstGeom>
          <a:noFill/>
          <a:ln/>
        </p:spPr>
        <p:txBody>
          <a:bodyPr wrap="square" rtlCol="0" anchor="ctr"/>
          <a:lstStyle/>
          <a:p>
            <a:pPr marL="0" indent="0" algn="ctr">
              <a:buNone/>
            </a:pPr>
            <a:r>
              <a:rPr lang="en-US" sz="1150" b="1" dirty="0">
                <a:solidFill>
                  <a:srgbClr val="F5A623"/>
                </a:solidFill>
                <a:latin typeface="Calibri" pitchFamily="34" charset="0"/>
                <a:ea typeface="Calibri" pitchFamily="34" charset="-122"/>
                <a:cs typeface="Calibri" pitchFamily="34" charset="-120"/>
              </a:rPr>
              <a:t>Monitored Parameters:   AC Voltage (V)   ·   AC Current (A)   ·   Total Energy Generated (kWh)   ·   Instantaneous Power Output (W)</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2027"/>
          </a:solidFill>
          <a:ln w="12700">
            <a:solidFill>
              <a:srgbClr val="0F2027"/>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182880" y="109728"/>
            <a:ext cx="384048" cy="384048"/>
          </a:xfrm>
          <a:prstGeom prst="rect">
            <a:avLst/>
          </a:prstGeom>
        </p:spPr>
      </p:pic>
      <p:sp>
        <p:nvSpPr>
          <p:cNvPr id="4" name="Text 1"/>
          <p:cNvSpPr/>
          <p:nvPr/>
        </p:nvSpPr>
        <p:spPr>
          <a:xfrm>
            <a:off x="685800" y="109728"/>
            <a:ext cx="7772400" cy="41148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Testing Setup &amp; Methodology</a:t>
            </a:r>
            <a:endParaRPr lang="en-US" sz="2000" dirty="0"/>
          </a:p>
        </p:txBody>
      </p:sp>
      <p:sp>
        <p:nvSpPr>
          <p:cNvPr id="5" name="Shape 2"/>
          <p:cNvSpPr/>
          <p:nvPr/>
        </p:nvSpPr>
        <p:spPr>
          <a:xfrm>
            <a:off x="274320" y="777240"/>
            <a:ext cx="8595360" cy="566928"/>
          </a:xfrm>
          <a:prstGeom prst="rect">
            <a:avLst/>
          </a:prstGeom>
          <a:solidFill>
            <a:srgbClr val="E8F4F8"/>
          </a:solidFill>
          <a:ln w="12700">
            <a:solidFill>
              <a:srgbClr val="DDDDDD"/>
            </a:solidFill>
            <a:prstDash val="solid"/>
          </a:ln>
        </p:spPr>
        <p:txBody>
          <a:bodyPr/>
          <a:lstStyle/>
          <a:p>
            <a:endParaRPr lang="en-US"/>
          </a:p>
        </p:txBody>
      </p:sp>
      <p:sp>
        <p:nvSpPr>
          <p:cNvPr id="6" name="Shape 3"/>
          <p:cNvSpPr/>
          <p:nvPr/>
        </p:nvSpPr>
        <p:spPr>
          <a:xfrm>
            <a:off x="274320" y="777240"/>
            <a:ext cx="54864" cy="566928"/>
          </a:xfrm>
          <a:prstGeom prst="rect">
            <a:avLst/>
          </a:prstGeom>
          <a:solidFill>
            <a:srgbClr val="F5A623"/>
          </a:solidFill>
          <a:ln w="12700">
            <a:solidFill>
              <a:srgbClr val="F5A623"/>
            </a:solidFill>
            <a:prstDash val="solid"/>
          </a:ln>
        </p:spPr>
        <p:txBody>
          <a:bodyPr/>
          <a:lstStyle/>
          <a:p>
            <a:endParaRPr lang="en-US"/>
          </a:p>
        </p:txBody>
      </p:sp>
      <p:sp>
        <p:nvSpPr>
          <p:cNvPr id="7" name="Text 4"/>
          <p:cNvSpPr/>
          <p:nvPr/>
        </p:nvSpPr>
        <p:spPr>
          <a:xfrm>
            <a:off x="457200" y="777240"/>
            <a:ext cx="1371600" cy="566928"/>
          </a:xfrm>
          <a:prstGeom prst="rect">
            <a:avLst/>
          </a:prstGeom>
          <a:noFill/>
          <a:ln/>
        </p:spPr>
        <p:txBody>
          <a:bodyPr wrap="square" rtlCol="0" anchor="ctr"/>
          <a:lstStyle/>
          <a:p>
            <a:pPr marL="0" indent="0" algn="l">
              <a:buNone/>
            </a:pPr>
            <a:r>
              <a:rPr lang="en-US" sz="1100" b="1" dirty="0">
                <a:solidFill>
                  <a:srgbClr val="F5A623"/>
                </a:solidFill>
                <a:latin typeface="Calibri" pitchFamily="34" charset="0"/>
                <a:ea typeface="Calibri" pitchFamily="34" charset="-122"/>
                <a:cs typeface="Calibri" pitchFamily="34" charset="-120"/>
              </a:rPr>
              <a:t>Period</a:t>
            </a:r>
            <a:endParaRPr lang="en-US" sz="1100" dirty="0"/>
          </a:p>
        </p:txBody>
      </p:sp>
      <p:sp>
        <p:nvSpPr>
          <p:cNvPr id="8" name="Text 5"/>
          <p:cNvSpPr/>
          <p:nvPr/>
        </p:nvSpPr>
        <p:spPr>
          <a:xfrm>
            <a:off x="1920240" y="777240"/>
            <a:ext cx="6766560" cy="566928"/>
          </a:xfrm>
          <a:prstGeom prst="rect">
            <a:avLst/>
          </a:prstGeom>
          <a:noFill/>
          <a:ln/>
        </p:spPr>
        <p:txBody>
          <a:bodyPr wrap="square" rtlCol="0" anchor="ctr"/>
          <a:lstStyle/>
          <a:p>
            <a:pPr marL="0" indent="0" algn="l">
              <a:buNone/>
            </a:pPr>
            <a:r>
              <a:rPr lang="en-US" sz="1100" dirty="0">
                <a:solidFill>
                  <a:srgbClr val="333333"/>
                </a:solidFill>
                <a:latin typeface="Calibri" pitchFamily="34" charset="0"/>
                <a:ea typeface="Calibri" pitchFamily="34" charset="-122"/>
                <a:cs typeface="Calibri" pitchFamily="34" charset="-120"/>
              </a:rPr>
              <a:t>September 2025 – February 2026 (6 months)</a:t>
            </a:r>
            <a:endParaRPr lang="en-US" sz="1100" dirty="0"/>
          </a:p>
        </p:txBody>
      </p:sp>
      <p:sp>
        <p:nvSpPr>
          <p:cNvPr id="9" name="Shape 6"/>
          <p:cNvSpPr/>
          <p:nvPr/>
        </p:nvSpPr>
        <p:spPr>
          <a:xfrm>
            <a:off x="274320" y="1399032"/>
            <a:ext cx="8595360" cy="566928"/>
          </a:xfrm>
          <a:prstGeom prst="rect">
            <a:avLst/>
          </a:prstGeom>
          <a:solidFill>
            <a:srgbClr val="FFFFFF"/>
          </a:solidFill>
          <a:ln w="12700">
            <a:solidFill>
              <a:srgbClr val="DDDDDD"/>
            </a:solidFill>
            <a:prstDash val="solid"/>
          </a:ln>
        </p:spPr>
        <p:txBody>
          <a:bodyPr/>
          <a:lstStyle/>
          <a:p>
            <a:endParaRPr lang="en-US"/>
          </a:p>
        </p:txBody>
      </p:sp>
      <p:sp>
        <p:nvSpPr>
          <p:cNvPr id="10" name="Shape 7"/>
          <p:cNvSpPr/>
          <p:nvPr/>
        </p:nvSpPr>
        <p:spPr>
          <a:xfrm>
            <a:off x="274320" y="1399032"/>
            <a:ext cx="54864" cy="566928"/>
          </a:xfrm>
          <a:prstGeom prst="rect">
            <a:avLst/>
          </a:prstGeom>
          <a:solidFill>
            <a:srgbClr val="3498DB"/>
          </a:solidFill>
          <a:ln w="12700">
            <a:solidFill>
              <a:srgbClr val="3498DB"/>
            </a:solidFill>
            <a:prstDash val="solid"/>
          </a:ln>
        </p:spPr>
        <p:txBody>
          <a:bodyPr/>
          <a:lstStyle/>
          <a:p>
            <a:endParaRPr lang="en-US"/>
          </a:p>
        </p:txBody>
      </p:sp>
      <p:sp>
        <p:nvSpPr>
          <p:cNvPr id="11" name="Text 8"/>
          <p:cNvSpPr/>
          <p:nvPr/>
        </p:nvSpPr>
        <p:spPr>
          <a:xfrm>
            <a:off x="457200" y="1399032"/>
            <a:ext cx="1371600" cy="566928"/>
          </a:xfrm>
          <a:prstGeom prst="rect">
            <a:avLst/>
          </a:prstGeom>
          <a:noFill/>
          <a:ln/>
        </p:spPr>
        <p:txBody>
          <a:bodyPr wrap="square" rtlCol="0" anchor="ctr"/>
          <a:lstStyle/>
          <a:p>
            <a:pPr marL="0" indent="0" algn="l">
              <a:buNone/>
            </a:pPr>
            <a:r>
              <a:rPr lang="en-US" sz="1100" b="1" dirty="0">
                <a:solidFill>
                  <a:srgbClr val="3498DB"/>
                </a:solidFill>
                <a:latin typeface="Calibri" pitchFamily="34" charset="0"/>
                <a:ea typeface="Calibri" pitchFamily="34" charset="-122"/>
                <a:cs typeface="Calibri" pitchFamily="34" charset="-120"/>
              </a:rPr>
              <a:t>Location</a:t>
            </a:r>
            <a:endParaRPr lang="en-US" sz="1100" dirty="0"/>
          </a:p>
        </p:txBody>
      </p:sp>
      <p:sp>
        <p:nvSpPr>
          <p:cNvPr id="12" name="Text 9"/>
          <p:cNvSpPr/>
          <p:nvPr/>
        </p:nvSpPr>
        <p:spPr>
          <a:xfrm>
            <a:off x="1920240" y="1399032"/>
            <a:ext cx="6766560" cy="566928"/>
          </a:xfrm>
          <a:prstGeom prst="rect">
            <a:avLst/>
          </a:prstGeom>
          <a:noFill/>
          <a:ln/>
        </p:spPr>
        <p:txBody>
          <a:bodyPr wrap="square" rtlCol="0" anchor="ctr"/>
          <a:lstStyle/>
          <a:p>
            <a:pPr marL="0" indent="0" algn="l">
              <a:buNone/>
            </a:pPr>
            <a:r>
              <a:rPr lang="en-US" sz="1100" dirty="0">
                <a:solidFill>
                  <a:srgbClr val="333333"/>
                </a:solidFill>
                <a:latin typeface="Calibri" pitchFamily="34" charset="0"/>
                <a:ea typeface="Calibri" pitchFamily="34" charset="-122"/>
                <a:cs typeface="Calibri" pitchFamily="34" charset="-120"/>
              </a:rPr>
              <a:t>Suhr, Switzerland  ·  47.37°N, 8.08°E  ·  Temperate Central European climate</a:t>
            </a:r>
            <a:endParaRPr lang="en-US" sz="1100" dirty="0"/>
          </a:p>
        </p:txBody>
      </p:sp>
      <p:sp>
        <p:nvSpPr>
          <p:cNvPr id="13" name="Shape 10"/>
          <p:cNvSpPr/>
          <p:nvPr/>
        </p:nvSpPr>
        <p:spPr>
          <a:xfrm>
            <a:off x="274320" y="2020824"/>
            <a:ext cx="8595360" cy="566928"/>
          </a:xfrm>
          <a:prstGeom prst="rect">
            <a:avLst/>
          </a:prstGeom>
          <a:solidFill>
            <a:srgbClr val="E8F4F8"/>
          </a:solidFill>
          <a:ln w="12700">
            <a:solidFill>
              <a:srgbClr val="DDDDDD"/>
            </a:solidFill>
            <a:prstDash val="solid"/>
          </a:ln>
        </p:spPr>
        <p:txBody>
          <a:bodyPr/>
          <a:lstStyle/>
          <a:p>
            <a:endParaRPr lang="en-US"/>
          </a:p>
        </p:txBody>
      </p:sp>
      <p:sp>
        <p:nvSpPr>
          <p:cNvPr id="14" name="Shape 11"/>
          <p:cNvSpPr/>
          <p:nvPr/>
        </p:nvSpPr>
        <p:spPr>
          <a:xfrm>
            <a:off x="274320" y="2020824"/>
            <a:ext cx="54864" cy="566928"/>
          </a:xfrm>
          <a:prstGeom prst="rect">
            <a:avLst/>
          </a:prstGeom>
          <a:solidFill>
            <a:srgbClr val="2ECC71"/>
          </a:solidFill>
          <a:ln w="12700">
            <a:solidFill>
              <a:srgbClr val="2ECC71"/>
            </a:solidFill>
            <a:prstDash val="solid"/>
          </a:ln>
        </p:spPr>
        <p:txBody>
          <a:bodyPr/>
          <a:lstStyle/>
          <a:p>
            <a:endParaRPr lang="en-US"/>
          </a:p>
        </p:txBody>
      </p:sp>
      <p:sp>
        <p:nvSpPr>
          <p:cNvPr id="15" name="Text 12"/>
          <p:cNvSpPr/>
          <p:nvPr/>
        </p:nvSpPr>
        <p:spPr>
          <a:xfrm>
            <a:off x="457200" y="2020824"/>
            <a:ext cx="1371600" cy="566928"/>
          </a:xfrm>
          <a:prstGeom prst="rect">
            <a:avLst/>
          </a:prstGeom>
          <a:noFill/>
          <a:ln/>
        </p:spPr>
        <p:txBody>
          <a:bodyPr wrap="square" rtlCol="0" anchor="ctr"/>
          <a:lstStyle/>
          <a:p>
            <a:pPr marL="0" indent="0" algn="l">
              <a:buNone/>
            </a:pPr>
            <a:r>
              <a:rPr lang="en-US" sz="1100" b="1" dirty="0">
                <a:solidFill>
                  <a:srgbClr val="2ECC71"/>
                </a:solidFill>
                <a:latin typeface="Calibri" pitchFamily="34" charset="0"/>
                <a:ea typeface="Calibri" pitchFamily="34" charset="-122"/>
                <a:cs typeface="Calibri" pitchFamily="34" charset="-120"/>
              </a:rPr>
              <a:t>Climate</a:t>
            </a:r>
            <a:endParaRPr lang="en-US" sz="1100" dirty="0"/>
          </a:p>
        </p:txBody>
      </p:sp>
      <p:sp>
        <p:nvSpPr>
          <p:cNvPr id="16" name="Text 13"/>
          <p:cNvSpPr/>
          <p:nvPr/>
        </p:nvSpPr>
        <p:spPr>
          <a:xfrm>
            <a:off x="1920240" y="2020824"/>
            <a:ext cx="6766560" cy="566928"/>
          </a:xfrm>
          <a:prstGeom prst="rect">
            <a:avLst/>
          </a:prstGeom>
          <a:noFill/>
          <a:ln/>
        </p:spPr>
        <p:txBody>
          <a:bodyPr wrap="square" rtlCol="0" anchor="ctr"/>
          <a:lstStyle/>
          <a:p>
            <a:pPr marL="0" indent="0" algn="l">
              <a:buNone/>
            </a:pPr>
            <a:r>
              <a:rPr lang="en-US" sz="1100" dirty="0">
                <a:solidFill>
                  <a:srgbClr val="333333"/>
                </a:solidFill>
                <a:latin typeface="Calibri" pitchFamily="34" charset="0"/>
                <a:ea typeface="Calibri" pitchFamily="34" charset="-122"/>
                <a:cs typeface="Calibri" pitchFamily="34" charset="-120"/>
              </a:rPr>
              <a:t>Annual irradiation: 1000–1400 kWh/m²  ·  Significant seasonal variation  ·  Low winter irradiation (Dec–Jan)</a:t>
            </a:r>
            <a:endParaRPr lang="en-US" sz="1100" dirty="0"/>
          </a:p>
        </p:txBody>
      </p:sp>
      <p:sp>
        <p:nvSpPr>
          <p:cNvPr id="17" name="Shape 14"/>
          <p:cNvSpPr/>
          <p:nvPr/>
        </p:nvSpPr>
        <p:spPr>
          <a:xfrm>
            <a:off x="274320" y="2642616"/>
            <a:ext cx="8595360" cy="566928"/>
          </a:xfrm>
          <a:prstGeom prst="rect">
            <a:avLst/>
          </a:prstGeom>
          <a:solidFill>
            <a:srgbClr val="FFFFFF"/>
          </a:solidFill>
          <a:ln w="12700">
            <a:solidFill>
              <a:srgbClr val="DDDDDD"/>
            </a:solidFill>
            <a:prstDash val="solid"/>
          </a:ln>
        </p:spPr>
        <p:txBody>
          <a:bodyPr/>
          <a:lstStyle/>
          <a:p>
            <a:endParaRPr lang="en-US"/>
          </a:p>
        </p:txBody>
      </p:sp>
      <p:sp>
        <p:nvSpPr>
          <p:cNvPr id="18" name="Shape 15"/>
          <p:cNvSpPr/>
          <p:nvPr/>
        </p:nvSpPr>
        <p:spPr>
          <a:xfrm>
            <a:off x="274320" y="2642616"/>
            <a:ext cx="54864" cy="566928"/>
          </a:xfrm>
          <a:prstGeom prst="rect">
            <a:avLst/>
          </a:prstGeom>
          <a:solidFill>
            <a:srgbClr val="9B59B6"/>
          </a:solidFill>
          <a:ln w="12700">
            <a:solidFill>
              <a:srgbClr val="9B59B6"/>
            </a:solidFill>
            <a:prstDash val="solid"/>
          </a:ln>
        </p:spPr>
        <p:txBody>
          <a:bodyPr/>
          <a:lstStyle/>
          <a:p>
            <a:endParaRPr lang="en-US"/>
          </a:p>
        </p:txBody>
      </p:sp>
      <p:sp>
        <p:nvSpPr>
          <p:cNvPr id="19" name="Text 16"/>
          <p:cNvSpPr/>
          <p:nvPr/>
        </p:nvSpPr>
        <p:spPr>
          <a:xfrm>
            <a:off x="457200" y="2642616"/>
            <a:ext cx="1371600" cy="566928"/>
          </a:xfrm>
          <a:prstGeom prst="rect">
            <a:avLst/>
          </a:prstGeom>
          <a:noFill/>
          <a:ln/>
        </p:spPr>
        <p:txBody>
          <a:bodyPr wrap="square" rtlCol="0" anchor="ctr"/>
          <a:lstStyle/>
          <a:p>
            <a:pPr marL="0" indent="0" algn="l">
              <a:buNone/>
            </a:pPr>
            <a:r>
              <a:rPr lang="en-US" sz="1100" b="1" dirty="0">
                <a:solidFill>
                  <a:srgbClr val="9B59B6"/>
                </a:solidFill>
                <a:latin typeface="Calibri" pitchFamily="34" charset="0"/>
                <a:ea typeface="Calibri" pitchFamily="34" charset="-122"/>
                <a:cs typeface="Calibri" pitchFamily="34" charset="-120"/>
              </a:rPr>
              <a:t>Data collection</a:t>
            </a:r>
            <a:endParaRPr lang="en-US" sz="1100" dirty="0"/>
          </a:p>
        </p:txBody>
      </p:sp>
      <p:sp>
        <p:nvSpPr>
          <p:cNvPr id="20" name="Text 17"/>
          <p:cNvSpPr/>
          <p:nvPr/>
        </p:nvSpPr>
        <p:spPr>
          <a:xfrm>
            <a:off x="1920240" y="2642616"/>
            <a:ext cx="6766560" cy="566928"/>
          </a:xfrm>
          <a:prstGeom prst="rect">
            <a:avLst/>
          </a:prstGeom>
          <a:noFill/>
          <a:ln/>
        </p:spPr>
        <p:txBody>
          <a:bodyPr wrap="square" rtlCol="0" anchor="ctr"/>
          <a:lstStyle/>
          <a:p>
            <a:pPr marL="0" indent="0" algn="l">
              <a:buNone/>
            </a:pPr>
            <a:r>
              <a:rPr lang="en-US" sz="1100" dirty="0">
                <a:solidFill>
                  <a:srgbClr val="333333"/>
                </a:solidFill>
                <a:latin typeface="Calibri" pitchFamily="34" charset="0"/>
                <a:ea typeface="Calibri" pitchFamily="34" charset="-122"/>
                <a:cs typeface="Calibri" pitchFamily="34" charset="-120"/>
              </a:rPr>
              <a:t>Automatic via microinverter → DTU → OBLO controller → cloud DB  ·  No manual intervention</a:t>
            </a:r>
            <a:endParaRPr lang="en-US" sz="1100" dirty="0"/>
          </a:p>
        </p:txBody>
      </p:sp>
      <p:sp>
        <p:nvSpPr>
          <p:cNvPr id="21" name="Shape 18"/>
          <p:cNvSpPr/>
          <p:nvPr/>
        </p:nvSpPr>
        <p:spPr>
          <a:xfrm>
            <a:off x="274320" y="3264408"/>
            <a:ext cx="8595360" cy="566928"/>
          </a:xfrm>
          <a:prstGeom prst="rect">
            <a:avLst/>
          </a:prstGeom>
          <a:solidFill>
            <a:srgbClr val="E8F4F8"/>
          </a:solidFill>
          <a:ln w="12700">
            <a:solidFill>
              <a:srgbClr val="DDDDDD"/>
            </a:solidFill>
            <a:prstDash val="solid"/>
          </a:ln>
        </p:spPr>
        <p:txBody>
          <a:bodyPr/>
          <a:lstStyle/>
          <a:p>
            <a:endParaRPr lang="en-US"/>
          </a:p>
        </p:txBody>
      </p:sp>
      <p:sp>
        <p:nvSpPr>
          <p:cNvPr id="22" name="Shape 19"/>
          <p:cNvSpPr/>
          <p:nvPr/>
        </p:nvSpPr>
        <p:spPr>
          <a:xfrm>
            <a:off x="274320" y="3264408"/>
            <a:ext cx="54864" cy="566928"/>
          </a:xfrm>
          <a:prstGeom prst="rect">
            <a:avLst/>
          </a:prstGeom>
          <a:solidFill>
            <a:srgbClr val="E67E22"/>
          </a:solidFill>
          <a:ln w="12700">
            <a:solidFill>
              <a:srgbClr val="E67E22"/>
            </a:solidFill>
            <a:prstDash val="solid"/>
          </a:ln>
        </p:spPr>
        <p:txBody>
          <a:bodyPr/>
          <a:lstStyle/>
          <a:p>
            <a:endParaRPr lang="en-US"/>
          </a:p>
        </p:txBody>
      </p:sp>
      <p:sp>
        <p:nvSpPr>
          <p:cNvPr id="23" name="Text 20"/>
          <p:cNvSpPr/>
          <p:nvPr/>
        </p:nvSpPr>
        <p:spPr>
          <a:xfrm>
            <a:off x="457200" y="3264408"/>
            <a:ext cx="1371600" cy="566928"/>
          </a:xfrm>
          <a:prstGeom prst="rect">
            <a:avLst/>
          </a:prstGeom>
          <a:noFill/>
          <a:ln/>
        </p:spPr>
        <p:txBody>
          <a:bodyPr wrap="square" rtlCol="0" anchor="ctr"/>
          <a:lstStyle/>
          <a:p>
            <a:pPr marL="0" indent="0" algn="l">
              <a:buNone/>
            </a:pPr>
            <a:r>
              <a:rPr lang="en-US" sz="1100" b="1" dirty="0">
                <a:solidFill>
                  <a:srgbClr val="E67E22"/>
                </a:solidFill>
                <a:latin typeface="Calibri" pitchFamily="34" charset="0"/>
                <a:ea typeface="Calibri" pitchFamily="34" charset="-122"/>
                <a:cs typeface="Calibri" pitchFamily="34" charset="-120"/>
              </a:rPr>
              <a:t>Aggregation</a:t>
            </a:r>
            <a:endParaRPr lang="en-US" sz="1100" dirty="0"/>
          </a:p>
        </p:txBody>
      </p:sp>
      <p:sp>
        <p:nvSpPr>
          <p:cNvPr id="24" name="Text 21"/>
          <p:cNvSpPr/>
          <p:nvPr/>
        </p:nvSpPr>
        <p:spPr>
          <a:xfrm>
            <a:off x="1920240" y="3264408"/>
            <a:ext cx="6766560" cy="566928"/>
          </a:xfrm>
          <a:prstGeom prst="rect">
            <a:avLst/>
          </a:prstGeom>
          <a:noFill/>
          <a:ln/>
        </p:spPr>
        <p:txBody>
          <a:bodyPr wrap="square" rtlCol="0" anchor="ctr"/>
          <a:lstStyle/>
          <a:p>
            <a:pPr marL="0" indent="0" algn="l">
              <a:buNone/>
            </a:pPr>
            <a:r>
              <a:rPr lang="en-US" sz="1100" dirty="0">
                <a:solidFill>
                  <a:srgbClr val="333333"/>
                </a:solidFill>
                <a:latin typeface="Calibri" pitchFamily="34" charset="0"/>
                <a:ea typeface="Calibri" pitchFamily="34" charset="-122"/>
                <a:cs typeface="Calibri" pitchFamily="34" charset="-120"/>
              </a:rPr>
              <a:t>Sampled at regular intervals → aggregated into hourly, daily, monthly statistics within OBLO cloud</a:t>
            </a:r>
            <a:endParaRPr lang="en-US" sz="1100" dirty="0"/>
          </a:p>
        </p:txBody>
      </p:sp>
      <p:sp>
        <p:nvSpPr>
          <p:cNvPr id="25" name="Shape 22"/>
          <p:cNvSpPr/>
          <p:nvPr/>
        </p:nvSpPr>
        <p:spPr>
          <a:xfrm>
            <a:off x="274320" y="3886200"/>
            <a:ext cx="8595360" cy="566928"/>
          </a:xfrm>
          <a:prstGeom prst="rect">
            <a:avLst/>
          </a:prstGeom>
          <a:solidFill>
            <a:srgbClr val="FFFFFF"/>
          </a:solidFill>
          <a:ln w="12700">
            <a:solidFill>
              <a:srgbClr val="DDDDDD"/>
            </a:solidFill>
            <a:prstDash val="solid"/>
          </a:ln>
        </p:spPr>
        <p:txBody>
          <a:bodyPr/>
          <a:lstStyle/>
          <a:p>
            <a:endParaRPr lang="en-US"/>
          </a:p>
        </p:txBody>
      </p:sp>
      <p:sp>
        <p:nvSpPr>
          <p:cNvPr id="26" name="Shape 23"/>
          <p:cNvSpPr/>
          <p:nvPr/>
        </p:nvSpPr>
        <p:spPr>
          <a:xfrm>
            <a:off x="274320" y="3886200"/>
            <a:ext cx="54864" cy="566928"/>
          </a:xfrm>
          <a:prstGeom prst="rect">
            <a:avLst/>
          </a:prstGeom>
          <a:solidFill>
            <a:srgbClr val="F5A623"/>
          </a:solidFill>
          <a:ln w="12700">
            <a:solidFill>
              <a:srgbClr val="F5A623"/>
            </a:solidFill>
            <a:prstDash val="solid"/>
          </a:ln>
        </p:spPr>
        <p:txBody>
          <a:bodyPr/>
          <a:lstStyle/>
          <a:p>
            <a:endParaRPr lang="en-US"/>
          </a:p>
        </p:txBody>
      </p:sp>
      <p:sp>
        <p:nvSpPr>
          <p:cNvPr id="27" name="Text 24"/>
          <p:cNvSpPr/>
          <p:nvPr/>
        </p:nvSpPr>
        <p:spPr>
          <a:xfrm>
            <a:off x="457200" y="3886200"/>
            <a:ext cx="1371600" cy="566928"/>
          </a:xfrm>
          <a:prstGeom prst="rect">
            <a:avLst/>
          </a:prstGeom>
          <a:noFill/>
          <a:ln/>
        </p:spPr>
        <p:txBody>
          <a:bodyPr wrap="square" rtlCol="0" anchor="ctr"/>
          <a:lstStyle/>
          <a:p>
            <a:pPr marL="0" indent="0" algn="l">
              <a:buNone/>
            </a:pPr>
            <a:r>
              <a:rPr lang="en-US" sz="1100" b="1" dirty="0">
                <a:solidFill>
                  <a:srgbClr val="F5A623"/>
                </a:solidFill>
                <a:latin typeface="Calibri" pitchFamily="34" charset="0"/>
                <a:ea typeface="Calibri" pitchFamily="34" charset="-122"/>
                <a:cs typeface="Calibri" pitchFamily="34" charset="-120"/>
              </a:rPr>
              <a:t>Metrics evaluated</a:t>
            </a:r>
            <a:endParaRPr lang="en-US" sz="1100" dirty="0"/>
          </a:p>
        </p:txBody>
      </p:sp>
      <p:sp>
        <p:nvSpPr>
          <p:cNvPr id="28" name="Text 25"/>
          <p:cNvSpPr/>
          <p:nvPr/>
        </p:nvSpPr>
        <p:spPr>
          <a:xfrm>
            <a:off x="1920240" y="3886200"/>
            <a:ext cx="6766560" cy="566928"/>
          </a:xfrm>
          <a:prstGeom prst="rect">
            <a:avLst/>
          </a:prstGeom>
          <a:noFill/>
          <a:ln/>
        </p:spPr>
        <p:txBody>
          <a:bodyPr wrap="square" rtlCol="0" anchor="ctr"/>
          <a:lstStyle/>
          <a:p>
            <a:pPr marL="0" indent="0" algn="l">
              <a:buNone/>
            </a:pPr>
            <a:r>
              <a:rPr lang="en-US" sz="1100" dirty="0">
                <a:solidFill>
                  <a:srgbClr val="333333"/>
                </a:solidFill>
                <a:latin typeface="Calibri" pitchFamily="34" charset="0"/>
                <a:ea typeface="Calibri" pitchFamily="34" charset="-122"/>
                <a:cs typeface="Calibri" pitchFamily="34" charset="-120"/>
              </a:rPr>
              <a:t>Total energy production  ·  Financial savings  ·  CO₂ reduction  ·  Specific yield  ·  Capacity factor</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2027"/>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03A43"/>
          </a:solidFill>
          <a:ln w="12700">
            <a:solidFill>
              <a:srgbClr val="203A43"/>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182880" y="109728"/>
            <a:ext cx="384048" cy="384048"/>
          </a:xfrm>
          <a:prstGeom prst="rect">
            <a:avLst/>
          </a:prstGeom>
        </p:spPr>
      </p:pic>
      <p:sp>
        <p:nvSpPr>
          <p:cNvPr id="4" name="Text 1"/>
          <p:cNvSpPr/>
          <p:nvPr/>
        </p:nvSpPr>
        <p:spPr>
          <a:xfrm>
            <a:off x="685800" y="109728"/>
            <a:ext cx="7772400" cy="41148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Results — Monthly Energy Production</a:t>
            </a:r>
            <a:endParaRPr lang="en-US" sz="2000" dirty="0"/>
          </a:p>
        </p:txBody>
      </p:sp>
      <p:graphicFrame>
        <p:nvGraphicFramePr>
          <p:cNvPr id="5" name="Chart 0"/>
          <p:cNvGraphicFramePr/>
          <p:nvPr/>
        </p:nvGraphicFramePr>
        <p:xfrm>
          <a:off x="274320" y="777240"/>
          <a:ext cx="5760720" cy="3749040"/>
        </p:xfrm>
        <a:graphic>
          <a:graphicData uri="http://schemas.openxmlformats.org/drawingml/2006/chart">
            <c:chart xmlns:c="http://schemas.openxmlformats.org/drawingml/2006/chart" xmlns:r="http://schemas.openxmlformats.org/officeDocument/2006/relationships" r:id="rId4"/>
          </a:graphicData>
        </a:graphic>
      </p:graphicFrame>
      <p:sp>
        <p:nvSpPr>
          <p:cNvPr id="6" name="Shape 2"/>
          <p:cNvSpPr/>
          <p:nvPr/>
        </p:nvSpPr>
        <p:spPr>
          <a:xfrm>
            <a:off x="6217920" y="777240"/>
            <a:ext cx="2880360" cy="886968"/>
          </a:xfrm>
          <a:prstGeom prst="rect">
            <a:avLst/>
          </a:prstGeom>
          <a:solidFill>
            <a:srgbClr val="1A3040"/>
          </a:solidFill>
          <a:ln w="12700">
            <a:solidFill>
              <a:srgbClr val="F5A623"/>
            </a:solidFill>
            <a:prstDash val="solid"/>
          </a:ln>
        </p:spPr>
        <p:txBody>
          <a:bodyPr/>
          <a:lstStyle/>
          <a:p>
            <a:endParaRPr lang="en-US"/>
          </a:p>
        </p:txBody>
      </p:sp>
      <p:sp>
        <p:nvSpPr>
          <p:cNvPr id="7" name="Shape 3"/>
          <p:cNvSpPr/>
          <p:nvPr/>
        </p:nvSpPr>
        <p:spPr>
          <a:xfrm>
            <a:off x="6217920" y="777240"/>
            <a:ext cx="54864" cy="886968"/>
          </a:xfrm>
          <a:prstGeom prst="rect">
            <a:avLst/>
          </a:prstGeom>
          <a:solidFill>
            <a:srgbClr val="F5A623"/>
          </a:solidFill>
          <a:ln w="12700">
            <a:solidFill>
              <a:srgbClr val="F5A623"/>
            </a:solidFill>
            <a:prstDash val="solid"/>
          </a:ln>
        </p:spPr>
        <p:txBody>
          <a:bodyPr/>
          <a:lstStyle/>
          <a:p>
            <a:endParaRPr lang="en-US"/>
          </a:p>
        </p:txBody>
      </p:sp>
      <p:sp>
        <p:nvSpPr>
          <p:cNvPr id="8" name="Text 4"/>
          <p:cNvSpPr/>
          <p:nvPr/>
        </p:nvSpPr>
        <p:spPr>
          <a:xfrm>
            <a:off x="6355080" y="813816"/>
            <a:ext cx="2651760" cy="487832"/>
          </a:xfrm>
          <a:prstGeom prst="rect">
            <a:avLst/>
          </a:prstGeom>
          <a:noFill/>
          <a:ln/>
        </p:spPr>
        <p:txBody>
          <a:bodyPr wrap="square" rtlCol="0" anchor="ctr"/>
          <a:lstStyle/>
          <a:p>
            <a:pPr marL="0" indent="0">
              <a:buNone/>
            </a:pPr>
            <a:r>
              <a:rPr lang="en-US" sz="1900" b="1" dirty="0">
                <a:solidFill>
                  <a:srgbClr val="F5A623"/>
                </a:solidFill>
                <a:latin typeface="Calibri" pitchFamily="34" charset="0"/>
                <a:ea typeface="Calibri" pitchFamily="34" charset="-122"/>
                <a:cs typeface="Calibri" pitchFamily="34" charset="-120"/>
              </a:rPr>
              <a:t>178.6 kWh</a:t>
            </a:r>
            <a:endParaRPr lang="en-US" sz="1900" dirty="0"/>
          </a:p>
        </p:txBody>
      </p:sp>
      <p:sp>
        <p:nvSpPr>
          <p:cNvPr id="9" name="Text 5"/>
          <p:cNvSpPr/>
          <p:nvPr/>
        </p:nvSpPr>
        <p:spPr>
          <a:xfrm>
            <a:off x="6355080" y="1265072"/>
            <a:ext cx="2651760" cy="354787"/>
          </a:xfrm>
          <a:prstGeom prst="rect">
            <a:avLst/>
          </a:prstGeom>
          <a:noFill/>
          <a:ln/>
        </p:spPr>
        <p:txBody>
          <a:bodyPr wrap="square" rtlCol="0" anchor="ctr"/>
          <a:lstStyle/>
          <a:p>
            <a:pPr marL="0" indent="0">
              <a:buNone/>
            </a:pPr>
            <a:r>
              <a:rPr lang="en-US" sz="1000" dirty="0">
                <a:solidFill>
                  <a:srgbClr val="D9EBF0"/>
                </a:solidFill>
                <a:latin typeface="Calibri" pitchFamily="34" charset="0"/>
                <a:ea typeface="Calibri" pitchFamily="34" charset="-122"/>
                <a:cs typeface="Calibri" pitchFamily="34" charset="-120"/>
              </a:rPr>
              <a:t>6-month total</a:t>
            </a:r>
            <a:endParaRPr lang="en-US" sz="1000" dirty="0"/>
          </a:p>
        </p:txBody>
      </p:sp>
      <p:sp>
        <p:nvSpPr>
          <p:cNvPr id="10" name="Shape 6"/>
          <p:cNvSpPr/>
          <p:nvPr/>
        </p:nvSpPr>
        <p:spPr>
          <a:xfrm>
            <a:off x="6217920" y="1728216"/>
            <a:ext cx="2880360" cy="886968"/>
          </a:xfrm>
          <a:prstGeom prst="rect">
            <a:avLst/>
          </a:prstGeom>
          <a:solidFill>
            <a:srgbClr val="1A3040"/>
          </a:solidFill>
          <a:ln w="12700">
            <a:solidFill>
              <a:srgbClr val="2ECC71"/>
            </a:solidFill>
            <a:prstDash val="solid"/>
          </a:ln>
        </p:spPr>
        <p:txBody>
          <a:bodyPr/>
          <a:lstStyle/>
          <a:p>
            <a:endParaRPr lang="en-US"/>
          </a:p>
        </p:txBody>
      </p:sp>
      <p:sp>
        <p:nvSpPr>
          <p:cNvPr id="11" name="Shape 7"/>
          <p:cNvSpPr/>
          <p:nvPr/>
        </p:nvSpPr>
        <p:spPr>
          <a:xfrm>
            <a:off x="6217920" y="1728216"/>
            <a:ext cx="54864" cy="886968"/>
          </a:xfrm>
          <a:prstGeom prst="rect">
            <a:avLst/>
          </a:prstGeom>
          <a:solidFill>
            <a:srgbClr val="2ECC71"/>
          </a:solidFill>
          <a:ln w="12700">
            <a:solidFill>
              <a:srgbClr val="2ECC71"/>
            </a:solidFill>
            <a:prstDash val="solid"/>
          </a:ln>
        </p:spPr>
        <p:txBody>
          <a:bodyPr/>
          <a:lstStyle/>
          <a:p>
            <a:endParaRPr lang="en-US"/>
          </a:p>
        </p:txBody>
      </p:sp>
      <p:sp>
        <p:nvSpPr>
          <p:cNvPr id="12" name="Text 8"/>
          <p:cNvSpPr/>
          <p:nvPr/>
        </p:nvSpPr>
        <p:spPr>
          <a:xfrm>
            <a:off x="6355080" y="1764792"/>
            <a:ext cx="2651760" cy="487832"/>
          </a:xfrm>
          <a:prstGeom prst="rect">
            <a:avLst/>
          </a:prstGeom>
          <a:noFill/>
          <a:ln/>
        </p:spPr>
        <p:txBody>
          <a:bodyPr wrap="square" rtlCol="0" anchor="ctr"/>
          <a:lstStyle/>
          <a:p>
            <a:pPr marL="0" indent="0">
              <a:buNone/>
            </a:pPr>
            <a:r>
              <a:rPr lang="en-US" sz="1900" b="1" dirty="0">
                <a:solidFill>
                  <a:srgbClr val="2ECC71"/>
                </a:solidFill>
                <a:latin typeface="Calibri" pitchFamily="34" charset="0"/>
                <a:ea typeface="Calibri" pitchFamily="34" charset="-122"/>
                <a:cs typeface="Calibri" pitchFamily="34" charset="-120"/>
              </a:rPr>
              <a:t>65 kWh</a:t>
            </a:r>
            <a:endParaRPr lang="en-US" sz="1900" dirty="0"/>
          </a:p>
        </p:txBody>
      </p:sp>
      <p:sp>
        <p:nvSpPr>
          <p:cNvPr id="13" name="Text 9"/>
          <p:cNvSpPr/>
          <p:nvPr/>
        </p:nvSpPr>
        <p:spPr>
          <a:xfrm>
            <a:off x="6355080" y="2216048"/>
            <a:ext cx="2651760" cy="354787"/>
          </a:xfrm>
          <a:prstGeom prst="rect">
            <a:avLst/>
          </a:prstGeom>
          <a:noFill/>
          <a:ln/>
        </p:spPr>
        <p:txBody>
          <a:bodyPr wrap="square" rtlCol="0" anchor="ctr"/>
          <a:lstStyle/>
          <a:p>
            <a:pPr marL="0" indent="0">
              <a:buNone/>
            </a:pPr>
            <a:r>
              <a:rPr lang="en-US" sz="1000" dirty="0">
                <a:solidFill>
                  <a:srgbClr val="D9EBF0"/>
                </a:solidFill>
                <a:latin typeface="Calibri" pitchFamily="34" charset="0"/>
                <a:ea typeface="Calibri" pitchFamily="34" charset="-122"/>
                <a:cs typeface="Calibri" pitchFamily="34" charset="-120"/>
              </a:rPr>
              <a:t>Peak (September)</a:t>
            </a:r>
            <a:endParaRPr lang="en-US" sz="1000" dirty="0"/>
          </a:p>
        </p:txBody>
      </p:sp>
      <p:sp>
        <p:nvSpPr>
          <p:cNvPr id="14" name="Shape 10"/>
          <p:cNvSpPr/>
          <p:nvPr/>
        </p:nvSpPr>
        <p:spPr>
          <a:xfrm>
            <a:off x="6217920" y="2679192"/>
            <a:ext cx="2880360" cy="886968"/>
          </a:xfrm>
          <a:prstGeom prst="rect">
            <a:avLst/>
          </a:prstGeom>
          <a:solidFill>
            <a:srgbClr val="1A3040"/>
          </a:solidFill>
          <a:ln w="12700">
            <a:solidFill>
              <a:srgbClr val="3498DB"/>
            </a:solidFill>
            <a:prstDash val="solid"/>
          </a:ln>
        </p:spPr>
        <p:txBody>
          <a:bodyPr/>
          <a:lstStyle/>
          <a:p>
            <a:endParaRPr lang="en-US"/>
          </a:p>
        </p:txBody>
      </p:sp>
      <p:sp>
        <p:nvSpPr>
          <p:cNvPr id="15" name="Shape 11"/>
          <p:cNvSpPr/>
          <p:nvPr/>
        </p:nvSpPr>
        <p:spPr>
          <a:xfrm>
            <a:off x="6217920" y="2679192"/>
            <a:ext cx="54864" cy="886968"/>
          </a:xfrm>
          <a:prstGeom prst="rect">
            <a:avLst/>
          </a:prstGeom>
          <a:solidFill>
            <a:srgbClr val="3498DB"/>
          </a:solidFill>
          <a:ln w="12700">
            <a:solidFill>
              <a:srgbClr val="3498DB"/>
            </a:solidFill>
            <a:prstDash val="solid"/>
          </a:ln>
        </p:spPr>
        <p:txBody>
          <a:bodyPr/>
          <a:lstStyle/>
          <a:p>
            <a:endParaRPr lang="en-US"/>
          </a:p>
        </p:txBody>
      </p:sp>
      <p:sp>
        <p:nvSpPr>
          <p:cNvPr id="16" name="Text 12"/>
          <p:cNvSpPr/>
          <p:nvPr/>
        </p:nvSpPr>
        <p:spPr>
          <a:xfrm>
            <a:off x="6355080" y="2715768"/>
            <a:ext cx="2651760" cy="487832"/>
          </a:xfrm>
          <a:prstGeom prst="rect">
            <a:avLst/>
          </a:prstGeom>
          <a:noFill/>
          <a:ln/>
        </p:spPr>
        <p:txBody>
          <a:bodyPr wrap="square" rtlCol="0" anchor="ctr"/>
          <a:lstStyle/>
          <a:p>
            <a:pPr marL="0" indent="0">
              <a:buNone/>
            </a:pPr>
            <a:r>
              <a:rPr lang="en-US" sz="1900" b="1" dirty="0">
                <a:solidFill>
                  <a:srgbClr val="3498DB"/>
                </a:solidFill>
                <a:latin typeface="Calibri" pitchFamily="34" charset="0"/>
                <a:ea typeface="Calibri" pitchFamily="34" charset="-122"/>
                <a:cs typeface="Calibri" pitchFamily="34" charset="-120"/>
              </a:rPr>
              <a:t>12.2 kWh</a:t>
            </a:r>
            <a:endParaRPr lang="en-US" sz="1900" dirty="0"/>
          </a:p>
        </p:txBody>
      </p:sp>
      <p:sp>
        <p:nvSpPr>
          <p:cNvPr id="17" name="Text 13"/>
          <p:cNvSpPr/>
          <p:nvPr/>
        </p:nvSpPr>
        <p:spPr>
          <a:xfrm>
            <a:off x="6355080" y="3167024"/>
            <a:ext cx="2651760" cy="354787"/>
          </a:xfrm>
          <a:prstGeom prst="rect">
            <a:avLst/>
          </a:prstGeom>
          <a:noFill/>
          <a:ln/>
        </p:spPr>
        <p:txBody>
          <a:bodyPr wrap="square" rtlCol="0" anchor="ctr"/>
          <a:lstStyle/>
          <a:p>
            <a:pPr marL="0" indent="0">
              <a:buNone/>
            </a:pPr>
            <a:r>
              <a:rPr lang="en-US" sz="1000" dirty="0">
                <a:solidFill>
                  <a:srgbClr val="D9EBF0"/>
                </a:solidFill>
                <a:latin typeface="Calibri" pitchFamily="34" charset="0"/>
                <a:ea typeface="Calibri" pitchFamily="34" charset="-122"/>
                <a:cs typeface="Calibri" pitchFamily="34" charset="-120"/>
              </a:rPr>
              <a:t>Min (December)</a:t>
            </a:r>
            <a:endParaRPr lang="en-US" sz="1000" dirty="0"/>
          </a:p>
        </p:txBody>
      </p:sp>
      <p:sp>
        <p:nvSpPr>
          <p:cNvPr id="18" name="Shape 14"/>
          <p:cNvSpPr/>
          <p:nvPr/>
        </p:nvSpPr>
        <p:spPr>
          <a:xfrm>
            <a:off x="6217920" y="3630168"/>
            <a:ext cx="2880360" cy="886968"/>
          </a:xfrm>
          <a:prstGeom prst="rect">
            <a:avLst/>
          </a:prstGeom>
          <a:solidFill>
            <a:srgbClr val="1A3040"/>
          </a:solidFill>
          <a:ln w="12700">
            <a:solidFill>
              <a:srgbClr val="9B59B6"/>
            </a:solidFill>
            <a:prstDash val="solid"/>
          </a:ln>
        </p:spPr>
        <p:txBody>
          <a:bodyPr/>
          <a:lstStyle/>
          <a:p>
            <a:endParaRPr lang="en-US"/>
          </a:p>
        </p:txBody>
      </p:sp>
      <p:sp>
        <p:nvSpPr>
          <p:cNvPr id="19" name="Shape 15"/>
          <p:cNvSpPr/>
          <p:nvPr/>
        </p:nvSpPr>
        <p:spPr>
          <a:xfrm>
            <a:off x="6217920" y="3630168"/>
            <a:ext cx="54864" cy="886968"/>
          </a:xfrm>
          <a:prstGeom prst="rect">
            <a:avLst/>
          </a:prstGeom>
          <a:solidFill>
            <a:srgbClr val="9B59B6"/>
          </a:solidFill>
          <a:ln w="12700">
            <a:solidFill>
              <a:srgbClr val="9B59B6"/>
            </a:solidFill>
            <a:prstDash val="solid"/>
          </a:ln>
        </p:spPr>
        <p:txBody>
          <a:bodyPr/>
          <a:lstStyle/>
          <a:p>
            <a:endParaRPr lang="en-US"/>
          </a:p>
        </p:txBody>
      </p:sp>
      <p:sp>
        <p:nvSpPr>
          <p:cNvPr id="20" name="Text 16"/>
          <p:cNvSpPr/>
          <p:nvPr/>
        </p:nvSpPr>
        <p:spPr>
          <a:xfrm>
            <a:off x="6355080" y="3666744"/>
            <a:ext cx="2651760" cy="487832"/>
          </a:xfrm>
          <a:prstGeom prst="rect">
            <a:avLst/>
          </a:prstGeom>
          <a:noFill/>
          <a:ln/>
        </p:spPr>
        <p:txBody>
          <a:bodyPr wrap="square" rtlCol="0" anchor="ctr"/>
          <a:lstStyle/>
          <a:p>
            <a:pPr marL="0" indent="0">
              <a:buNone/>
            </a:pPr>
            <a:r>
              <a:rPr lang="en-US" sz="1900" b="1" dirty="0">
                <a:solidFill>
                  <a:srgbClr val="9B59B6"/>
                </a:solidFill>
                <a:latin typeface="Calibri" pitchFamily="34" charset="0"/>
                <a:ea typeface="Calibri" pitchFamily="34" charset="-122"/>
                <a:cs typeface="Calibri" pitchFamily="34" charset="-120"/>
              </a:rPr>
              <a:t>5.4×</a:t>
            </a:r>
            <a:endParaRPr lang="en-US" sz="1900" dirty="0"/>
          </a:p>
        </p:txBody>
      </p:sp>
      <p:sp>
        <p:nvSpPr>
          <p:cNvPr id="21" name="Text 17"/>
          <p:cNvSpPr/>
          <p:nvPr/>
        </p:nvSpPr>
        <p:spPr>
          <a:xfrm>
            <a:off x="6355080" y="4118000"/>
            <a:ext cx="2651760" cy="354787"/>
          </a:xfrm>
          <a:prstGeom prst="rect">
            <a:avLst/>
          </a:prstGeom>
          <a:noFill/>
          <a:ln/>
        </p:spPr>
        <p:txBody>
          <a:bodyPr wrap="square" rtlCol="0" anchor="ctr"/>
          <a:lstStyle/>
          <a:p>
            <a:pPr marL="0" indent="0">
              <a:buNone/>
            </a:pPr>
            <a:r>
              <a:rPr lang="en-US" sz="1000" dirty="0">
                <a:solidFill>
                  <a:srgbClr val="D9EBF0"/>
                </a:solidFill>
                <a:latin typeface="Calibri" pitchFamily="34" charset="0"/>
                <a:ea typeface="Calibri" pitchFamily="34" charset="-122"/>
                <a:cs typeface="Calibri" pitchFamily="34" charset="-120"/>
              </a:rPr>
              <a:t>Sep vs Dec ratio</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2027"/>
          </a:solidFill>
          <a:ln w="12700">
            <a:solidFill>
              <a:srgbClr val="0F2027"/>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182880" y="109728"/>
            <a:ext cx="384048" cy="384048"/>
          </a:xfrm>
          <a:prstGeom prst="rect">
            <a:avLst/>
          </a:prstGeom>
        </p:spPr>
      </p:pic>
      <p:sp>
        <p:nvSpPr>
          <p:cNvPr id="4" name="Text 1"/>
          <p:cNvSpPr/>
          <p:nvPr/>
        </p:nvSpPr>
        <p:spPr>
          <a:xfrm>
            <a:off x="685800" y="109728"/>
            <a:ext cx="7772400" cy="41148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Results — Daily Production Profile (September)</a:t>
            </a:r>
            <a:endParaRPr lang="en-US" sz="2000" dirty="0"/>
          </a:p>
        </p:txBody>
      </p:sp>
      <p:graphicFrame>
        <p:nvGraphicFramePr>
          <p:cNvPr id="5" name="Chart 0"/>
          <p:cNvGraphicFramePr/>
          <p:nvPr/>
        </p:nvGraphicFramePr>
        <p:xfrm>
          <a:off x="274320" y="777240"/>
          <a:ext cx="6858000" cy="3474720"/>
        </p:xfrm>
        <a:graphic>
          <a:graphicData uri="http://schemas.openxmlformats.org/drawingml/2006/chart">
            <c:chart xmlns:c="http://schemas.openxmlformats.org/drawingml/2006/chart" xmlns:r="http://schemas.openxmlformats.org/officeDocument/2006/relationships" r:id="rId4"/>
          </a:graphicData>
        </a:graphic>
      </p:graphicFrame>
      <p:sp>
        <p:nvSpPr>
          <p:cNvPr id="6" name="Shape 2"/>
          <p:cNvSpPr/>
          <p:nvPr/>
        </p:nvSpPr>
        <p:spPr>
          <a:xfrm>
            <a:off x="274320" y="4389120"/>
            <a:ext cx="4114800" cy="475488"/>
          </a:xfrm>
          <a:prstGeom prst="rect">
            <a:avLst/>
          </a:prstGeom>
          <a:solidFill>
            <a:srgbClr val="E8F4F8"/>
          </a:solidFill>
          <a:ln w="19050">
            <a:solidFill>
              <a:srgbClr val="2ECC71"/>
            </a:solidFill>
            <a:prstDash val="solid"/>
          </a:ln>
        </p:spPr>
        <p:txBody>
          <a:bodyPr/>
          <a:lstStyle/>
          <a:p>
            <a:endParaRPr lang="en-US"/>
          </a:p>
        </p:txBody>
      </p:sp>
      <p:sp>
        <p:nvSpPr>
          <p:cNvPr id="7" name="Text 3"/>
          <p:cNvSpPr/>
          <p:nvPr/>
        </p:nvSpPr>
        <p:spPr>
          <a:xfrm>
            <a:off x="365760" y="4389120"/>
            <a:ext cx="3931920" cy="475488"/>
          </a:xfrm>
          <a:prstGeom prst="rect">
            <a:avLst/>
          </a:prstGeom>
          <a:noFill/>
          <a:ln/>
        </p:spPr>
        <p:txBody>
          <a:bodyPr wrap="square" rtlCol="0" anchor="ctr"/>
          <a:lstStyle/>
          <a:p>
            <a:pPr marL="0" indent="0">
              <a:buNone/>
            </a:pPr>
            <a:r>
              <a:rPr lang="en-US" sz="1100" b="1" dirty="0">
                <a:solidFill>
                  <a:srgbClr val="2ECC71"/>
                </a:solidFill>
                <a:latin typeface="Calibri" pitchFamily="34" charset="0"/>
                <a:ea typeface="Calibri" pitchFamily="34" charset="-122"/>
                <a:cs typeface="Calibri" pitchFamily="34" charset="-120"/>
              </a:rPr>
              <a:t xml:space="preserve">Peak days: </a:t>
            </a:r>
            <a:r>
              <a:rPr lang="en-US" sz="1100" dirty="0">
                <a:solidFill>
                  <a:srgbClr val="333333"/>
                </a:solidFill>
                <a:latin typeface="Calibri" pitchFamily="34" charset="0"/>
                <a:ea typeface="Calibri" pitchFamily="34" charset="-122"/>
                <a:cs typeface="Calibri" pitchFamily="34" charset="-120"/>
              </a:rPr>
              <a:t>Up to ~3.5 kWh/day on sunny days</a:t>
            </a:r>
            <a:endParaRPr lang="en-US" sz="1100" dirty="0"/>
          </a:p>
        </p:txBody>
      </p:sp>
      <p:sp>
        <p:nvSpPr>
          <p:cNvPr id="8" name="Shape 4"/>
          <p:cNvSpPr/>
          <p:nvPr/>
        </p:nvSpPr>
        <p:spPr>
          <a:xfrm>
            <a:off x="4846320" y="4389120"/>
            <a:ext cx="4114800" cy="475488"/>
          </a:xfrm>
          <a:prstGeom prst="rect">
            <a:avLst/>
          </a:prstGeom>
          <a:solidFill>
            <a:srgbClr val="E8F4F8"/>
          </a:solidFill>
          <a:ln w="19050">
            <a:solidFill>
              <a:srgbClr val="E74C3C"/>
            </a:solidFill>
            <a:prstDash val="solid"/>
          </a:ln>
        </p:spPr>
        <p:txBody>
          <a:bodyPr/>
          <a:lstStyle/>
          <a:p>
            <a:endParaRPr lang="en-US"/>
          </a:p>
        </p:txBody>
      </p:sp>
      <p:sp>
        <p:nvSpPr>
          <p:cNvPr id="9" name="Text 5"/>
          <p:cNvSpPr/>
          <p:nvPr/>
        </p:nvSpPr>
        <p:spPr>
          <a:xfrm>
            <a:off x="4937760" y="4389120"/>
            <a:ext cx="3931920" cy="475488"/>
          </a:xfrm>
          <a:prstGeom prst="rect">
            <a:avLst/>
          </a:prstGeom>
          <a:noFill/>
          <a:ln/>
        </p:spPr>
        <p:txBody>
          <a:bodyPr wrap="square" rtlCol="0" anchor="ctr"/>
          <a:lstStyle/>
          <a:p>
            <a:pPr marL="0" indent="0">
              <a:buNone/>
            </a:pPr>
            <a:r>
              <a:rPr lang="en-US" sz="1100" b="1" dirty="0">
                <a:solidFill>
                  <a:srgbClr val="E74C3C"/>
                </a:solidFill>
                <a:latin typeface="Calibri" pitchFamily="34" charset="0"/>
                <a:ea typeface="Calibri" pitchFamily="34" charset="-122"/>
                <a:cs typeface="Calibri" pitchFamily="34" charset="-120"/>
              </a:rPr>
              <a:t xml:space="preserve">Poor days: </a:t>
            </a:r>
            <a:r>
              <a:rPr lang="en-US" sz="1100" dirty="0">
                <a:solidFill>
                  <a:srgbClr val="333333"/>
                </a:solidFill>
                <a:latin typeface="Calibri" pitchFamily="34" charset="0"/>
                <a:ea typeface="Calibri" pitchFamily="34" charset="-122"/>
                <a:cs typeface="Calibri" pitchFamily="34" charset="-120"/>
              </a:rPr>
              <a:t>&lt; 1 kWh on overcast/cloudy days</a:t>
            </a:r>
            <a:endParaRPr lang="en-US" sz="1100" dirty="0"/>
          </a:p>
        </p:txBody>
      </p:sp>
      <p:sp>
        <p:nvSpPr>
          <p:cNvPr id="10" name="Shape 6"/>
          <p:cNvSpPr/>
          <p:nvPr/>
        </p:nvSpPr>
        <p:spPr>
          <a:xfrm>
            <a:off x="7315200" y="822960"/>
            <a:ext cx="1691640" cy="822960"/>
          </a:xfrm>
          <a:prstGeom prst="rect">
            <a:avLst/>
          </a:prstGeom>
          <a:solidFill>
            <a:srgbClr val="E8F4F8"/>
          </a:solidFill>
          <a:ln w="12700">
            <a:solidFill>
              <a:srgbClr val="F5A623"/>
            </a:solidFill>
            <a:prstDash val="solid"/>
          </a:ln>
        </p:spPr>
        <p:txBody>
          <a:bodyPr/>
          <a:lstStyle/>
          <a:p>
            <a:endParaRPr lang="en-US"/>
          </a:p>
        </p:txBody>
      </p:sp>
      <p:sp>
        <p:nvSpPr>
          <p:cNvPr id="11" name="Text 7"/>
          <p:cNvSpPr/>
          <p:nvPr/>
        </p:nvSpPr>
        <p:spPr>
          <a:xfrm>
            <a:off x="7315200" y="859536"/>
            <a:ext cx="1691640" cy="411480"/>
          </a:xfrm>
          <a:prstGeom prst="rect">
            <a:avLst/>
          </a:prstGeom>
          <a:noFill/>
          <a:ln/>
        </p:spPr>
        <p:txBody>
          <a:bodyPr wrap="square" rtlCol="0" anchor="ctr"/>
          <a:lstStyle/>
          <a:p>
            <a:pPr marL="0" indent="0" algn="ctr">
              <a:buNone/>
            </a:pPr>
            <a:r>
              <a:rPr lang="en-US" sz="1400" b="1" dirty="0">
                <a:solidFill>
                  <a:srgbClr val="F5A623"/>
                </a:solidFill>
                <a:latin typeface="Calibri" pitchFamily="34" charset="0"/>
                <a:ea typeface="Calibri" pitchFamily="34" charset="-122"/>
                <a:cs typeface="Calibri" pitchFamily="34" charset="-120"/>
              </a:rPr>
              <a:t>~3.5 kWh</a:t>
            </a:r>
            <a:endParaRPr lang="en-US" sz="1400" dirty="0"/>
          </a:p>
        </p:txBody>
      </p:sp>
      <p:sp>
        <p:nvSpPr>
          <p:cNvPr id="12" name="Text 8"/>
          <p:cNvSpPr/>
          <p:nvPr/>
        </p:nvSpPr>
        <p:spPr>
          <a:xfrm>
            <a:off x="7315200" y="1234440"/>
            <a:ext cx="1691640" cy="365760"/>
          </a:xfrm>
          <a:prstGeom prst="rect">
            <a:avLst/>
          </a:prstGeom>
          <a:noFill/>
          <a:ln/>
        </p:spPr>
        <p:txBody>
          <a:bodyPr wrap="square" rtlCol="0" anchor="ctr"/>
          <a:lstStyle/>
          <a:p>
            <a:pPr marL="0" indent="0" algn="ctr">
              <a:buNone/>
            </a:pPr>
            <a:r>
              <a:rPr lang="en-US" sz="950" dirty="0">
                <a:solidFill>
                  <a:srgbClr val="555555"/>
                </a:solidFill>
                <a:latin typeface="Calibri" pitchFamily="34" charset="0"/>
                <a:ea typeface="Calibri" pitchFamily="34" charset="-122"/>
                <a:cs typeface="Calibri" pitchFamily="34" charset="-120"/>
              </a:rPr>
              <a:t>Best day (Sep)</a:t>
            </a:r>
            <a:endParaRPr lang="en-US" sz="950" dirty="0"/>
          </a:p>
        </p:txBody>
      </p:sp>
      <p:sp>
        <p:nvSpPr>
          <p:cNvPr id="13" name="Shape 9"/>
          <p:cNvSpPr/>
          <p:nvPr/>
        </p:nvSpPr>
        <p:spPr>
          <a:xfrm>
            <a:off x="7315200" y="1755648"/>
            <a:ext cx="1691640" cy="822960"/>
          </a:xfrm>
          <a:prstGeom prst="rect">
            <a:avLst/>
          </a:prstGeom>
          <a:solidFill>
            <a:srgbClr val="E8F4F8"/>
          </a:solidFill>
          <a:ln w="12700">
            <a:solidFill>
              <a:srgbClr val="F5A623"/>
            </a:solidFill>
            <a:prstDash val="solid"/>
          </a:ln>
        </p:spPr>
        <p:txBody>
          <a:bodyPr/>
          <a:lstStyle/>
          <a:p>
            <a:endParaRPr lang="en-US"/>
          </a:p>
        </p:txBody>
      </p:sp>
      <p:sp>
        <p:nvSpPr>
          <p:cNvPr id="14" name="Text 10"/>
          <p:cNvSpPr/>
          <p:nvPr/>
        </p:nvSpPr>
        <p:spPr>
          <a:xfrm>
            <a:off x="7315200" y="1792224"/>
            <a:ext cx="1691640" cy="411480"/>
          </a:xfrm>
          <a:prstGeom prst="rect">
            <a:avLst/>
          </a:prstGeom>
          <a:noFill/>
          <a:ln/>
        </p:spPr>
        <p:txBody>
          <a:bodyPr wrap="square" rtlCol="0" anchor="ctr"/>
          <a:lstStyle/>
          <a:p>
            <a:pPr marL="0" indent="0" algn="ctr">
              <a:buNone/>
            </a:pPr>
            <a:r>
              <a:rPr lang="en-US" sz="1400" b="1" dirty="0">
                <a:solidFill>
                  <a:srgbClr val="F5A623"/>
                </a:solidFill>
                <a:latin typeface="Calibri" pitchFamily="34" charset="0"/>
                <a:ea typeface="Calibri" pitchFamily="34" charset="-122"/>
                <a:cs typeface="Calibri" pitchFamily="34" charset="-120"/>
              </a:rPr>
              <a:t>&lt; 0.5 kWh</a:t>
            </a:r>
            <a:endParaRPr lang="en-US" sz="1400" dirty="0"/>
          </a:p>
        </p:txBody>
      </p:sp>
      <p:sp>
        <p:nvSpPr>
          <p:cNvPr id="15" name="Text 11"/>
          <p:cNvSpPr/>
          <p:nvPr/>
        </p:nvSpPr>
        <p:spPr>
          <a:xfrm>
            <a:off x="7315200" y="2167128"/>
            <a:ext cx="1691640" cy="365760"/>
          </a:xfrm>
          <a:prstGeom prst="rect">
            <a:avLst/>
          </a:prstGeom>
          <a:noFill/>
          <a:ln/>
        </p:spPr>
        <p:txBody>
          <a:bodyPr wrap="square" rtlCol="0" anchor="ctr"/>
          <a:lstStyle/>
          <a:p>
            <a:pPr marL="0" indent="0" algn="ctr">
              <a:buNone/>
            </a:pPr>
            <a:r>
              <a:rPr lang="en-US" sz="950" dirty="0">
                <a:solidFill>
                  <a:srgbClr val="555555"/>
                </a:solidFill>
                <a:latin typeface="Calibri" pitchFamily="34" charset="0"/>
                <a:ea typeface="Calibri" pitchFamily="34" charset="-122"/>
                <a:cs typeface="Calibri" pitchFamily="34" charset="-120"/>
              </a:rPr>
              <a:t>Worst winter days</a:t>
            </a:r>
            <a:endParaRPr lang="en-US" sz="950" dirty="0"/>
          </a:p>
        </p:txBody>
      </p:sp>
      <p:sp>
        <p:nvSpPr>
          <p:cNvPr id="16" name="Shape 12"/>
          <p:cNvSpPr/>
          <p:nvPr/>
        </p:nvSpPr>
        <p:spPr>
          <a:xfrm>
            <a:off x="7315200" y="2688336"/>
            <a:ext cx="1691640" cy="822960"/>
          </a:xfrm>
          <a:prstGeom prst="rect">
            <a:avLst/>
          </a:prstGeom>
          <a:solidFill>
            <a:srgbClr val="E8F4F8"/>
          </a:solidFill>
          <a:ln w="12700">
            <a:solidFill>
              <a:srgbClr val="F5A623"/>
            </a:solidFill>
            <a:prstDash val="solid"/>
          </a:ln>
        </p:spPr>
        <p:txBody>
          <a:bodyPr/>
          <a:lstStyle/>
          <a:p>
            <a:endParaRPr lang="en-US"/>
          </a:p>
        </p:txBody>
      </p:sp>
      <p:sp>
        <p:nvSpPr>
          <p:cNvPr id="17" name="Text 13"/>
          <p:cNvSpPr/>
          <p:nvPr/>
        </p:nvSpPr>
        <p:spPr>
          <a:xfrm>
            <a:off x="7315200" y="2724912"/>
            <a:ext cx="1691640" cy="411480"/>
          </a:xfrm>
          <a:prstGeom prst="rect">
            <a:avLst/>
          </a:prstGeom>
          <a:noFill/>
          <a:ln/>
        </p:spPr>
        <p:txBody>
          <a:bodyPr wrap="square" rtlCol="0" anchor="ctr"/>
          <a:lstStyle/>
          <a:p>
            <a:pPr marL="0" indent="0" algn="ctr">
              <a:buNone/>
            </a:pPr>
            <a:r>
              <a:rPr lang="en-US" sz="1400" b="1" dirty="0">
                <a:solidFill>
                  <a:srgbClr val="F5A623"/>
                </a:solidFill>
                <a:latin typeface="Calibri" pitchFamily="34" charset="0"/>
                <a:ea typeface="Calibri" pitchFamily="34" charset="-122"/>
                <a:cs typeface="Calibri" pitchFamily="34" charset="-120"/>
              </a:rPr>
              <a:t>Weather</a:t>
            </a:r>
            <a:endParaRPr lang="en-US" sz="1400" dirty="0"/>
          </a:p>
        </p:txBody>
      </p:sp>
      <p:sp>
        <p:nvSpPr>
          <p:cNvPr id="18" name="Text 14"/>
          <p:cNvSpPr/>
          <p:nvPr/>
        </p:nvSpPr>
        <p:spPr>
          <a:xfrm>
            <a:off x="7315200" y="3099816"/>
            <a:ext cx="1691640" cy="365760"/>
          </a:xfrm>
          <a:prstGeom prst="rect">
            <a:avLst/>
          </a:prstGeom>
          <a:noFill/>
          <a:ln/>
        </p:spPr>
        <p:txBody>
          <a:bodyPr wrap="square" rtlCol="0" anchor="ctr"/>
          <a:lstStyle/>
          <a:p>
            <a:pPr marL="0" indent="0" algn="ctr">
              <a:buNone/>
            </a:pPr>
            <a:r>
              <a:rPr lang="en-US" sz="950" dirty="0">
                <a:solidFill>
                  <a:srgbClr val="555555"/>
                </a:solidFill>
                <a:latin typeface="Calibri" pitchFamily="34" charset="0"/>
                <a:ea typeface="Calibri" pitchFamily="34" charset="-122"/>
                <a:cs typeface="Calibri" pitchFamily="34" charset="-120"/>
              </a:rPr>
              <a:t>dominant factor</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027"/>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03A43"/>
          </a:solidFill>
          <a:ln w="12700">
            <a:solidFill>
              <a:srgbClr val="203A43"/>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182880" y="109728"/>
            <a:ext cx="384048" cy="384048"/>
          </a:xfrm>
          <a:prstGeom prst="rect">
            <a:avLst/>
          </a:prstGeom>
        </p:spPr>
      </p:pic>
      <p:sp>
        <p:nvSpPr>
          <p:cNvPr id="4" name="Text 1"/>
          <p:cNvSpPr/>
          <p:nvPr/>
        </p:nvSpPr>
        <p:spPr>
          <a:xfrm>
            <a:off x="685800" y="109728"/>
            <a:ext cx="7772400" cy="41148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Performance Metrics</a:t>
            </a:r>
            <a:endParaRPr lang="en-US" sz="2000" dirty="0"/>
          </a:p>
        </p:txBody>
      </p:sp>
      <p:sp>
        <p:nvSpPr>
          <p:cNvPr id="5" name="Shape 2"/>
          <p:cNvSpPr/>
          <p:nvPr/>
        </p:nvSpPr>
        <p:spPr>
          <a:xfrm>
            <a:off x="274320" y="777240"/>
            <a:ext cx="4114800" cy="1783080"/>
          </a:xfrm>
          <a:prstGeom prst="rect">
            <a:avLst/>
          </a:prstGeom>
          <a:solidFill>
            <a:srgbClr val="1A3040"/>
          </a:solidFill>
          <a:ln w="19050">
            <a:solidFill>
              <a:srgbClr val="F5A623"/>
            </a:solidFill>
            <a:prstDash val="solid"/>
          </a:ln>
        </p:spPr>
        <p:txBody>
          <a:bodyPr/>
          <a:lstStyle/>
          <a:p>
            <a:endParaRPr lang="en-US"/>
          </a:p>
        </p:txBody>
      </p:sp>
      <p:sp>
        <p:nvSpPr>
          <p:cNvPr id="6" name="Shape 3"/>
          <p:cNvSpPr/>
          <p:nvPr/>
        </p:nvSpPr>
        <p:spPr>
          <a:xfrm>
            <a:off x="274320" y="777240"/>
            <a:ext cx="4114800" cy="411480"/>
          </a:xfrm>
          <a:prstGeom prst="rect">
            <a:avLst/>
          </a:prstGeom>
          <a:solidFill>
            <a:srgbClr val="F5A623"/>
          </a:solidFill>
          <a:ln w="12700">
            <a:solidFill>
              <a:srgbClr val="F5A623"/>
            </a:solidFill>
            <a:prstDash val="solid"/>
          </a:ln>
        </p:spPr>
        <p:txBody>
          <a:bodyPr/>
          <a:lstStyle/>
          <a:p>
            <a:endParaRPr lang="en-US"/>
          </a:p>
        </p:txBody>
      </p:sp>
      <p:sp>
        <p:nvSpPr>
          <p:cNvPr id="7" name="Text 4"/>
          <p:cNvSpPr/>
          <p:nvPr/>
        </p:nvSpPr>
        <p:spPr>
          <a:xfrm>
            <a:off x="274320" y="777240"/>
            <a:ext cx="4114800" cy="411480"/>
          </a:xfrm>
          <a:prstGeom prst="rect">
            <a:avLst/>
          </a:prstGeom>
          <a:noFill/>
          <a:ln/>
        </p:spPr>
        <p:txBody>
          <a:bodyPr wrap="square" rtlCol="0" anchor="ctr"/>
          <a:lstStyle/>
          <a:p>
            <a:pPr marL="0" indent="0" algn="ctr">
              <a:buNone/>
            </a:pPr>
            <a:r>
              <a:rPr lang="en-US" sz="1200" b="1" dirty="0">
                <a:solidFill>
                  <a:srgbClr val="0F2027"/>
                </a:solidFill>
                <a:latin typeface="Calibri" pitchFamily="34" charset="0"/>
                <a:ea typeface="Calibri" pitchFamily="34" charset="-122"/>
                <a:cs typeface="Calibri" pitchFamily="34" charset="-120"/>
              </a:rPr>
              <a:t>Financial Savings</a:t>
            </a:r>
            <a:endParaRPr lang="en-US" sz="1200" dirty="0"/>
          </a:p>
        </p:txBody>
      </p:sp>
      <p:sp>
        <p:nvSpPr>
          <p:cNvPr id="8" name="Text 5"/>
          <p:cNvSpPr/>
          <p:nvPr/>
        </p:nvSpPr>
        <p:spPr>
          <a:xfrm>
            <a:off x="274320" y="1216152"/>
            <a:ext cx="4114800" cy="594360"/>
          </a:xfrm>
          <a:prstGeom prst="rect">
            <a:avLst/>
          </a:prstGeom>
          <a:noFill/>
          <a:ln/>
        </p:spPr>
        <p:txBody>
          <a:bodyPr wrap="square" rtlCol="0" anchor="ctr"/>
          <a:lstStyle/>
          <a:p>
            <a:pPr marL="0" indent="0" algn="ctr">
              <a:buNone/>
            </a:pPr>
            <a:r>
              <a:rPr lang="en-US" sz="2800" b="1" dirty="0">
                <a:solidFill>
                  <a:srgbClr val="F5A623"/>
                </a:solidFill>
                <a:latin typeface="Calibri" pitchFamily="34" charset="0"/>
                <a:ea typeface="Calibri" pitchFamily="34" charset="-122"/>
                <a:cs typeface="Calibri" pitchFamily="34" charset="-120"/>
              </a:rPr>
              <a:t>53.58 CHF</a:t>
            </a:r>
            <a:endParaRPr lang="en-US" sz="2800" dirty="0"/>
          </a:p>
        </p:txBody>
      </p:sp>
      <p:sp>
        <p:nvSpPr>
          <p:cNvPr id="9" name="Text 6"/>
          <p:cNvSpPr/>
          <p:nvPr/>
        </p:nvSpPr>
        <p:spPr>
          <a:xfrm>
            <a:off x="365760" y="1828800"/>
            <a:ext cx="3931920" cy="256032"/>
          </a:xfrm>
          <a:prstGeom prst="rect">
            <a:avLst/>
          </a:prstGeom>
          <a:noFill/>
          <a:ln/>
        </p:spPr>
        <p:txBody>
          <a:bodyPr wrap="square" rtlCol="0" anchor="ctr"/>
          <a:lstStyle/>
          <a:p>
            <a:pPr marL="0" indent="0" algn="ctr">
              <a:buNone/>
            </a:pPr>
            <a:r>
              <a:rPr lang="en-US" sz="1000" i="1" dirty="0">
                <a:solidFill>
                  <a:srgbClr val="8EAEBE"/>
                </a:solidFill>
                <a:latin typeface="Calibri" pitchFamily="34" charset="0"/>
                <a:ea typeface="Calibri" pitchFamily="34" charset="-122"/>
                <a:cs typeface="Calibri" pitchFamily="34" charset="-120"/>
              </a:rPr>
              <a:t>178.6 kWh × 0.30 CHF/kWh</a:t>
            </a:r>
            <a:endParaRPr lang="en-US" sz="1000" dirty="0"/>
          </a:p>
        </p:txBody>
      </p:sp>
      <p:sp>
        <p:nvSpPr>
          <p:cNvPr id="10" name="Text 7"/>
          <p:cNvSpPr/>
          <p:nvPr/>
        </p:nvSpPr>
        <p:spPr>
          <a:xfrm>
            <a:off x="365760" y="2231136"/>
            <a:ext cx="3931920" cy="292608"/>
          </a:xfrm>
          <a:prstGeom prst="rect">
            <a:avLst/>
          </a:prstGeom>
          <a:noFill/>
          <a:ln/>
        </p:spPr>
        <p:txBody>
          <a:bodyPr wrap="square" rtlCol="0" anchor="ctr"/>
          <a:lstStyle/>
          <a:p>
            <a:pPr marL="0" indent="0" algn="ctr">
              <a:buNone/>
            </a:pPr>
            <a:r>
              <a:rPr lang="en-US" sz="900" dirty="0">
                <a:solidFill>
                  <a:srgbClr val="D9EBF0"/>
                </a:solidFill>
                <a:latin typeface="Calibri" pitchFamily="34" charset="0"/>
                <a:ea typeface="Calibri" pitchFamily="34" charset="-122"/>
                <a:cs typeface="Calibri" pitchFamily="34" charset="-120"/>
              </a:rPr>
              <a:t>Based on Swiss residential tariff (ElCom 2024)</a:t>
            </a:r>
            <a:endParaRPr lang="en-US" sz="900" dirty="0"/>
          </a:p>
        </p:txBody>
      </p:sp>
      <p:sp>
        <p:nvSpPr>
          <p:cNvPr id="11" name="Shape 8"/>
          <p:cNvSpPr/>
          <p:nvPr/>
        </p:nvSpPr>
        <p:spPr>
          <a:xfrm>
            <a:off x="4754880" y="777240"/>
            <a:ext cx="4114800" cy="1783080"/>
          </a:xfrm>
          <a:prstGeom prst="rect">
            <a:avLst/>
          </a:prstGeom>
          <a:solidFill>
            <a:srgbClr val="1A3040"/>
          </a:solidFill>
          <a:ln w="19050">
            <a:solidFill>
              <a:srgbClr val="2ECC71"/>
            </a:solidFill>
            <a:prstDash val="solid"/>
          </a:ln>
        </p:spPr>
        <p:txBody>
          <a:bodyPr/>
          <a:lstStyle/>
          <a:p>
            <a:endParaRPr lang="en-US"/>
          </a:p>
        </p:txBody>
      </p:sp>
      <p:sp>
        <p:nvSpPr>
          <p:cNvPr id="12" name="Shape 9"/>
          <p:cNvSpPr/>
          <p:nvPr/>
        </p:nvSpPr>
        <p:spPr>
          <a:xfrm>
            <a:off x="4754880" y="777240"/>
            <a:ext cx="4114800" cy="411480"/>
          </a:xfrm>
          <a:prstGeom prst="rect">
            <a:avLst/>
          </a:prstGeom>
          <a:solidFill>
            <a:srgbClr val="2ECC71"/>
          </a:solidFill>
          <a:ln w="12700">
            <a:solidFill>
              <a:srgbClr val="2ECC71"/>
            </a:solidFill>
            <a:prstDash val="solid"/>
          </a:ln>
        </p:spPr>
        <p:txBody>
          <a:bodyPr/>
          <a:lstStyle/>
          <a:p>
            <a:endParaRPr lang="en-US"/>
          </a:p>
        </p:txBody>
      </p:sp>
      <p:sp>
        <p:nvSpPr>
          <p:cNvPr id="13" name="Text 10"/>
          <p:cNvSpPr/>
          <p:nvPr/>
        </p:nvSpPr>
        <p:spPr>
          <a:xfrm>
            <a:off x="4754880" y="777240"/>
            <a:ext cx="4114800" cy="411480"/>
          </a:xfrm>
          <a:prstGeom prst="rect">
            <a:avLst/>
          </a:prstGeom>
          <a:noFill/>
          <a:ln/>
        </p:spPr>
        <p:txBody>
          <a:bodyPr wrap="square" rtlCol="0" anchor="ctr"/>
          <a:lstStyle/>
          <a:p>
            <a:pPr marL="0" indent="0" algn="ctr">
              <a:buNone/>
            </a:pPr>
            <a:r>
              <a:rPr lang="en-US" sz="1200" b="1" dirty="0">
                <a:solidFill>
                  <a:srgbClr val="0F2027"/>
                </a:solidFill>
                <a:latin typeface="Calibri" pitchFamily="34" charset="0"/>
                <a:ea typeface="Calibri" pitchFamily="34" charset="-122"/>
                <a:cs typeface="Calibri" pitchFamily="34" charset="-120"/>
              </a:rPr>
              <a:t>CO₂ Emission Avoided</a:t>
            </a:r>
            <a:endParaRPr lang="en-US" sz="1200" dirty="0"/>
          </a:p>
        </p:txBody>
      </p:sp>
      <p:sp>
        <p:nvSpPr>
          <p:cNvPr id="14" name="Text 11"/>
          <p:cNvSpPr/>
          <p:nvPr/>
        </p:nvSpPr>
        <p:spPr>
          <a:xfrm>
            <a:off x="4754880" y="1216152"/>
            <a:ext cx="4114800" cy="594360"/>
          </a:xfrm>
          <a:prstGeom prst="rect">
            <a:avLst/>
          </a:prstGeom>
          <a:noFill/>
          <a:ln/>
        </p:spPr>
        <p:txBody>
          <a:bodyPr wrap="square" rtlCol="0" anchor="ctr"/>
          <a:lstStyle/>
          <a:p>
            <a:pPr marL="0" indent="0" algn="ctr">
              <a:buNone/>
            </a:pPr>
            <a:r>
              <a:rPr lang="en-US" sz="2800" b="1" dirty="0">
                <a:solidFill>
                  <a:srgbClr val="2ECC71"/>
                </a:solidFill>
                <a:latin typeface="Calibri" pitchFamily="34" charset="0"/>
                <a:ea typeface="Calibri" pitchFamily="34" charset="-122"/>
                <a:cs typeface="Calibri" pitchFamily="34" charset="-120"/>
              </a:rPr>
              <a:t>17.86 kg CO₂</a:t>
            </a:r>
            <a:endParaRPr lang="en-US" sz="2800" dirty="0"/>
          </a:p>
        </p:txBody>
      </p:sp>
      <p:sp>
        <p:nvSpPr>
          <p:cNvPr id="15" name="Text 12"/>
          <p:cNvSpPr/>
          <p:nvPr/>
        </p:nvSpPr>
        <p:spPr>
          <a:xfrm>
            <a:off x="4846320" y="1828800"/>
            <a:ext cx="3931920" cy="256032"/>
          </a:xfrm>
          <a:prstGeom prst="rect">
            <a:avLst/>
          </a:prstGeom>
          <a:noFill/>
          <a:ln/>
        </p:spPr>
        <p:txBody>
          <a:bodyPr wrap="square" rtlCol="0" anchor="ctr"/>
          <a:lstStyle/>
          <a:p>
            <a:pPr marL="0" indent="0" algn="ctr">
              <a:buNone/>
            </a:pPr>
            <a:r>
              <a:rPr lang="en-US" sz="1000" i="1" dirty="0">
                <a:solidFill>
                  <a:srgbClr val="8EAEBE"/>
                </a:solidFill>
                <a:latin typeface="Calibri" pitchFamily="34" charset="0"/>
                <a:ea typeface="Calibri" pitchFamily="34" charset="-122"/>
                <a:cs typeface="Calibri" pitchFamily="34" charset="-120"/>
              </a:rPr>
              <a:t>178.6 kWh × 100 g CO₂/kWh</a:t>
            </a:r>
            <a:endParaRPr lang="en-US" sz="1000" dirty="0"/>
          </a:p>
        </p:txBody>
      </p:sp>
      <p:sp>
        <p:nvSpPr>
          <p:cNvPr id="16" name="Text 13"/>
          <p:cNvSpPr/>
          <p:nvPr/>
        </p:nvSpPr>
        <p:spPr>
          <a:xfrm>
            <a:off x="4846320" y="2231136"/>
            <a:ext cx="3931920" cy="292608"/>
          </a:xfrm>
          <a:prstGeom prst="rect">
            <a:avLst/>
          </a:prstGeom>
          <a:noFill/>
          <a:ln/>
        </p:spPr>
        <p:txBody>
          <a:bodyPr wrap="square" rtlCol="0" anchor="ctr"/>
          <a:lstStyle/>
          <a:p>
            <a:pPr marL="0" indent="0" algn="ctr">
              <a:buNone/>
            </a:pPr>
            <a:r>
              <a:rPr lang="en-US" sz="900" dirty="0">
                <a:solidFill>
                  <a:srgbClr val="D9EBF0"/>
                </a:solidFill>
                <a:latin typeface="Calibri" pitchFamily="34" charset="0"/>
                <a:ea typeface="Calibri" pitchFamily="34" charset="-122"/>
                <a:cs typeface="Calibri" pitchFamily="34" charset="-120"/>
              </a:rPr>
              <a:t>Swiss electricity mix emission factor (treeze 2021)</a:t>
            </a:r>
            <a:endParaRPr lang="en-US" sz="900" dirty="0"/>
          </a:p>
        </p:txBody>
      </p:sp>
      <p:sp>
        <p:nvSpPr>
          <p:cNvPr id="17" name="Shape 14"/>
          <p:cNvSpPr/>
          <p:nvPr/>
        </p:nvSpPr>
        <p:spPr>
          <a:xfrm>
            <a:off x="274320" y="2651760"/>
            <a:ext cx="4114800" cy="1783080"/>
          </a:xfrm>
          <a:prstGeom prst="rect">
            <a:avLst/>
          </a:prstGeom>
          <a:solidFill>
            <a:srgbClr val="1A3040"/>
          </a:solidFill>
          <a:ln w="19050">
            <a:solidFill>
              <a:srgbClr val="3498DB"/>
            </a:solidFill>
            <a:prstDash val="solid"/>
          </a:ln>
        </p:spPr>
        <p:txBody>
          <a:bodyPr/>
          <a:lstStyle/>
          <a:p>
            <a:endParaRPr lang="en-US"/>
          </a:p>
        </p:txBody>
      </p:sp>
      <p:sp>
        <p:nvSpPr>
          <p:cNvPr id="18" name="Shape 15"/>
          <p:cNvSpPr/>
          <p:nvPr/>
        </p:nvSpPr>
        <p:spPr>
          <a:xfrm>
            <a:off x="274320" y="2651760"/>
            <a:ext cx="4114800" cy="411480"/>
          </a:xfrm>
          <a:prstGeom prst="rect">
            <a:avLst/>
          </a:prstGeom>
          <a:solidFill>
            <a:srgbClr val="3498DB"/>
          </a:solidFill>
          <a:ln w="12700">
            <a:solidFill>
              <a:srgbClr val="3498DB"/>
            </a:solidFill>
            <a:prstDash val="solid"/>
          </a:ln>
        </p:spPr>
        <p:txBody>
          <a:bodyPr/>
          <a:lstStyle/>
          <a:p>
            <a:endParaRPr lang="en-US"/>
          </a:p>
        </p:txBody>
      </p:sp>
      <p:sp>
        <p:nvSpPr>
          <p:cNvPr id="19" name="Text 16"/>
          <p:cNvSpPr/>
          <p:nvPr/>
        </p:nvSpPr>
        <p:spPr>
          <a:xfrm>
            <a:off x="274320" y="2651760"/>
            <a:ext cx="4114800" cy="411480"/>
          </a:xfrm>
          <a:prstGeom prst="rect">
            <a:avLst/>
          </a:prstGeom>
          <a:noFill/>
          <a:ln/>
        </p:spPr>
        <p:txBody>
          <a:bodyPr wrap="square" rtlCol="0" anchor="ctr"/>
          <a:lstStyle/>
          <a:p>
            <a:pPr marL="0" indent="0" algn="ctr">
              <a:buNone/>
            </a:pPr>
            <a:r>
              <a:rPr lang="en-US" sz="1200" b="1" dirty="0">
                <a:solidFill>
                  <a:srgbClr val="0F2027"/>
                </a:solidFill>
                <a:latin typeface="Calibri" pitchFamily="34" charset="0"/>
                <a:ea typeface="Calibri" pitchFamily="34" charset="-122"/>
                <a:cs typeface="Calibri" pitchFamily="34" charset="-120"/>
              </a:rPr>
              <a:t>Specific Yield</a:t>
            </a:r>
            <a:endParaRPr lang="en-US" sz="1200" dirty="0"/>
          </a:p>
        </p:txBody>
      </p:sp>
      <p:sp>
        <p:nvSpPr>
          <p:cNvPr id="20" name="Text 17"/>
          <p:cNvSpPr/>
          <p:nvPr/>
        </p:nvSpPr>
        <p:spPr>
          <a:xfrm>
            <a:off x="274320" y="3090672"/>
            <a:ext cx="4114800" cy="594360"/>
          </a:xfrm>
          <a:prstGeom prst="rect">
            <a:avLst/>
          </a:prstGeom>
          <a:noFill/>
          <a:ln/>
        </p:spPr>
        <p:txBody>
          <a:bodyPr wrap="square" rtlCol="0" anchor="ctr"/>
          <a:lstStyle/>
          <a:p>
            <a:pPr marL="0" indent="0" algn="ctr">
              <a:buNone/>
            </a:pPr>
            <a:r>
              <a:rPr lang="en-US" sz="2800" b="1" dirty="0">
                <a:solidFill>
                  <a:srgbClr val="3498DB"/>
                </a:solidFill>
                <a:latin typeface="Calibri" pitchFamily="34" charset="0"/>
                <a:ea typeface="Calibri" pitchFamily="34" charset="-122"/>
                <a:cs typeface="Calibri" pitchFamily="34" charset="-120"/>
              </a:rPr>
              <a:t>298 kWh/kWp</a:t>
            </a:r>
            <a:endParaRPr lang="en-US" sz="2800" dirty="0"/>
          </a:p>
        </p:txBody>
      </p:sp>
      <p:sp>
        <p:nvSpPr>
          <p:cNvPr id="21" name="Text 18"/>
          <p:cNvSpPr/>
          <p:nvPr/>
        </p:nvSpPr>
        <p:spPr>
          <a:xfrm>
            <a:off x="365760" y="3703320"/>
            <a:ext cx="3931920" cy="256032"/>
          </a:xfrm>
          <a:prstGeom prst="rect">
            <a:avLst/>
          </a:prstGeom>
          <a:noFill/>
          <a:ln/>
        </p:spPr>
        <p:txBody>
          <a:bodyPr wrap="square" rtlCol="0" anchor="ctr"/>
          <a:lstStyle/>
          <a:p>
            <a:pPr marL="0" indent="0" algn="ctr">
              <a:buNone/>
            </a:pPr>
            <a:r>
              <a:rPr lang="en-US" sz="1000" i="1" dirty="0">
                <a:solidFill>
                  <a:srgbClr val="8EAEBE"/>
                </a:solidFill>
                <a:latin typeface="Calibri" pitchFamily="34" charset="0"/>
                <a:ea typeface="Calibri" pitchFamily="34" charset="-122"/>
                <a:cs typeface="Calibri" pitchFamily="34" charset="-120"/>
              </a:rPr>
              <a:t>178.6 kWh ÷ 0.6 kWp</a:t>
            </a:r>
            <a:endParaRPr lang="en-US" sz="1000" dirty="0"/>
          </a:p>
        </p:txBody>
      </p:sp>
      <p:sp>
        <p:nvSpPr>
          <p:cNvPr id="22" name="Text 19"/>
          <p:cNvSpPr/>
          <p:nvPr/>
        </p:nvSpPr>
        <p:spPr>
          <a:xfrm>
            <a:off x="365760" y="4105656"/>
            <a:ext cx="3931920" cy="292608"/>
          </a:xfrm>
          <a:prstGeom prst="rect">
            <a:avLst/>
          </a:prstGeom>
          <a:noFill/>
          <a:ln/>
        </p:spPr>
        <p:txBody>
          <a:bodyPr wrap="square" rtlCol="0" anchor="ctr"/>
          <a:lstStyle/>
          <a:p>
            <a:pPr marL="0" indent="0" algn="ctr">
              <a:buNone/>
            </a:pPr>
            <a:r>
              <a:rPr lang="en-US" sz="900" dirty="0">
                <a:solidFill>
                  <a:srgbClr val="D9EBF0"/>
                </a:solidFill>
                <a:latin typeface="Calibri" pitchFamily="34" charset="0"/>
                <a:ea typeface="Calibri" pitchFamily="34" charset="-122"/>
                <a:cs typeface="Calibri" pitchFamily="34" charset="-120"/>
              </a:rPr>
              <a:t>Within expected range for balcony PV systems</a:t>
            </a:r>
            <a:endParaRPr lang="en-US" sz="900" dirty="0"/>
          </a:p>
        </p:txBody>
      </p:sp>
      <p:sp>
        <p:nvSpPr>
          <p:cNvPr id="23" name="Shape 20"/>
          <p:cNvSpPr/>
          <p:nvPr/>
        </p:nvSpPr>
        <p:spPr>
          <a:xfrm>
            <a:off x="4754880" y="2651760"/>
            <a:ext cx="4114800" cy="1783080"/>
          </a:xfrm>
          <a:prstGeom prst="rect">
            <a:avLst/>
          </a:prstGeom>
          <a:solidFill>
            <a:srgbClr val="1A3040"/>
          </a:solidFill>
          <a:ln w="19050">
            <a:solidFill>
              <a:srgbClr val="9B59B6"/>
            </a:solidFill>
            <a:prstDash val="solid"/>
          </a:ln>
        </p:spPr>
        <p:txBody>
          <a:bodyPr/>
          <a:lstStyle/>
          <a:p>
            <a:endParaRPr lang="en-US"/>
          </a:p>
        </p:txBody>
      </p:sp>
      <p:sp>
        <p:nvSpPr>
          <p:cNvPr id="24" name="Shape 21"/>
          <p:cNvSpPr/>
          <p:nvPr/>
        </p:nvSpPr>
        <p:spPr>
          <a:xfrm>
            <a:off x="4754880" y="2651760"/>
            <a:ext cx="4114800" cy="411480"/>
          </a:xfrm>
          <a:prstGeom prst="rect">
            <a:avLst/>
          </a:prstGeom>
          <a:solidFill>
            <a:srgbClr val="9B59B6"/>
          </a:solidFill>
          <a:ln w="12700">
            <a:solidFill>
              <a:srgbClr val="9B59B6"/>
            </a:solidFill>
            <a:prstDash val="solid"/>
          </a:ln>
        </p:spPr>
        <p:txBody>
          <a:bodyPr/>
          <a:lstStyle/>
          <a:p>
            <a:endParaRPr lang="en-US"/>
          </a:p>
        </p:txBody>
      </p:sp>
      <p:sp>
        <p:nvSpPr>
          <p:cNvPr id="25" name="Text 22"/>
          <p:cNvSpPr/>
          <p:nvPr/>
        </p:nvSpPr>
        <p:spPr>
          <a:xfrm>
            <a:off x="4754880" y="2651760"/>
            <a:ext cx="4114800" cy="411480"/>
          </a:xfrm>
          <a:prstGeom prst="rect">
            <a:avLst/>
          </a:prstGeom>
          <a:noFill/>
          <a:ln/>
        </p:spPr>
        <p:txBody>
          <a:bodyPr wrap="square" rtlCol="0" anchor="ctr"/>
          <a:lstStyle/>
          <a:p>
            <a:pPr marL="0" indent="0" algn="ctr">
              <a:buNone/>
            </a:pPr>
            <a:r>
              <a:rPr lang="en-US" sz="1200" b="1" dirty="0">
                <a:solidFill>
                  <a:srgbClr val="0F2027"/>
                </a:solidFill>
                <a:latin typeface="Calibri" pitchFamily="34" charset="0"/>
                <a:ea typeface="Calibri" pitchFamily="34" charset="-122"/>
                <a:cs typeface="Calibri" pitchFamily="34" charset="-120"/>
              </a:rPr>
              <a:t>Capacity Factor</a:t>
            </a:r>
            <a:endParaRPr lang="en-US" sz="1200" dirty="0"/>
          </a:p>
        </p:txBody>
      </p:sp>
      <p:sp>
        <p:nvSpPr>
          <p:cNvPr id="26" name="Text 23"/>
          <p:cNvSpPr/>
          <p:nvPr/>
        </p:nvSpPr>
        <p:spPr>
          <a:xfrm>
            <a:off x="4754880" y="3090672"/>
            <a:ext cx="4114800" cy="594360"/>
          </a:xfrm>
          <a:prstGeom prst="rect">
            <a:avLst/>
          </a:prstGeom>
          <a:noFill/>
          <a:ln/>
        </p:spPr>
        <p:txBody>
          <a:bodyPr wrap="square" rtlCol="0" anchor="ctr"/>
          <a:lstStyle/>
          <a:p>
            <a:pPr marL="0" indent="0" algn="ctr">
              <a:buNone/>
            </a:pPr>
            <a:r>
              <a:rPr lang="en-US" sz="2800" b="1" dirty="0">
                <a:solidFill>
                  <a:srgbClr val="9B59B6"/>
                </a:solidFill>
                <a:latin typeface="Calibri" pitchFamily="34" charset="0"/>
                <a:ea typeface="Calibri" pitchFamily="34" charset="-122"/>
                <a:cs typeface="Calibri" pitchFamily="34" charset="-120"/>
              </a:rPr>
              <a:t>6.8 %</a:t>
            </a:r>
            <a:endParaRPr lang="en-US" sz="2800" dirty="0"/>
          </a:p>
        </p:txBody>
      </p:sp>
      <p:sp>
        <p:nvSpPr>
          <p:cNvPr id="27" name="Text 24"/>
          <p:cNvSpPr/>
          <p:nvPr/>
        </p:nvSpPr>
        <p:spPr>
          <a:xfrm>
            <a:off x="4846320" y="3703320"/>
            <a:ext cx="3931920" cy="256032"/>
          </a:xfrm>
          <a:prstGeom prst="rect">
            <a:avLst/>
          </a:prstGeom>
          <a:noFill/>
          <a:ln/>
        </p:spPr>
        <p:txBody>
          <a:bodyPr wrap="square" rtlCol="0" anchor="ctr"/>
          <a:lstStyle/>
          <a:p>
            <a:pPr marL="0" indent="0" algn="ctr">
              <a:buNone/>
            </a:pPr>
            <a:r>
              <a:rPr lang="en-US" sz="1000" i="1" dirty="0">
                <a:solidFill>
                  <a:srgbClr val="8EAEBE"/>
                </a:solidFill>
                <a:latin typeface="Calibri" pitchFamily="34" charset="0"/>
                <a:ea typeface="Calibri" pitchFamily="34" charset="-122"/>
                <a:cs typeface="Calibri" pitchFamily="34" charset="-120"/>
              </a:rPr>
              <a:t>178.6 ÷ 2628 kWh × 100%</a:t>
            </a:r>
            <a:endParaRPr lang="en-US" sz="1000" dirty="0"/>
          </a:p>
        </p:txBody>
      </p:sp>
      <p:sp>
        <p:nvSpPr>
          <p:cNvPr id="28" name="Text 25"/>
          <p:cNvSpPr/>
          <p:nvPr/>
        </p:nvSpPr>
        <p:spPr>
          <a:xfrm>
            <a:off x="4846320" y="4105656"/>
            <a:ext cx="3931920" cy="292608"/>
          </a:xfrm>
          <a:prstGeom prst="rect">
            <a:avLst/>
          </a:prstGeom>
          <a:noFill/>
          <a:ln/>
        </p:spPr>
        <p:txBody>
          <a:bodyPr wrap="square" rtlCol="0" anchor="ctr"/>
          <a:lstStyle/>
          <a:p>
            <a:pPr marL="0" indent="0" algn="ctr">
              <a:buNone/>
            </a:pPr>
            <a:r>
              <a:rPr lang="en-US" sz="900" dirty="0">
                <a:solidFill>
                  <a:srgbClr val="D9EBF0"/>
                </a:solidFill>
                <a:latin typeface="Calibri" pitchFamily="34" charset="0"/>
                <a:ea typeface="Calibri" pitchFamily="34" charset="-122"/>
                <a:cs typeface="Calibri" pitchFamily="34" charset="-120"/>
              </a:rPr>
              <a:t>Seasonal (autumn–winter); reflects day/night &amp; weather</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2027"/>
          </a:solidFill>
          <a:ln w="12700">
            <a:solidFill>
              <a:srgbClr val="0F2027"/>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182880" y="109728"/>
            <a:ext cx="384048" cy="384048"/>
          </a:xfrm>
          <a:prstGeom prst="rect">
            <a:avLst/>
          </a:prstGeom>
        </p:spPr>
      </p:pic>
      <p:sp>
        <p:nvSpPr>
          <p:cNvPr id="4" name="Text 1"/>
          <p:cNvSpPr/>
          <p:nvPr/>
        </p:nvSpPr>
        <p:spPr>
          <a:xfrm>
            <a:off x="685800" y="109728"/>
            <a:ext cx="7772400" cy="41148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System Reliability &amp; Operational Results</a:t>
            </a:r>
            <a:endParaRPr lang="en-US" sz="2000" dirty="0"/>
          </a:p>
        </p:txBody>
      </p:sp>
      <p:sp>
        <p:nvSpPr>
          <p:cNvPr id="5" name="Shape 2"/>
          <p:cNvSpPr/>
          <p:nvPr/>
        </p:nvSpPr>
        <p:spPr>
          <a:xfrm>
            <a:off x="274320" y="777240"/>
            <a:ext cx="4114800" cy="2011680"/>
          </a:xfrm>
          <a:prstGeom prst="rect">
            <a:avLst/>
          </a:prstGeom>
          <a:solidFill>
            <a:srgbClr val="E8F4F8"/>
          </a:solidFill>
          <a:ln w="19050">
            <a:solidFill>
              <a:srgbClr val="2ECC71"/>
            </a:solidFill>
            <a:prstDash val="solid"/>
          </a:ln>
        </p:spPr>
        <p:txBody>
          <a:bodyPr/>
          <a:lstStyle/>
          <a:p>
            <a:endParaRPr lang="en-US"/>
          </a:p>
        </p:txBody>
      </p:sp>
      <p:pic>
        <p:nvPicPr>
          <p:cNvPr id="6" name="Image 1" descr="preencoded.png"/>
          <p:cNvPicPr>
            <a:picLocks noChangeAspect="1"/>
          </p:cNvPicPr>
          <p:nvPr/>
        </p:nvPicPr>
        <p:blipFill>
          <a:blip r:embed="rId3"/>
          <a:stretch>
            <a:fillRect/>
          </a:stretch>
        </p:blipFill>
        <p:spPr>
          <a:xfrm>
            <a:off x="457200" y="960120"/>
            <a:ext cx="502920" cy="475488"/>
          </a:xfrm>
          <a:prstGeom prst="rect">
            <a:avLst/>
          </a:prstGeom>
        </p:spPr>
      </p:pic>
      <p:sp>
        <p:nvSpPr>
          <p:cNvPr id="7" name="Text 3"/>
          <p:cNvSpPr/>
          <p:nvPr/>
        </p:nvSpPr>
        <p:spPr>
          <a:xfrm>
            <a:off x="1097280" y="941832"/>
            <a:ext cx="3154680" cy="457200"/>
          </a:xfrm>
          <a:prstGeom prst="rect">
            <a:avLst/>
          </a:prstGeom>
          <a:noFill/>
          <a:ln/>
        </p:spPr>
        <p:txBody>
          <a:bodyPr wrap="square" rtlCol="0" anchor="ctr"/>
          <a:lstStyle/>
          <a:p>
            <a:pPr marL="0" indent="0">
              <a:buNone/>
            </a:pPr>
            <a:r>
              <a:rPr lang="en-US" sz="1300" b="1" dirty="0">
                <a:solidFill>
                  <a:srgbClr val="1A2A1A"/>
                </a:solidFill>
                <a:latin typeface="Calibri" pitchFamily="34" charset="0"/>
                <a:ea typeface="Calibri" pitchFamily="34" charset="-122"/>
                <a:cs typeface="Calibri" pitchFamily="34" charset="-120"/>
              </a:rPr>
              <a:t>Zero Data Loss</a:t>
            </a:r>
            <a:endParaRPr lang="en-US" sz="1300" dirty="0"/>
          </a:p>
        </p:txBody>
      </p:sp>
      <p:sp>
        <p:nvSpPr>
          <p:cNvPr id="8" name="Text 4"/>
          <p:cNvSpPr/>
          <p:nvPr/>
        </p:nvSpPr>
        <p:spPr>
          <a:xfrm>
            <a:off x="457200" y="1508760"/>
            <a:ext cx="3794760" cy="1188720"/>
          </a:xfrm>
          <a:prstGeom prst="rect">
            <a:avLst/>
          </a:prstGeom>
          <a:noFill/>
          <a:ln/>
        </p:spPr>
        <p:txBody>
          <a:bodyPr wrap="square" rtlCol="0" anchor="t"/>
          <a:lstStyle/>
          <a:p>
            <a:pPr marL="0" indent="0">
              <a:buNone/>
            </a:pPr>
            <a:r>
              <a:rPr lang="en-US" sz="1100" dirty="0">
                <a:solidFill>
                  <a:srgbClr val="444444"/>
                </a:solidFill>
                <a:latin typeface="Calibri" pitchFamily="34" charset="0"/>
                <a:ea typeface="Calibri" pitchFamily="34" charset="-122"/>
                <a:cs typeface="Calibri" pitchFamily="34" charset="-120"/>
              </a:rPr>
              <a:t>No significant data gaps recorded during the entire 6-month monitoring period</a:t>
            </a:r>
            <a:endParaRPr lang="en-US" sz="1100" dirty="0"/>
          </a:p>
        </p:txBody>
      </p:sp>
      <p:sp>
        <p:nvSpPr>
          <p:cNvPr id="9" name="Shape 5"/>
          <p:cNvSpPr/>
          <p:nvPr/>
        </p:nvSpPr>
        <p:spPr>
          <a:xfrm>
            <a:off x="4754880" y="777240"/>
            <a:ext cx="4114800" cy="2011680"/>
          </a:xfrm>
          <a:prstGeom prst="rect">
            <a:avLst/>
          </a:prstGeom>
          <a:solidFill>
            <a:srgbClr val="E8F4F8"/>
          </a:solidFill>
          <a:ln w="19050">
            <a:solidFill>
              <a:srgbClr val="2ECC71"/>
            </a:solidFill>
            <a:prstDash val="solid"/>
          </a:ln>
        </p:spPr>
        <p:txBody>
          <a:bodyPr/>
          <a:lstStyle/>
          <a:p>
            <a:endParaRPr lang="en-US"/>
          </a:p>
        </p:txBody>
      </p:sp>
      <p:pic>
        <p:nvPicPr>
          <p:cNvPr id="10" name="Image 2" descr="preencoded.png"/>
          <p:cNvPicPr>
            <a:picLocks noChangeAspect="1"/>
          </p:cNvPicPr>
          <p:nvPr/>
        </p:nvPicPr>
        <p:blipFill>
          <a:blip r:embed="rId3"/>
          <a:stretch>
            <a:fillRect/>
          </a:stretch>
        </p:blipFill>
        <p:spPr>
          <a:xfrm>
            <a:off x="4937760" y="960120"/>
            <a:ext cx="502920" cy="475488"/>
          </a:xfrm>
          <a:prstGeom prst="rect">
            <a:avLst/>
          </a:prstGeom>
        </p:spPr>
      </p:pic>
      <p:sp>
        <p:nvSpPr>
          <p:cNvPr id="11" name="Text 6"/>
          <p:cNvSpPr/>
          <p:nvPr/>
        </p:nvSpPr>
        <p:spPr>
          <a:xfrm>
            <a:off x="5577840" y="941832"/>
            <a:ext cx="3154680" cy="457200"/>
          </a:xfrm>
          <a:prstGeom prst="rect">
            <a:avLst/>
          </a:prstGeom>
          <a:noFill/>
          <a:ln/>
        </p:spPr>
        <p:txBody>
          <a:bodyPr wrap="square" rtlCol="0" anchor="ctr"/>
          <a:lstStyle/>
          <a:p>
            <a:pPr marL="0" indent="0">
              <a:buNone/>
            </a:pPr>
            <a:r>
              <a:rPr lang="en-US" sz="1300" b="1" dirty="0">
                <a:solidFill>
                  <a:srgbClr val="1A2A1A"/>
                </a:solidFill>
                <a:latin typeface="Calibri" pitchFamily="34" charset="0"/>
                <a:ea typeface="Calibri" pitchFamily="34" charset="-122"/>
                <a:cs typeface="Calibri" pitchFamily="34" charset="-120"/>
              </a:rPr>
              <a:t>Stable MQTT</a:t>
            </a:r>
            <a:endParaRPr lang="en-US" sz="1300" dirty="0"/>
          </a:p>
        </p:txBody>
      </p:sp>
      <p:sp>
        <p:nvSpPr>
          <p:cNvPr id="12" name="Text 7"/>
          <p:cNvSpPr/>
          <p:nvPr/>
        </p:nvSpPr>
        <p:spPr>
          <a:xfrm>
            <a:off x="4937760" y="1508760"/>
            <a:ext cx="3794760" cy="1188720"/>
          </a:xfrm>
          <a:prstGeom prst="rect">
            <a:avLst/>
          </a:prstGeom>
          <a:noFill/>
          <a:ln/>
        </p:spPr>
        <p:txBody>
          <a:bodyPr wrap="square" rtlCol="0" anchor="t"/>
          <a:lstStyle/>
          <a:p>
            <a:pPr marL="0" indent="0">
              <a:buNone/>
            </a:pPr>
            <a:r>
              <a:rPr lang="en-US" sz="1100" dirty="0">
                <a:solidFill>
                  <a:srgbClr val="444444"/>
                </a:solidFill>
                <a:latin typeface="Calibri" pitchFamily="34" charset="0"/>
                <a:ea typeface="Calibri" pitchFamily="34" charset="-122"/>
                <a:cs typeface="Calibri" pitchFamily="34" charset="-120"/>
              </a:rPr>
              <a:t>Communication between inverter interface, controller, cloud, and mobile app ran without interruption</a:t>
            </a:r>
            <a:endParaRPr lang="en-US" sz="1100" dirty="0"/>
          </a:p>
        </p:txBody>
      </p:sp>
      <p:sp>
        <p:nvSpPr>
          <p:cNvPr id="13" name="Shape 8"/>
          <p:cNvSpPr/>
          <p:nvPr/>
        </p:nvSpPr>
        <p:spPr>
          <a:xfrm>
            <a:off x="274320" y="2880360"/>
            <a:ext cx="4114800" cy="2011680"/>
          </a:xfrm>
          <a:prstGeom prst="rect">
            <a:avLst/>
          </a:prstGeom>
          <a:solidFill>
            <a:srgbClr val="E8F4F8"/>
          </a:solidFill>
          <a:ln w="19050">
            <a:solidFill>
              <a:srgbClr val="F5A623"/>
            </a:solidFill>
            <a:prstDash val="solid"/>
          </a:ln>
        </p:spPr>
        <p:txBody>
          <a:bodyPr/>
          <a:lstStyle/>
          <a:p>
            <a:endParaRPr lang="en-US"/>
          </a:p>
        </p:txBody>
      </p:sp>
      <p:pic>
        <p:nvPicPr>
          <p:cNvPr id="14" name="Image 3" descr="preencoded.png"/>
          <p:cNvPicPr>
            <a:picLocks noChangeAspect="1"/>
          </p:cNvPicPr>
          <p:nvPr/>
        </p:nvPicPr>
        <p:blipFill>
          <a:blip r:embed="rId3"/>
          <a:stretch>
            <a:fillRect/>
          </a:stretch>
        </p:blipFill>
        <p:spPr>
          <a:xfrm>
            <a:off x="457200" y="3063240"/>
            <a:ext cx="502920" cy="475488"/>
          </a:xfrm>
          <a:prstGeom prst="rect">
            <a:avLst/>
          </a:prstGeom>
        </p:spPr>
      </p:pic>
      <p:sp>
        <p:nvSpPr>
          <p:cNvPr id="15" name="Text 9"/>
          <p:cNvSpPr/>
          <p:nvPr/>
        </p:nvSpPr>
        <p:spPr>
          <a:xfrm>
            <a:off x="1097280" y="3044952"/>
            <a:ext cx="3154680" cy="457200"/>
          </a:xfrm>
          <a:prstGeom prst="rect">
            <a:avLst/>
          </a:prstGeom>
          <a:noFill/>
          <a:ln/>
        </p:spPr>
        <p:txBody>
          <a:bodyPr wrap="square" rtlCol="0" anchor="ctr"/>
          <a:lstStyle/>
          <a:p>
            <a:pPr marL="0" indent="0">
              <a:buNone/>
            </a:pPr>
            <a:r>
              <a:rPr lang="en-US" sz="1300" b="1" dirty="0">
                <a:solidFill>
                  <a:srgbClr val="1A2A1A"/>
                </a:solidFill>
                <a:latin typeface="Calibri" pitchFamily="34" charset="0"/>
                <a:ea typeface="Calibri" pitchFamily="34" charset="-122"/>
                <a:cs typeface="Calibri" pitchFamily="34" charset="-120"/>
              </a:rPr>
              <a:t>Negligible Latency</a:t>
            </a:r>
            <a:endParaRPr lang="en-US" sz="1300" dirty="0"/>
          </a:p>
        </p:txBody>
      </p:sp>
      <p:sp>
        <p:nvSpPr>
          <p:cNvPr id="16" name="Text 10"/>
          <p:cNvSpPr/>
          <p:nvPr/>
        </p:nvSpPr>
        <p:spPr>
          <a:xfrm>
            <a:off x="457200" y="3611880"/>
            <a:ext cx="3794760" cy="1188720"/>
          </a:xfrm>
          <a:prstGeom prst="rect">
            <a:avLst/>
          </a:prstGeom>
          <a:noFill/>
          <a:ln/>
        </p:spPr>
        <p:txBody>
          <a:bodyPr wrap="square" rtlCol="0" anchor="t"/>
          <a:lstStyle/>
          <a:p>
            <a:pPr marL="0" indent="0">
              <a:buNone/>
            </a:pPr>
            <a:r>
              <a:rPr lang="en-US" sz="1100" dirty="0">
                <a:solidFill>
                  <a:srgbClr val="444444"/>
                </a:solidFill>
                <a:latin typeface="Calibri" pitchFamily="34" charset="0"/>
                <a:ea typeface="Calibri" pitchFamily="34" charset="-122"/>
                <a:cs typeface="Calibri" pitchFamily="34" charset="-120"/>
              </a:rPr>
              <a:t>Delay from energy production measurement to app visualization was negligible for residential use</a:t>
            </a:r>
            <a:endParaRPr lang="en-US" sz="1100" dirty="0"/>
          </a:p>
        </p:txBody>
      </p:sp>
      <p:sp>
        <p:nvSpPr>
          <p:cNvPr id="17" name="Shape 11"/>
          <p:cNvSpPr/>
          <p:nvPr/>
        </p:nvSpPr>
        <p:spPr>
          <a:xfrm>
            <a:off x="4754880" y="2880360"/>
            <a:ext cx="4114800" cy="2011680"/>
          </a:xfrm>
          <a:prstGeom prst="rect">
            <a:avLst/>
          </a:prstGeom>
          <a:solidFill>
            <a:srgbClr val="E8F4F8"/>
          </a:solidFill>
          <a:ln w="19050">
            <a:solidFill>
              <a:srgbClr val="3498DB"/>
            </a:solidFill>
            <a:prstDash val="solid"/>
          </a:ln>
        </p:spPr>
        <p:txBody>
          <a:bodyPr/>
          <a:lstStyle/>
          <a:p>
            <a:endParaRPr lang="en-US"/>
          </a:p>
        </p:txBody>
      </p:sp>
      <p:pic>
        <p:nvPicPr>
          <p:cNvPr id="18" name="Image 4" descr="preencoded.png"/>
          <p:cNvPicPr>
            <a:picLocks noChangeAspect="1"/>
          </p:cNvPicPr>
          <p:nvPr/>
        </p:nvPicPr>
        <p:blipFill>
          <a:blip r:embed="rId3"/>
          <a:stretch>
            <a:fillRect/>
          </a:stretch>
        </p:blipFill>
        <p:spPr>
          <a:xfrm>
            <a:off x="4937760" y="3063240"/>
            <a:ext cx="502920" cy="475488"/>
          </a:xfrm>
          <a:prstGeom prst="rect">
            <a:avLst/>
          </a:prstGeom>
        </p:spPr>
      </p:pic>
      <p:sp>
        <p:nvSpPr>
          <p:cNvPr id="19" name="Text 12"/>
          <p:cNvSpPr/>
          <p:nvPr/>
        </p:nvSpPr>
        <p:spPr>
          <a:xfrm>
            <a:off x="5577840" y="3044952"/>
            <a:ext cx="3154680" cy="457200"/>
          </a:xfrm>
          <a:prstGeom prst="rect">
            <a:avLst/>
          </a:prstGeom>
          <a:noFill/>
          <a:ln/>
        </p:spPr>
        <p:txBody>
          <a:bodyPr wrap="square" rtlCol="0" anchor="ctr"/>
          <a:lstStyle/>
          <a:p>
            <a:pPr marL="0" indent="0">
              <a:buNone/>
            </a:pPr>
            <a:r>
              <a:rPr lang="en-US" sz="1300" b="1" dirty="0">
                <a:solidFill>
                  <a:srgbClr val="1A2A1A"/>
                </a:solidFill>
                <a:latin typeface="Calibri" pitchFamily="34" charset="0"/>
                <a:ea typeface="Calibri" pitchFamily="34" charset="-122"/>
                <a:cs typeface="Calibri" pitchFamily="34" charset="-120"/>
              </a:rPr>
              <a:t>Seamless Integration</a:t>
            </a:r>
            <a:endParaRPr lang="en-US" sz="1300" dirty="0"/>
          </a:p>
        </p:txBody>
      </p:sp>
      <p:sp>
        <p:nvSpPr>
          <p:cNvPr id="20" name="Text 13"/>
          <p:cNvSpPr/>
          <p:nvPr/>
        </p:nvSpPr>
        <p:spPr>
          <a:xfrm>
            <a:off x="4937760" y="3611880"/>
            <a:ext cx="3794760" cy="1188720"/>
          </a:xfrm>
          <a:prstGeom prst="rect">
            <a:avLst/>
          </a:prstGeom>
          <a:noFill/>
          <a:ln/>
        </p:spPr>
        <p:txBody>
          <a:bodyPr wrap="square" rtlCol="0" anchor="t"/>
          <a:lstStyle/>
          <a:p>
            <a:pPr marL="0" indent="0">
              <a:buNone/>
            </a:pPr>
            <a:r>
              <a:rPr lang="en-US" sz="1100" dirty="0">
                <a:solidFill>
                  <a:srgbClr val="444444"/>
                </a:solidFill>
                <a:latin typeface="Calibri" pitchFamily="34" charset="0"/>
                <a:ea typeface="Calibri" pitchFamily="34" charset="-122"/>
                <a:cs typeface="Calibri" pitchFamily="34" charset="-120"/>
              </a:rPr>
              <a:t>PV unit successfully abstracted as a virtual energy sensor within OBLO — transparent to rest of platform</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027"/>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03A43"/>
          </a:solidFill>
          <a:ln w="12700">
            <a:solidFill>
              <a:srgbClr val="203A43"/>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182880" y="109728"/>
            <a:ext cx="384048" cy="384048"/>
          </a:xfrm>
          <a:prstGeom prst="rect">
            <a:avLst/>
          </a:prstGeom>
        </p:spPr>
      </p:pic>
      <p:sp>
        <p:nvSpPr>
          <p:cNvPr id="4" name="Text 1"/>
          <p:cNvSpPr/>
          <p:nvPr/>
        </p:nvSpPr>
        <p:spPr>
          <a:xfrm>
            <a:off x="685800" y="109728"/>
            <a:ext cx="7772400" cy="41148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Discussion &amp; Limitations</a:t>
            </a:r>
            <a:endParaRPr lang="en-US" sz="2000" dirty="0"/>
          </a:p>
        </p:txBody>
      </p:sp>
      <p:sp>
        <p:nvSpPr>
          <p:cNvPr id="5" name="Shape 2"/>
          <p:cNvSpPr/>
          <p:nvPr/>
        </p:nvSpPr>
        <p:spPr>
          <a:xfrm>
            <a:off x="274320" y="777240"/>
            <a:ext cx="4114800" cy="3749040"/>
          </a:xfrm>
          <a:prstGeom prst="rect">
            <a:avLst/>
          </a:prstGeom>
          <a:solidFill>
            <a:srgbClr val="1A3040"/>
          </a:solidFill>
          <a:ln w="12700">
            <a:solidFill>
              <a:srgbClr val="2ECC71"/>
            </a:solidFill>
            <a:prstDash val="solid"/>
          </a:ln>
        </p:spPr>
        <p:txBody>
          <a:bodyPr/>
          <a:lstStyle/>
          <a:p>
            <a:endParaRPr lang="en-US"/>
          </a:p>
        </p:txBody>
      </p:sp>
      <p:sp>
        <p:nvSpPr>
          <p:cNvPr id="6" name="Text 3"/>
          <p:cNvSpPr/>
          <p:nvPr/>
        </p:nvSpPr>
        <p:spPr>
          <a:xfrm>
            <a:off x="274320" y="777240"/>
            <a:ext cx="4114800" cy="411480"/>
          </a:xfrm>
          <a:prstGeom prst="rect">
            <a:avLst/>
          </a:prstGeom>
          <a:noFill/>
          <a:ln/>
        </p:spPr>
        <p:txBody>
          <a:bodyPr wrap="square" rtlCol="0" anchor="ctr"/>
          <a:lstStyle/>
          <a:p>
            <a:pPr marL="0" indent="0" algn="ctr">
              <a:buNone/>
            </a:pPr>
            <a:r>
              <a:rPr lang="en-US" sz="1200" b="1" dirty="0">
                <a:solidFill>
                  <a:srgbClr val="2ECC71"/>
                </a:solidFill>
                <a:latin typeface="Calibri" pitchFamily="34" charset="0"/>
                <a:ea typeface="Calibri" pitchFamily="34" charset="-122"/>
                <a:cs typeface="Calibri" pitchFamily="34" charset="-120"/>
              </a:rPr>
              <a:t>✓  Key Discussion Points</a:t>
            </a:r>
            <a:endParaRPr lang="en-US" sz="1200" dirty="0"/>
          </a:p>
        </p:txBody>
      </p:sp>
      <p:sp>
        <p:nvSpPr>
          <p:cNvPr id="7" name="Text 4"/>
          <p:cNvSpPr/>
          <p:nvPr/>
        </p:nvSpPr>
        <p:spPr>
          <a:xfrm>
            <a:off x="411480" y="1261872"/>
            <a:ext cx="3840480" cy="3200400"/>
          </a:xfrm>
          <a:prstGeom prst="rect">
            <a:avLst/>
          </a:prstGeom>
          <a:noFill/>
          <a:ln/>
        </p:spPr>
        <p:txBody>
          <a:bodyPr wrap="square" rtlCol="0" anchor="t"/>
          <a:lstStyle/>
          <a:p>
            <a:pPr marL="0" indent="0">
              <a:buNone/>
            </a:pPr>
            <a:r>
              <a:rPr lang="en-US" sz="1050" b="1" dirty="0">
                <a:solidFill>
                  <a:srgbClr val="2ECC71"/>
                </a:solidFill>
                <a:latin typeface="Calibri" pitchFamily="34" charset="0"/>
                <a:ea typeface="Calibri" pitchFamily="34" charset="-122"/>
                <a:cs typeface="Calibri" pitchFamily="34" charset="-120"/>
              </a:rPr>
              <a:t xml:space="preserve">•  </a:t>
            </a:r>
            <a:r>
              <a:rPr lang="en-US" sz="1050" dirty="0">
                <a:solidFill>
                  <a:srgbClr val="D9EBF0"/>
                </a:solidFill>
                <a:latin typeface="Calibri" pitchFamily="34" charset="0"/>
                <a:ea typeface="Calibri" pitchFamily="34" charset="-122"/>
                <a:cs typeface="Calibri" pitchFamily="34" charset="-120"/>
              </a:rPr>
              <a:t>Specific yield 298 kWh/kWp within expected literature range (Krauter &amp; Bendfeld 2024)
</a:t>
            </a:r>
            <a:r>
              <a:rPr lang="en-US" sz="1050" b="1" dirty="0">
                <a:solidFill>
                  <a:srgbClr val="2ECC71"/>
                </a:solidFill>
                <a:latin typeface="Calibri" pitchFamily="34" charset="0"/>
                <a:ea typeface="Calibri" pitchFamily="34" charset="-122"/>
                <a:cs typeface="Calibri" pitchFamily="34" charset="-120"/>
              </a:rPr>
              <a:t xml:space="preserve">•  </a:t>
            </a:r>
            <a:r>
              <a:rPr lang="en-US" sz="1050" dirty="0">
                <a:solidFill>
                  <a:srgbClr val="D9EBF0"/>
                </a:solidFill>
                <a:latin typeface="Calibri" pitchFamily="34" charset="0"/>
                <a:ea typeface="Calibri" pitchFamily="34" charset="-122"/>
                <a:cs typeface="Calibri" pitchFamily="34" charset="-120"/>
              </a:rPr>
              <a:t>Capacity factor 6.8% is seasonal — not representative of annual performance
</a:t>
            </a:r>
            <a:r>
              <a:rPr lang="en-US" sz="1050" b="1" dirty="0">
                <a:solidFill>
                  <a:srgbClr val="2ECC71"/>
                </a:solidFill>
                <a:latin typeface="Calibri" pitchFamily="34" charset="0"/>
                <a:ea typeface="Calibri" pitchFamily="34" charset="-122"/>
                <a:cs typeface="Calibri" pitchFamily="34" charset="-120"/>
              </a:rPr>
              <a:t xml:space="preserve">•  </a:t>
            </a:r>
            <a:r>
              <a:rPr lang="en-US" sz="1050" dirty="0">
                <a:solidFill>
                  <a:srgbClr val="D9EBF0"/>
                </a:solidFill>
                <a:latin typeface="Calibri" pitchFamily="34" charset="0"/>
                <a:ea typeface="Calibri" pitchFamily="34" charset="-122"/>
                <a:cs typeface="Calibri" pitchFamily="34" charset="-120"/>
              </a:rPr>
              <a:t>Integration with OBLO adds monitoring value over standalone PV systems
</a:t>
            </a:r>
            <a:r>
              <a:rPr lang="en-US" sz="1050" b="1" dirty="0">
                <a:solidFill>
                  <a:srgbClr val="2ECC71"/>
                </a:solidFill>
                <a:latin typeface="Calibri" pitchFamily="34" charset="0"/>
                <a:ea typeface="Calibri" pitchFamily="34" charset="-122"/>
                <a:cs typeface="Calibri" pitchFamily="34" charset="-120"/>
              </a:rPr>
              <a:t xml:space="preserve">•  </a:t>
            </a:r>
            <a:r>
              <a:rPr lang="en-US" sz="1050" dirty="0">
                <a:solidFill>
                  <a:srgbClr val="D9EBF0"/>
                </a:solidFill>
                <a:latin typeface="Calibri" pitchFamily="34" charset="0"/>
                <a:ea typeface="Calibri" pitchFamily="34" charset="-122"/>
                <a:cs typeface="Calibri" pitchFamily="34" charset="-120"/>
              </a:rPr>
              <a:t>Balcony systems are complementary to, not a replacement for, rooftop installations
</a:t>
            </a:r>
            <a:r>
              <a:rPr lang="en-US" sz="1050" b="1" dirty="0">
                <a:solidFill>
                  <a:srgbClr val="2ECC71"/>
                </a:solidFill>
                <a:latin typeface="Calibri" pitchFamily="34" charset="0"/>
                <a:ea typeface="Calibri" pitchFamily="34" charset="-122"/>
                <a:cs typeface="Calibri" pitchFamily="34" charset="-120"/>
              </a:rPr>
              <a:t xml:space="preserve">•  </a:t>
            </a:r>
            <a:r>
              <a:rPr lang="en-US" sz="1050" dirty="0">
                <a:solidFill>
                  <a:srgbClr val="D9EBF0"/>
                </a:solidFill>
                <a:latin typeface="Calibri" pitchFamily="34" charset="0"/>
                <a:ea typeface="Calibri" pitchFamily="34" charset="-122"/>
                <a:cs typeface="Calibri" pitchFamily="34" charset="-120"/>
              </a:rPr>
              <a:t>Accessibility advantage: plug-in, no ownership of roof required, simple regulations</a:t>
            </a:r>
            <a:endParaRPr lang="en-US" sz="1050" dirty="0"/>
          </a:p>
        </p:txBody>
      </p:sp>
      <p:sp>
        <p:nvSpPr>
          <p:cNvPr id="8" name="Shape 5"/>
          <p:cNvSpPr/>
          <p:nvPr/>
        </p:nvSpPr>
        <p:spPr>
          <a:xfrm>
            <a:off x="4754880" y="777240"/>
            <a:ext cx="4114800" cy="3749040"/>
          </a:xfrm>
          <a:prstGeom prst="rect">
            <a:avLst/>
          </a:prstGeom>
          <a:solidFill>
            <a:srgbClr val="1A3040"/>
          </a:solidFill>
          <a:ln w="12700">
            <a:solidFill>
              <a:srgbClr val="F5A623"/>
            </a:solidFill>
            <a:prstDash val="solid"/>
          </a:ln>
        </p:spPr>
        <p:txBody>
          <a:bodyPr/>
          <a:lstStyle/>
          <a:p>
            <a:endParaRPr lang="en-US"/>
          </a:p>
        </p:txBody>
      </p:sp>
      <p:sp>
        <p:nvSpPr>
          <p:cNvPr id="9" name="Text 6"/>
          <p:cNvSpPr/>
          <p:nvPr/>
        </p:nvSpPr>
        <p:spPr>
          <a:xfrm>
            <a:off x="4754880" y="777240"/>
            <a:ext cx="4114800" cy="411480"/>
          </a:xfrm>
          <a:prstGeom prst="rect">
            <a:avLst/>
          </a:prstGeom>
          <a:noFill/>
          <a:ln/>
        </p:spPr>
        <p:txBody>
          <a:bodyPr wrap="square" rtlCol="0" anchor="ctr"/>
          <a:lstStyle/>
          <a:p>
            <a:pPr marL="0" indent="0" algn="ctr">
              <a:buNone/>
            </a:pPr>
            <a:r>
              <a:rPr lang="en-US" sz="1200" b="1" dirty="0">
                <a:solidFill>
                  <a:srgbClr val="F5A623"/>
                </a:solidFill>
                <a:latin typeface="Calibri" pitchFamily="34" charset="0"/>
                <a:ea typeface="Calibri" pitchFamily="34" charset="-122"/>
                <a:cs typeface="Calibri" pitchFamily="34" charset="-120"/>
              </a:rPr>
              <a:t>⚠  Limitations</a:t>
            </a:r>
            <a:endParaRPr lang="en-US" sz="1200" dirty="0"/>
          </a:p>
        </p:txBody>
      </p:sp>
      <p:sp>
        <p:nvSpPr>
          <p:cNvPr id="10" name="Text 7"/>
          <p:cNvSpPr/>
          <p:nvPr/>
        </p:nvSpPr>
        <p:spPr>
          <a:xfrm>
            <a:off x="4892040" y="1261872"/>
            <a:ext cx="3840480" cy="3200400"/>
          </a:xfrm>
          <a:prstGeom prst="rect">
            <a:avLst/>
          </a:prstGeom>
          <a:noFill/>
          <a:ln/>
        </p:spPr>
        <p:txBody>
          <a:bodyPr wrap="square" rtlCol="0" anchor="t"/>
          <a:lstStyle/>
          <a:p>
            <a:pPr marL="0" indent="0">
              <a:buNone/>
            </a:pPr>
            <a:r>
              <a:rPr lang="en-US" sz="1050" b="1" dirty="0">
                <a:solidFill>
                  <a:srgbClr val="F5A623"/>
                </a:solidFill>
                <a:latin typeface="Calibri" pitchFamily="34" charset="0"/>
                <a:ea typeface="Calibri" pitchFamily="34" charset="-122"/>
                <a:cs typeface="Calibri" pitchFamily="34" charset="-120"/>
              </a:rPr>
              <a:t xml:space="preserve">•  </a:t>
            </a:r>
            <a:r>
              <a:rPr lang="en-US" sz="1050" dirty="0">
                <a:solidFill>
                  <a:srgbClr val="D9EBF0"/>
                </a:solidFill>
                <a:latin typeface="Calibri" pitchFamily="34" charset="0"/>
                <a:ea typeface="Calibri" pitchFamily="34" charset="-122"/>
                <a:cs typeface="Calibri" pitchFamily="34" charset="-120"/>
              </a:rPr>
              <a:t>Single installation only — results may not generalize to all orientations/climates
</a:t>
            </a:r>
            <a:r>
              <a:rPr lang="en-US" sz="1050" b="1" dirty="0">
                <a:solidFill>
                  <a:srgbClr val="F5A623"/>
                </a:solidFill>
                <a:latin typeface="Calibri" pitchFamily="34" charset="0"/>
                <a:ea typeface="Calibri" pitchFamily="34" charset="-122"/>
                <a:cs typeface="Calibri" pitchFamily="34" charset="-120"/>
              </a:rPr>
              <a:t xml:space="preserve">•  </a:t>
            </a:r>
            <a:r>
              <a:rPr lang="en-US" sz="1050" dirty="0">
                <a:solidFill>
                  <a:srgbClr val="D9EBF0"/>
                </a:solidFill>
                <a:latin typeface="Calibri" pitchFamily="34" charset="0"/>
                <a:ea typeface="Calibri" pitchFamily="34" charset="-122"/>
                <a:cs typeface="Calibri" pitchFamily="34" charset="-120"/>
              </a:rPr>
              <a:t>Observation window: 6 months, autumn–winter. Summer performance not captured
</a:t>
            </a:r>
            <a:r>
              <a:rPr lang="en-US" sz="1050" b="1" dirty="0">
                <a:solidFill>
                  <a:srgbClr val="F5A623"/>
                </a:solidFill>
                <a:latin typeface="Calibri" pitchFamily="34" charset="0"/>
                <a:ea typeface="Calibri" pitchFamily="34" charset="-122"/>
                <a:cs typeface="Calibri" pitchFamily="34" charset="-120"/>
              </a:rPr>
              <a:t xml:space="preserve">•  </a:t>
            </a:r>
            <a:r>
              <a:rPr lang="en-US" sz="1050" dirty="0">
                <a:solidFill>
                  <a:srgbClr val="D9EBF0"/>
                </a:solidFill>
                <a:latin typeface="Calibri" pitchFamily="34" charset="0"/>
                <a:ea typeface="Calibri" pitchFamily="34" charset="-122"/>
                <a:cs typeface="Calibri" pitchFamily="34" charset="-120"/>
              </a:rPr>
              <a:t>Urban constraints: non-optimal panel orientation, potential shading from buildings
</a:t>
            </a:r>
            <a:r>
              <a:rPr lang="en-US" sz="1050" b="1" dirty="0">
                <a:solidFill>
                  <a:srgbClr val="F5A623"/>
                </a:solidFill>
                <a:latin typeface="Calibri" pitchFamily="34" charset="0"/>
                <a:ea typeface="Calibri" pitchFamily="34" charset="-122"/>
                <a:cs typeface="Calibri" pitchFamily="34" charset="-120"/>
              </a:rPr>
              <a:t xml:space="preserve">•  </a:t>
            </a:r>
            <a:r>
              <a:rPr lang="en-US" sz="1050" dirty="0">
                <a:solidFill>
                  <a:srgbClr val="D9EBF0"/>
                </a:solidFill>
                <a:latin typeface="Calibri" pitchFamily="34" charset="0"/>
                <a:ea typeface="Calibri" pitchFamily="34" charset="-122"/>
                <a:cs typeface="Calibri" pitchFamily="34" charset="-120"/>
              </a:rPr>
              <a:t>No battery storage — energy not used immediately is exported, not stored
</a:t>
            </a:r>
            <a:r>
              <a:rPr lang="en-US" sz="1050" b="1" dirty="0">
                <a:solidFill>
                  <a:srgbClr val="F5A623"/>
                </a:solidFill>
                <a:latin typeface="Calibri" pitchFamily="34" charset="0"/>
                <a:ea typeface="Calibri" pitchFamily="34" charset="-122"/>
                <a:cs typeface="Calibri" pitchFamily="34" charset="-120"/>
              </a:rPr>
              <a:t xml:space="preserve">•  </a:t>
            </a:r>
            <a:r>
              <a:rPr lang="en-US" sz="1050" dirty="0">
                <a:solidFill>
                  <a:srgbClr val="D9EBF0"/>
                </a:solidFill>
                <a:latin typeface="Calibri" pitchFamily="34" charset="0"/>
                <a:ea typeface="Calibri" pitchFamily="34" charset="-122"/>
                <a:cs typeface="Calibri" pitchFamily="34" charset="-120"/>
              </a:rPr>
              <a:t>Financial model assumes fixed tariff — real savings depend on consumption patterns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2027"/>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03A43"/>
          </a:solidFill>
          <a:ln w="12700">
            <a:solidFill>
              <a:srgbClr val="203A43"/>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182880" y="109728"/>
            <a:ext cx="384048" cy="384048"/>
          </a:xfrm>
          <a:prstGeom prst="rect">
            <a:avLst/>
          </a:prstGeom>
        </p:spPr>
      </p:pic>
      <p:sp>
        <p:nvSpPr>
          <p:cNvPr id="4" name="Text 1"/>
          <p:cNvSpPr/>
          <p:nvPr/>
        </p:nvSpPr>
        <p:spPr>
          <a:xfrm>
            <a:off x="685800" y="109728"/>
            <a:ext cx="7772400" cy="41148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Conclusion &amp; Future Work</a:t>
            </a:r>
            <a:endParaRPr lang="en-US" sz="2000" dirty="0"/>
          </a:p>
        </p:txBody>
      </p:sp>
      <p:sp>
        <p:nvSpPr>
          <p:cNvPr id="5" name="Shape 2"/>
          <p:cNvSpPr/>
          <p:nvPr/>
        </p:nvSpPr>
        <p:spPr>
          <a:xfrm>
            <a:off x="274320" y="777240"/>
            <a:ext cx="5669280" cy="3794760"/>
          </a:xfrm>
          <a:prstGeom prst="rect">
            <a:avLst/>
          </a:prstGeom>
          <a:solidFill>
            <a:srgbClr val="1A3040"/>
          </a:solidFill>
          <a:ln w="12700">
            <a:solidFill>
              <a:srgbClr val="2ECC71"/>
            </a:solidFill>
            <a:prstDash val="solid"/>
          </a:ln>
        </p:spPr>
        <p:txBody>
          <a:bodyPr/>
          <a:lstStyle/>
          <a:p>
            <a:endParaRPr lang="en-US"/>
          </a:p>
        </p:txBody>
      </p:sp>
      <p:sp>
        <p:nvSpPr>
          <p:cNvPr id="6" name="Text 3"/>
          <p:cNvSpPr/>
          <p:nvPr/>
        </p:nvSpPr>
        <p:spPr>
          <a:xfrm>
            <a:off x="274320" y="777240"/>
            <a:ext cx="5669280" cy="411480"/>
          </a:xfrm>
          <a:prstGeom prst="rect">
            <a:avLst/>
          </a:prstGeom>
          <a:noFill/>
          <a:ln/>
        </p:spPr>
        <p:txBody>
          <a:bodyPr wrap="square" rtlCol="0" anchor="ctr"/>
          <a:lstStyle/>
          <a:p>
            <a:pPr marL="0" indent="0" algn="ctr">
              <a:buNone/>
            </a:pPr>
            <a:r>
              <a:rPr lang="en-US" sz="1300" b="1" dirty="0">
                <a:solidFill>
                  <a:srgbClr val="2ECC71"/>
                </a:solidFill>
                <a:latin typeface="Calibri" pitchFamily="34" charset="0"/>
                <a:ea typeface="Calibri" pitchFamily="34" charset="-122"/>
                <a:cs typeface="Calibri" pitchFamily="34" charset="-120"/>
              </a:rPr>
              <a:t>Conclusions</a:t>
            </a:r>
            <a:endParaRPr lang="en-US" sz="1300" dirty="0"/>
          </a:p>
        </p:txBody>
      </p:sp>
      <p:sp>
        <p:nvSpPr>
          <p:cNvPr id="7" name="Text 4"/>
          <p:cNvSpPr/>
          <p:nvPr/>
        </p:nvSpPr>
        <p:spPr>
          <a:xfrm>
            <a:off x="411480" y="1261872"/>
            <a:ext cx="5394960" cy="3246120"/>
          </a:xfrm>
          <a:prstGeom prst="rect">
            <a:avLst/>
          </a:prstGeom>
          <a:noFill/>
          <a:ln/>
        </p:spPr>
        <p:txBody>
          <a:bodyPr wrap="square" rtlCol="0" anchor="t"/>
          <a:lstStyle/>
          <a:p>
            <a:pPr marL="0" indent="0">
              <a:buNone/>
            </a:pPr>
            <a:r>
              <a:rPr lang="en-US" sz="1100" b="1" dirty="0">
                <a:solidFill>
                  <a:srgbClr val="2ECC71"/>
                </a:solidFill>
                <a:latin typeface="Calibri" pitchFamily="34" charset="0"/>
                <a:ea typeface="Calibri" pitchFamily="34" charset="-122"/>
                <a:cs typeface="Calibri" pitchFamily="34" charset="-120"/>
              </a:rPr>
              <a:t xml:space="preserve">1.  </a:t>
            </a:r>
            <a:r>
              <a:rPr lang="en-US" sz="1100" dirty="0">
                <a:solidFill>
                  <a:srgbClr val="D9EBF0"/>
                </a:solidFill>
                <a:latin typeface="Calibri" pitchFamily="34" charset="0"/>
                <a:ea typeface="Calibri" pitchFamily="34" charset="-122"/>
                <a:cs typeface="Calibri" pitchFamily="34" charset="-120"/>
              </a:rPr>
              <a:t>Balcony PV systems can be seamlessly integrated as virtual energy sensors within an existing smart home platform
</a:t>
            </a:r>
            <a:r>
              <a:rPr lang="en-US" sz="1100" b="1" dirty="0">
                <a:solidFill>
                  <a:srgbClr val="2ECC71"/>
                </a:solidFill>
                <a:latin typeface="Calibri" pitchFamily="34" charset="0"/>
                <a:ea typeface="Calibri" pitchFamily="34" charset="-122"/>
                <a:cs typeface="Calibri" pitchFamily="34" charset="-120"/>
              </a:rPr>
              <a:t xml:space="preserve">2.  </a:t>
            </a:r>
            <a:r>
              <a:rPr lang="en-US" sz="1100" dirty="0">
                <a:solidFill>
                  <a:srgbClr val="D9EBF0"/>
                </a:solidFill>
                <a:latin typeface="Calibri" pitchFamily="34" charset="0"/>
                <a:ea typeface="Calibri" pitchFamily="34" charset="-122"/>
                <a:cs typeface="Calibri" pitchFamily="34" charset="-120"/>
              </a:rPr>
              <a:t>178.6 kWh produced over 6 months → 53.58 CHF saved · 17.86 kg CO₂ avoided — measurable real-world impact
</a:t>
            </a:r>
            <a:r>
              <a:rPr lang="en-US" sz="1100" b="1" dirty="0">
                <a:solidFill>
                  <a:srgbClr val="2ECC71"/>
                </a:solidFill>
                <a:latin typeface="Calibri" pitchFamily="34" charset="0"/>
                <a:ea typeface="Calibri" pitchFamily="34" charset="-122"/>
                <a:cs typeface="Calibri" pitchFamily="34" charset="-120"/>
              </a:rPr>
              <a:t xml:space="preserve">3.  </a:t>
            </a:r>
            <a:r>
              <a:rPr lang="en-US" sz="1100" dirty="0">
                <a:solidFill>
                  <a:srgbClr val="D9EBF0"/>
                </a:solidFill>
                <a:latin typeface="Calibri" pitchFamily="34" charset="0"/>
                <a:ea typeface="Calibri" pitchFamily="34" charset="-122"/>
                <a:cs typeface="Calibri" pitchFamily="34" charset="-120"/>
              </a:rPr>
              <a:t>Specific yield (298 kWh/kWp) and capacity factor (6.8%) consistent with literature for autumn–winter conditions
</a:t>
            </a:r>
            <a:r>
              <a:rPr lang="en-US" sz="1100" b="1" dirty="0">
                <a:solidFill>
                  <a:srgbClr val="2ECC71"/>
                </a:solidFill>
                <a:latin typeface="Calibri" pitchFamily="34" charset="0"/>
                <a:ea typeface="Calibri" pitchFamily="34" charset="-122"/>
                <a:cs typeface="Calibri" pitchFamily="34" charset="-120"/>
              </a:rPr>
              <a:t xml:space="preserve">4.  </a:t>
            </a:r>
            <a:r>
              <a:rPr lang="en-US" sz="1100" dirty="0">
                <a:solidFill>
                  <a:srgbClr val="D9EBF0"/>
                </a:solidFill>
                <a:latin typeface="Calibri" pitchFamily="34" charset="0"/>
                <a:ea typeface="Calibri" pitchFamily="34" charset="-122"/>
                <a:cs typeface="Calibri" pitchFamily="34" charset="-120"/>
              </a:rPr>
              <a:t>IoT integration adds monitoring and awareness value beyond standalone PV installations
</a:t>
            </a:r>
            <a:r>
              <a:rPr lang="en-US" sz="1100" b="1" dirty="0">
                <a:solidFill>
                  <a:srgbClr val="2ECC71"/>
                </a:solidFill>
                <a:latin typeface="Calibri" pitchFamily="34" charset="0"/>
                <a:ea typeface="Calibri" pitchFamily="34" charset="-122"/>
                <a:cs typeface="Calibri" pitchFamily="34" charset="-120"/>
              </a:rPr>
              <a:t xml:space="preserve">5.  </a:t>
            </a:r>
            <a:r>
              <a:rPr lang="en-US" sz="1100" dirty="0">
                <a:solidFill>
                  <a:srgbClr val="D9EBF0"/>
                </a:solidFill>
                <a:latin typeface="Calibri" pitchFamily="34" charset="0"/>
                <a:ea typeface="Calibri" pitchFamily="34" charset="-122"/>
                <a:cs typeface="Calibri" pitchFamily="34" charset="-120"/>
              </a:rPr>
              <a:t>The architecture is scalable and replicable for other devices and deployments</a:t>
            </a:r>
            <a:endParaRPr lang="en-US" sz="1100" dirty="0"/>
          </a:p>
        </p:txBody>
      </p:sp>
      <p:sp>
        <p:nvSpPr>
          <p:cNvPr id="8" name="Shape 5"/>
          <p:cNvSpPr/>
          <p:nvPr/>
        </p:nvSpPr>
        <p:spPr>
          <a:xfrm>
            <a:off x="6126480" y="777240"/>
            <a:ext cx="2743200" cy="3794760"/>
          </a:xfrm>
          <a:prstGeom prst="rect">
            <a:avLst/>
          </a:prstGeom>
          <a:solidFill>
            <a:srgbClr val="1A3040"/>
          </a:solidFill>
          <a:ln w="12700">
            <a:solidFill>
              <a:srgbClr val="F5A623"/>
            </a:solidFill>
            <a:prstDash val="solid"/>
          </a:ln>
        </p:spPr>
        <p:txBody>
          <a:bodyPr/>
          <a:lstStyle/>
          <a:p>
            <a:endParaRPr lang="en-US"/>
          </a:p>
        </p:txBody>
      </p:sp>
      <p:sp>
        <p:nvSpPr>
          <p:cNvPr id="9" name="Text 6"/>
          <p:cNvSpPr/>
          <p:nvPr/>
        </p:nvSpPr>
        <p:spPr>
          <a:xfrm>
            <a:off x="6126480" y="777240"/>
            <a:ext cx="2743200" cy="411480"/>
          </a:xfrm>
          <a:prstGeom prst="rect">
            <a:avLst/>
          </a:prstGeom>
          <a:noFill/>
          <a:ln/>
        </p:spPr>
        <p:txBody>
          <a:bodyPr wrap="square" rtlCol="0" anchor="ctr"/>
          <a:lstStyle/>
          <a:p>
            <a:pPr marL="0" indent="0" algn="ctr">
              <a:buNone/>
            </a:pPr>
            <a:r>
              <a:rPr lang="en-US" sz="1300" b="1" dirty="0">
                <a:solidFill>
                  <a:srgbClr val="F5A623"/>
                </a:solidFill>
                <a:latin typeface="Calibri" pitchFamily="34" charset="0"/>
                <a:ea typeface="Calibri" pitchFamily="34" charset="-122"/>
                <a:cs typeface="Calibri" pitchFamily="34" charset="-120"/>
              </a:rPr>
              <a:t>Future Work</a:t>
            </a:r>
            <a:endParaRPr lang="en-US" sz="1300" dirty="0"/>
          </a:p>
        </p:txBody>
      </p:sp>
      <p:sp>
        <p:nvSpPr>
          <p:cNvPr id="10" name="Text 7"/>
          <p:cNvSpPr/>
          <p:nvPr/>
        </p:nvSpPr>
        <p:spPr>
          <a:xfrm>
            <a:off x="6263640" y="1261872"/>
            <a:ext cx="2468880" cy="3246120"/>
          </a:xfrm>
          <a:prstGeom prst="rect">
            <a:avLst/>
          </a:prstGeom>
          <a:noFill/>
          <a:ln/>
        </p:spPr>
        <p:txBody>
          <a:bodyPr wrap="square" rtlCol="0" anchor="t"/>
          <a:lstStyle/>
          <a:p>
            <a:pPr marL="0" indent="0">
              <a:buNone/>
            </a:pPr>
            <a:r>
              <a:rPr lang="en-US" sz="1050" b="1" dirty="0">
                <a:solidFill>
                  <a:srgbClr val="F5A623"/>
                </a:solidFill>
                <a:latin typeface="Calibri" pitchFamily="34" charset="0"/>
                <a:ea typeface="Calibri" pitchFamily="34" charset="-122"/>
                <a:cs typeface="Calibri" pitchFamily="34" charset="-120"/>
              </a:rPr>
              <a:t xml:space="preserve">→  </a:t>
            </a:r>
            <a:r>
              <a:rPr lang="en-US" sz="1050" dirty="0">
                <a:solidFill>
                  <a:srgbClr val="D9EBF0"/>
                </a:solidFill>
                <a:latin typeface="Calibri" pitchFamily="34" charset="0"/>
                <a:ea typeface="Calibri" pitchFamily="34" charset="-122"/>
                <a:cs typeface="Calibri" pitchFamily="34" charset="-120"/>
              </a:rPr>
              <a:t>Extend monitoring: full annual and multi-year dataset
</a:t>
            </a:r>
            <a:r>
              <a:rPr lang="en-US" sz="1050" b="1" dirty="0">
                <a:solidFill>
                  <a:srgbClr val="F5A623"/>
                </a:solidFill>
                <a:latin typeface="Calibri" pitchFamily="34" charset="0"/>
                <a:ea typeface="Calibri" pitchFamily="34" charset="-122"/>
                <a:cs typeface="Calibri" pitchFamily="34" charset="-120"/>
              </a:rPr>
              <a:t xml:space="preserve">→  </a:t>
            </a:r>
            <a:r>
              <a:rPr lang="en-US" sz="1050" dirty="0">
                <a:solidFill>
                  <a:srgbClr val="D9EBF0"/>
                </a:solidFill>
                <a:latin typeface="Calibri" pitchFamily="34" charset="0"/>
                <a:ea typeface="Calibri" pitchFamily="34" charset="-122"/>
                <a:cs typeface="Calibri" pitchFamily="34" charset="-120"/>
              </a:rPr>
              <a:t>Production forecasting: use historical data + weather API
</a:t>
            </a:r>
            <a:r>
              <a:rPr lang="en-US" sz="1050" b="1" dirty="0">
                <a:solidFill>
                  <a:srgbClr val="F5A623"/>
                </a:solidFill>
                <a:latin typeface="Calibri" pitchFamily="34" charset="0"/>
                <a:ea typeface="Calibri" pitchFamily="34" charset="-122"/>
                <a:cs typeface="Calibri" pitchFamily="34" charset="-120"/>
              </a:rPr>
              <a:t xml:space="preserve">→  </a:t>
            </a:r>
            <a:r>
              <a:rPr lang="en-US" sz="1050" dirty="0">
                <a:solidFill>
                  <a:srgbClr val="D9EBF0"/>
                </a:solidFill>
                <a:latin typeface="Calibri" pitchFamily="34" charset="0"/>
                <a:ea typeface="Calibri" pitchFamily="34" charset="-122"/>
                <a:cs typeface="Calibri" pitchFamily="34" charset="-120"/>
              </a:rPr>
              <a:t>Smart automation: trigger appliances during peak solar output
</a:t>
            </a:r>
            <a:r>
              <a:rPr lang="en-US" sz="1050" b="1" dirty="0">
                <a:solidFill>
                  <a:srgbClr val="F5A623"/>
                </a:solidFill>
                <a:latin typeface="Calibri" pitchFamily="34" charset="0"/>
                <a:ea typeface="Calibri" pitchFamily="34" charset="-122"/>
                <a:cs typeface="Calibri" pitchFamily="34" charset="-120"/>
              </a:rPr>
              <a:t xml:space="preserve">→  </a:t>
            </a:r>
            <a:r>
              <a:rPr lang="en-US" sz="1050" dirty="0">
                <a:solidFill>
                  <a:srgbClr val="D9EBF0"/>
                </a:solidFill>
                <a:latin typeface="Calibri" pitchFamily="34" charset="0"/>
                <a:ea typeface="Calibri" pitchFamily="34" charset="-122"/>
                <a:cs typeface="Calibri" pitchFamily="34" charset="-120"/>
              </a:rPr>
              <a:t>Multi-installation study: different orientations, climates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2027"/>
        </a:solidFill>
        <a:effectLst/>
      </p:bgPr>
    </p:bg>
    <p:spTree>
      <p:nvGrpSpPr>
        <p:cNvPr id="1" name=""/>
        <p:cNvGrpSpPr/>
        <p:nvPr/>
      </p:nvGrpSpPr>
      <p:grpSpPr>
        <a:xfrm>
          <a:off x="0" y="0"/>
          <a:ext cx="0" cy="0"/>
          <a:chOff x="0" y="0"/>
          <a:chExt cx="0" cy="0"/>
        </a:xfrm>
      </p:grpSpPr>
      <p:sp>
        <p:nvSpPr>
          <p:cNvPr id="2" name="Shape 0"/>
          <p:cNvSpPr/>
          <p:nvPr/>
        </p:nvSpPr>
        <p:spPr>
          <a:xfrm>
            <a:off x="1828800" y="731520"/>
            <a:ext cx="5486400" cy="5486400"/>
          </a:xfrm>
          <a:prstGeom prst="ellipse">
            <a:avLst/>
          </a:prstGeom>
          <a:solidFill>
            <a:srgbClr val="F5A623">
              <a:alpha val="10000"/>
            </a:srgbClr>
          </a:solidFill>
          <a:ln w="12700">
            <a:solidFill>
              <a:srgbClr val="F5A623">
                <a:alpha val="10000"/>
              </a:srgbClr>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3840480" y="365760"/>
            <a:ext cx="1463040" cy="1261872"/>
          </a:xfrm>
          <a:prstGeom prst="rect">
            <a:avLst/>
          </a:prstGeom>
        </p:spPr>
      </p:pic>
      <p:sp>
        <p:nvSpPr>
          <p:cNvPr id="4" name="Text 1"/>
          <p:cNvSpPr/>
          <p:nvPr/>
        </p:nvSpPr>
        <p:spPr>
          <a:xfrm>
            <a:off x="457200" y="1783080"/>
            <a:ext cx="8229600" cy="822960"/>
          </a:xfrm>
          <a:prstGeom prst="rect">
            <a:avLst/>
          </a:prstGeom>
          <a:noFill/>
          <a:ln/>
        </p:spPr>
        <p:txBody>
          <a:bodyPr wrap="square"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Thank You!</a:t>
            </a:r>
            <a:endParaRPr lang="en-US" sz="4400" dirty="0"/>
          </a:p>
        </p:txBody>
      </p:sp>
      <p:sp>
        <p:nvSpPr>
          <p:cNvPr id="5" name="Shape 2"/>
          <p:cNvSpPr/>
          <p:nvPr/>
        </p:nvSpPr>
        <p:spPr>
          <a:xfrm>
            <a:off x="2743200" y="2743200"/>
            <a:ext cx="3657600" cy="45720"/>
          </a:xfrm>
          <a:prstGeom prst="rect">
            <a:avLst/>
          </a:prstGeom>
          <a:solidFill>
            <a:srgbClr val="F5A623"/>
          </a:solidFill>
          <a:ln w="12700">
            <a:solidFill>
              <a:srgbClr val="F5A623"/>
            </a:solidFill>
            <a:prstDash val="solid"/>
          </a:ln>
        </p:spPr>
        <p:txBody>
          <a:bodyPr/>
          <a:lstStyle/>
          <a:p>
            <a:endParaRPr lang="en-US"/>
          </a:p>
        </p:txBody>
      </p:sp>
      <p:sp>
        <p:nvSpPr>
          <p:cNvPr id="6" name="Text 3"/>
          <p:cNvSpPr/>
          <p:nvPr/>
        </p:nvSpPr>
        <p:spPr>
          <a:xfrm>
            <a:off x="457200" y="2834640"/>
            <a:ext cx="8229600" cy="411480"/>
          </a:xfrm>
          <a:prstGeom prst="rect">
            <a:avLst/>
          </a:prstGeom>
          <a:noFill/>
          <a:ln/>
        </p:spPr>
        <p:txBody>
          <a:bodyPr wrap="square" rtlCol="0" anchor="ctr"/>
          <a:lstStyle/>
          <a:p>
            <a:pPr marL="0" indent="0" algn="ctr">
              <a:buNone/>
            </a:pPr>
            <a:r>
              <a:rPr lang="en-US" sz="1800" dirty="0">
                <a:solidFill>
                  <a:srgbClr val="8EAEBE"/>
                </a:solidFill>
                <a:latin typeface="Calibri" pitchFamily="34" charset="0"/>
                <a:ea typeface="Calibri" pitchFamily="34" charset="-122"/>
                <a:cs typeface="Calibri" pitchFamily="34" charset="-120"/>
              </a:rPr>
              <a:t>Questions &amp; Discussion</a:t>
            </a:r>
            <a:endParaRPr lang="en-US" sz="1800" dirty="0"/>
          </a:p>
        </p:txBody>
      </p:sp>
      <p:sp>
        <p:nvSpPr>
          <p:cNvPr id="7" name="Text 4"/>
          <p:cNvSpPr/>
          <p:nvPr/>
        </p:nvSpPr>
        <p:spPr>
          <a:xfrm>
            <a:off x="457200" y="3383280"/>
            <a:ext cx="8229600" cy="347472"/>
          </a:xfrm>
          <a:prstGeom prst="rect">
            <a:avLst/>
          </a:prstGeom>
          <a:noFill/>
          <a:ln/>
        </p:spPr>
        <p:txBody>
          <a:bodyPr wrap="square" rtlCol="0" anchor="ctr"/>
          <a:lstStyle/>
          <a:p>
            <a:pPr marL="0" indent="0" algn="ctr">
              <a:buNone/>
            </a:pPr>
            <a:r>
              <a:rPr lang="en-US" sz="1300" dirty="0">
                <a:solidFill>
                  <a:srgbClr val="D9EBF0"/>
                </a:solidFill>
                <a:latin typeface="Calibri" pitchFamily="34" charset="0"/>
                <a:ea typeface="Calibri" pitchFamily="34" charset="-122"/>
                <a:cs typeface="Calibri" pitchFamily="34" charset="-120"/>
              </a:rPr>
              <a:t>Ognjen Stojisavljević  |  ognjen.stojisavljevic@rt-rk.com</a:t>
            </a:r>
            <a:endParaRPr lang="en-US" sz="1300" dirty="0"/>
          </a:p>
        </p:txBody>
      </p:sp>
      <p:sp>
        <p:nvSpPr>
          <p:cNvPr id="8" name="Text 5"/>
          <p:cNvSpPr/>
          <p:nvPr/>
        </p:nvSpPr>
        <p:spPr>
          <a:xfrm>
            <a:off x="457200" y="3730752"/>
            <a:ext cx="8229600" cy="292608"/>
          </a:xfrm>
          <a:prstGeom prst="rect">
            <a:avLst/>
          </a:prstGeom>
          <a:noFill/>
          <a:ln/>
        </p:spPr>
        <p:txBody>
          <a:bodyPr wrap="square" rtlCol="0" anchor="ctr"/>
          <a:lstStyle/>
          <a:p>
            <a:pPr marL="0" indent="0" algn="ctr">
              <a:buNone/>
            </a:pPr>
            <a:r>
              <a:rPr lang="en-US" sz="1100" dirty="0">
                <a:solidFill>
                  <a:srgbClr val="8EAEBE"/>
                </a:solidFill>
                <a:latin typeface="Calibri" pitchFamily="34" charset="0"/>
                <a:ea typeface="Calibri" pitchFamily="34" charset="-122"/>
                <a:cs typeface="Calibri" pitchFamily="34" charset="-120"/>
              </a:rPr>
              <a:t>RT-RK Institute for Computer Based Systems, Novi Sad, Serbia</a:t>
            </a:r>
            <a:endParaRPr lang="en-US" sz="1100" dirty="0"/>
          </a:p>
        </p:txBody>
      </p:sp>
      <p:sp>
        <p:nvSpPr>
          <p:cNvPr id="9" name="Text 6"/>
          <p:cNvSpPr/>
          <p:nvPr/>
        </p:nvSpPr>
        <p:spPr>
          <a:xfrm>
            <a:off x="914400" y="4160520"/>
            <a:ext cx="7315200" cy="365760"/>
          </a:xfrm>
          <a:prstGeom prst="rect">
            <a:avLst/>
          </a:prstGeom>
          <a:noFill/>
          <a:ln/>
        </p:spPr>
        <p:txBody>
          <a:bodyPr wrap="square" rtlCol="0" anchor="ctr"/>
          <a:lstStyle/>
          <a:p>
            <a:pPr marL="0" indent="0" algn="ctr">
              <a:buNone/>
            </a:pPr>
            <a:r>
              <a:rPr lang="en-US" sz="900" i="1" dirty="0">
                <a:solidFill>
                  <a:srgbClr val="607080"/>
                </a:solidFill>
                <a:latin typeface="Calibri" pitchFamily="34" charset="0"/>
                <a:ea typeface="Calibri" pitchFamily="34" charset="-122"/>
                <a:cs typeface="Calibri" pitchFamily="34" charset="-120"/>
              </a:rPr>
              <a:t>Supported by the Ministry of Science, Technological Development and Innovation  ·  Contract 451-03-34/2026-03/200156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2946</TotalTime>
  <Words>2863</Words>
  <Application>Microsoft Macintosh PowerPoint</Application>
  <PresentationFormat>On-screen Show (16:9)</PresentationFormat>
  <Paragraphs>227</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Solar Energy Production in Urban Environments</dc:title>
  <dc:subject>PptxGenJS Presentation</dc:subject>
  <dc:creator>PptxGenJS</dc:creator>
  <cp:lastModifiedBy>Ognjen Stojisavljevic</cp:lastModifiedBy>
  <cp:revision>5</cp:revision>
  <dcterms:created xsi:type="dcterms:W3CDTF">2026-05-25T18:46:10Z</dcterms:created>
  <dcterms:modified xsi:type="dcterms:W3CDTF">2026-06-03T20:41:53Z</dcterms:modified>
</cp:coreProperties>
</file>