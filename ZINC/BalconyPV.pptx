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charts/chart2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65"/>
    <p:restoredTop sz="94598"/>
  </p:normalViewPr>
  <p:slideViewPr>
    <p:cSldViewPr snapToGrid="0" snapToObjects="1">
      <p:cViewPr varScale="1">
        <p:scale>
          <a:sx n="155" d="100"/>
          <a:sy n="155" d="100"/>
        </p:scale>
        <p:origin x="192" y="2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Energy Production (kWh)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Sep
65.0</c:v>
                </c:pt>
                <c:pt idx="1">
                  <c:v>Oct
42.0</c:v>
                </c:pt>
                <c:pt idx="2">
                  <c:v>Nov
23.9</c:v>
                </c:pt>
                <c:pt idx="3">
                  <c:v>Dec
12.2</c:v>
                </c:pt>
                <c:pt idx="4">
                  <c:v>Jan
14.4</c:v>
                </c:pt>
                <c:pt idx="5">
                  <c:v>Feb
21.1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65</c:v>
                </c:pt>
                <c:pt idx="1">
                  <c:v>42</c:v>
                </c:pt>
                <c:pt idx="2">
                  <c:v>23.9</c:v>
                </c:pt>
                <c:pt idx="3">
                  <c:v>12.2</c:v>
                </c:pt>
                <c:pt idx="4">
                  <c:v>14.4</c:v>
                </c:pt>
                <c:pt idx="5">
                  <c:v>21.1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3F9-3645-9FB1-FD0F898D839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D9EBF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203A4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D9EBF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1A3040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Daily Production (kWh)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cat>
            <c:strRef>
              <c:f>Sheet1!$A$2:$A$31</c:f>
              <c:strCache>
                <c:ptCount val="3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</c:strCache>
            </c: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2.1</c:v>
                </c:pt>
                <c:pt idx="1">
                  <c:v>2.8</c:v>
                </c:pt>
                <c:pt idx="2">
                  <c:v>3.3</c:v>
                </c:pt>
                <c:pt idx="3">
                  <c:v>3.5</c:v>
                </c:pt>
                <c:pt idx="4">
                  <c:v>3.2</c:v>
                </c:pt>
                <c:pt idx="5">
                  <c:v>2.9</c:v>
                </c:pt>
                <c:pt idx="6">
                  <c:v>1.4</c:v>
                </c:pt>
                <c:pt idx="7">
                  <c:v>0.9</c:v>
                </c:pt>
                <c:pt idx="8">
                  <c:v>2.7</c:v>
                </c:pt>
                <c:pt idx="9">
                  <c:v>3.4</c:v>
                </c:pt>
                <c:pt idx="10">
                  <c:v>3.2</c:v>
                </c:pt>
                <c:pt idx="11">
                  <c:v>3.1</c:v>
                </c:pt>
                <c:pt idx="12">
                  <c:v>2.6</c:v>
                </c:pt>
                <c:pt idx="13">
                  <c:v>2.2000000000000002</c:v>
                </c:pt>
                <c:pt idx="14">
                  <c:v>3</c:v>
                </c:pt>
                <c:pt idx="15">
                  <c:v>3.3</c:v>
                </c:pt>
                <c:pt idx="16">
                  <c:v>2.8</c:v>
                </c:pt>
                <c:pt idx="17">
                  <c:v>2.5</c:v>
                </c:pt>
                <c:pt idx="18">
                  <c:v>1.8</c:v>
                </c:pt>
                <c:pt idx="19">
                  <c:v>2.1</c:v>
                </c:pt>
                <c:pt idx="20">
                  <c:v>2.4</c:v>
                </c:pt>
                <c:pt idx="21">
                  <c:v>3.1</c:v>
                </c:pt>
                <c:pt idx="22">
                  <c:v>3.4</c:v>
                </c:pt>
                <c:pt idx="23">
                  <c:v>3.2</c:v>
                </c:pt>
                <c:pt idx="24">
                  <c:v>2.9</c:v>
                </c:pt>
                <c:pt idx="25">
                  <c:v>1.2</c:v>
                </c:pt>
                <c:pt idx="26">
                  <c:v>0.6</c:v>
                </c:pt>
                <c:pt idx="27">
                  <c:v>1.8</c:v>
                </c:pt>
                <c:pt idx="28">
                  <c:v>2.2000000000000002</c:v>
                </c:pt>
                <c:pt idx="29">
                  <c:v>2.7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E80-864F-AD7F-4CF9F3F8A44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E8F4F8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161834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</a:t>
            </a:r>
            <a:r>
              <a:rPr lang="en-US" sz="1200" b="1">
                <a:solidFill>
                  <a:srgbClr val="1A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the audience, introduce yourself and co-author Marija Antić</a:t>
            </a:r>
            <a:br>
              <a:rPr lang="en-US" sz="1200" b="1">
                <a:solidFill>
                  <a:srgbClr val="1A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</a:t>
            </a:r>
            <a:r>
              <a:rPr lang="en-US" sz="1200">
                <a:solidFill>
                  <a:srgbClr val="1A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Topic: integrating a balcony PV system into the OBLO smart home platform</a:t>
            </a:r>
            <a:endParaRPr lang="en-US" sz="120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</a:t>
            </a:r>
            <a:r>
              <a:rPr lang="en-US" sz="1200">
                <a:solidFill>
                  <a:srgbClr val="1A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Motivation: apartments → no rooftop access → need an alternative</a:t>
            </a:r>
            <a:endParaRPr lang="en-US" sz="120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</a:t>
            </a:r>
            <a:r>
              <a:rPr lang="en-US" sz="1200">
                <a:solidFill>
                  <a:srgbClr val="1A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 duration: ~15 minutes, followed by questions</a:t>
            </a:r>
            <a:endParaRPr lang="en-US" sz="120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Energy prices are rising → households look for ways to reduce grid dependency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Most urban residents live in apartments → rooftop PV is not an option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Balcony power plants: plug-in, easy installation, growing adoption in Germany and Switzerland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Our contribution: not just deploying hardware, but integrating it into a smart home ecosystem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Two research streams: balcony PV performance (Krauter, Polański) + IoT smart home energy (Badar, Ivanović)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Both directions well-studied — but separately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Gap: no work combining real-time PV monitoring with a smart home platform using real operational data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Our paper fills that gap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OBLO is a distributed smart home platform developed at RT-RK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4 components: Controller (the brain), Cloud (remote access), App (user interface), Devices (sensors/actuators)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Controller supports all major protocols → new devices are easy to add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Cloud layer: each device has a unique ID → scalable, multi-user ready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The PV system becomes just another peripheral device in this architecture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2 panels × 300W = 600W capacity, no battery storage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Inverter uses a proprietary 2.4 GHz RF protocol → can't be read directly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DTU solution: ESP8266 + NRF24 module, open-source OpenDTU firmware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DTU total cost: under €10, auto-discovery via mDNS — zero manual configuration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DTU acts as a protocol bridge: proprietary RF in → standard JSON over HTTP out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5 steps: RF → DTU HTTP → Controller polling (every 10 min) → JSON parsing → MQTT to cloud/app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10-minute polling interval: balance between data granularity and network load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Controller abstracts the PV as a 'virtual sensor' — rest of the platform doesn't know it's a solar panel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Monitored: AC voltage, current, total energy (kWh), instantaneous power (W)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Latency from measurement to app display: negligible for residential 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Sep 2025 – Feb 2026 (6 months) → autumn + winter, NOT summer — important context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Location: Suhr, Switzerland — temperate climate, 1000–1400 kWh/m² annual irradiation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Fully automated data collection, no manual intervention required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Metrics: total production, financial savings, CO₂ reduction, specific yield, capacity factor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Mention limitation proactively: single installation, 6-month window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Clear seasonal pattern: Sep 65 kWh → Dec 12.2 kWh → slight recovery toward Feb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Sep/Dec ratio = 5.4× → system is highly sensitive to season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Total 178.6 kWh over 6 months — with zero data loss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Recovery Jan→Feb: days are getting longer again, consistent with solar geometry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Projection: annual yield with summer months included would be considerably higher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Daily granularity within September — the best month in our dataset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Peak: ~3.5 kWh/day on sunny days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Visible dips = cloudy days → PV output is strongly weather-dependent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In winter: many days fall below 0.5 kWh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Justifies real-time monitoring: user can instantly see today's production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53.58 CHF over 6 months → annualised with summer: ~100–200 CHF/year in Switzerland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17.86 kg CO₂ avoided — Swiss grid is low-carbon; saving would be larger in coal-heavy grids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Specific yield 298 kWh/kWp → within literature range (Krauter: 250–400 kWh/kWp)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CF 6.8% is a SEASONAL value (autumn+winter only) → annual CF typically 10–15%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All 4 metrics tell a consistent story: real, achievable benefits for any apartment resident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Zero data loss over 6 months — validates the lightweight 10-minute polling approach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MQTT stack stable throughout — scales well to include energy production monitoring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Virtual sensor abstraction is architecturally significant → adding future energy devices is trivial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Transition: "What can we conclude — and what are the limitations?"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Be proactive about limitations — it shows scientific rigor, not weakness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Single installation, 6 months → valid as proof-of-concept, not a final benchmark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Non-optimal panel orientation → typical for balcony systems, accounted for in literature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Key contribution is not the energy numbers — it's the demonstrated integration architecture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Core message: balcony PV + smart home = practical, scalable solution for urban apartments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Dual contribution: (1) energy/financial/environmental gains, (2) engineering integration architecture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Most interesting future extension: smart automation — trigger appliances when the sun is shining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Thank the audience and invite questions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Q: Hardware cost? → ESP8266 + NRF24 &lt; €10; panels + inverter €150–300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Q: Why not a direct API from the inverter? → Proprietary RF; OpenDTU is the only open solution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Q: Summer performance? → Not in this dataset; estimated ~600–800 kWh/year for 600W in Switzerland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Q: Applicable to other smart home platforms? → Yes, REST/MQTT architecture is standard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0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1371600"/>
            <a:ext cx="5486400" cy="5486400"/>
          </a:xfrm>
          <a:prstGeom prst="ellipse">
            <a:avLst/>
          </a:prstGeom>
          <a:solidFill>
            <a:srgbClr val="F5A623">
              <a:alpha val="15000"/>
            </a:srgbClr>
          </a:solidFill>
          <a:ln w="12700">
            <a:solidFill>
              <a:srgbClr val="F5A623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858000" y="-731520"/>
            <a:ext cx="3657600" cy="3657600"/>
          </a:xfrm>
          <a:prstGeom prst="ellipse">
            <a:avLst/>
          </a:prstGeom>
          <a:solidFill>
            <a:srgbClr val="2ECC71">
              <a:alpha val="12000"/>
            </a:srgbClr>
          </a:solidFill>
          <a:ln w="12700">
            <a:solidFill>
              <a:srgbClr val="2ECC71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65760"/>
            <a:ext cx="1005840" cy="8686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325880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Energy Production in Urban Environments</a:t>
            </a:r>
            <a:endParaRPr lang="en-US" sz="3100" dirty="0"/>
          </a:p>
        </p:txBody>
      </p:sp>
      <p:sp>
        <p:nvSpPr>
          <p:cNvPr id="6" name="Shape 3"/>
          <p:cNvSpPr/>
          <p:nvPr/>
        </p:nvSpPr>
        <p:spPr>
          <a:xfrm>
            <a:off x="457200" y="2194560"/>
            <a:ext cx="548640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457200" y="23317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8E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of Balcony Power Plant into the OBLO Smart Home System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457200" y="30175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Ognjen Stojisavljević  |  Marija Antić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E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RT-RK Institute for Computer Based Systems  |  Faculty of Technical Sciences, University of Novi Sad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4160520"/>
            <a:ext cx="1920240" cy="347472"/>
          </a:xfrm>
          <a:prstGeom prst="roundRect">
            <a:avLst>
              <a:gd name="adj" fmla="val 26316"/>
            </a:avLst>
          </a:prstGeom>
          <a:solidFill>
            <a:srgbClr val="203A4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457200" y="416052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Home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560320" y="4160520"/>
            <a:ext cx="1920240" cy="347472"/>
          </a:xfrm>
          <a:prstGeom prst="roundRect">
            <a:avLst>
              <a:gd name="adj" fmla="val 26316"/>
            </a:avLst>
          </a:prstGeom>
          <a:solidFill>
            <a:srgbClr val="203A4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2560320" y="416052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Photovoltaics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663440" y="4160520"/>
            <a:ext cx="1920240" cy="347472"/>
          </a:xfrm>
          <a:prstGeom prst="roundRect">
            <a:avLst>
              <a:gd name="adj" fmla="val 26316"/>
            </a:avLst>
          </a:prstGeom>
          <a:solidFill>
            <a:srgbClr val="203A4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4663440" y="416052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766560" y="4160520"/>
            <a:ext cx="1920240" cy="347472"/>
          </a:xfrm>
          <a:prstGeom prst="roundRect">
            <a:avLst>
              <a:gd name="adj" fmla="val 26316"/>
            </a:avLst>
          </a:prstGeom>
          <a:solidFill>
            <a:srgbClr val="203A4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6766560" y="416052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Energy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2027"/>
          </a:solidFill>
          <a:ln w="12700">
            <a:solidFill>
              <a:srgbClr val="0F20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736" y="109728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10972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&amp; Motivation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274320" y="777240"/>
            <a:ext cx="2788920" cy="2743200"/>
          </a:xfrm>
          <a:prstGeom prst="rect">
            <a:avLst/>
          </a:prstGeom>
          <a:solidFill>
            <a:srgbClr val="E8F4F8"/>
          </a:solidFill>
          <a:ln w="254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274320" y="777240"/>
            <a:ext cx="2788920" cy="54864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868680"/>
            <a:ext cx="594360" cy="53035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65760" y="146304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Energy Costs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365760" y="1920240"/>
            <a:ext cx="2606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Electricity prices in the EU have increased significantly. Households seek ways to reduce dependency on the public grid.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46120" y="777240"/>
            <a:ext cx="2788920" cy="2743200"/>
          </a:xfrm>
          <a:prstGeom prst="rect">
            <a:avLst/>
          </a:prstGeom>
          <a:solidFill>
            <a:srgbClr val="E8F4F8"/>
          </a:solidFill>
          <a:ln w="254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3246120" y="777240"/>
            <a:ext cx="2788920" cy="5486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3400" y="868680"/>
            <a:ext cx="594360" cy="53035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337560" y="146304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Housing Constraints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3337560" y="1920240"/>
            <a:ext cx="2606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majority of urban residents live in apartment buildings where traditional rooftop PV installations are not feasible.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6217920" y="777240"/>
            <a:ext cx="2788920" cy="2743200"/>
          </a:xfrm>
          <a:prstGeom prst="rect">
            <a:avLst/>
          </a:prstGeom>
          <a:solidFill>
            <a:srgbClr val="E8F4F8"/>
          </a:solidFill>
          <a:ln w="254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6217920" y="777240"/>
            <a:ext cx="2788920" cy="54864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0" y="868680"/>
            <a:ext cx="594360" cy="53035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309360" y="146304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Sustainability Pressure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6309360" y="1920240"/>
            <a:ext cx="2606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Growing environmental awareness and decarbonization goals drive demand for accessible, small-scale renewable solutions.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274320" y="3703320"/>
            <a:ext cx="8595360" cy="457200"/>
          </a:xfrm>
          <a:prstGeom prst="rect">
            <a:avLst/>
          </a:prstGeom>
          <a:solidFill>
            <a:srgbClr val="203A43"/>
          </a:solidFill>
          <a:ln w="12700">
            <a:solidFill>
              <a:srgbClr val="203A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5"/>
          <p:cNvSpPr/>
          <p:nvPr/>
        </p:nvSpPr>
        <p:spPr>
          <a:xfrm>
            <a:off x="274320" y="370332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Solution: Balcony PV systems + IoT smart home integration → accessible, monitorable, low-cost solar for apartments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20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203A43"/>
          </a:solidFill>
          <a:ln w="12700">
            <a:solidFill>
              <a:srgbClr val="203A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109728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10972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Work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274320" y="777240"/>
            <a:ext cx="4114800" cy="3931920"/>
          </a:xfrm>
          <a:prstGeom prst="rect">
            <a:avLst/>
          </a:prstGeom>
          <a:solidFill>
            <a:srgbClr val="1A3040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274320" y="777240"/>
            <a:ext cx="4114800" cy="4572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274320" y="7772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Balcony PV Systems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11480" y="1325880"/>
            <a:ext cx="3840480" cy="3337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r>
              <a:rPr lang="en-US" sz="10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Krauter &amp; Bendfeld (2024): efficiency ranking of PV microinverters; yield estimations for balcony power plants
</a:t>
            </a: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r>
              <a:rPr lang="en-US" sz="10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Polański (2025): applicability in large-panel prefabricated urban housing
</a:t>
            </a: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r>
              <a:rPr lang="en-US" sz="10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Fakhraian et al. (2021): urban rooftop PV potential
</a:t>
            </a: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</a:t>
            </a:r>
            <a:r>
              <a:rPr lang="en-US" sz="10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Brito et al. (2016): small-scale distributed generation in residential buildings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754880" y="777240"/>
            <a:ext cx="4114800" cy="3931920"/>
          </a:xfrm>
          <a:prstGeom prst="rect">
            <a:avLst/>
          </a:prstGeom>
          <a:solidFill>
            <a:srgbClr val="1A3040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754880" y="777240"/>
            <a:ext cx="4114800" cy="457200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4754880" y="7772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Home &amp; IoT Energy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892040" y="1325880"/>
            <a:ext cx="3840480" cy="3337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r>
              <a:rPr lang="en-US" sz="10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Badar &amp; Anvari-Moghaddam (2020): comprehensive review of smart home energy management systems
</a:t>
            </a:r>
            <a:r>
              <a:rPr lang="en-US" sz="105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r>
              <a:rPr lang="en-US" sz="10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Ivanović et al. (2019): data acquisition and storage in smart home solutions
</a:t>
            </a:r>
            <a:r>
              <a:rPr lang="en-US" sz="105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r>
              <a:rPr lang="en-US" sz="10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Nikolić et al. (2025): cloud-enabled smart home energy optimization
</a:t>
            </a:r>
            <a:r>
              <a:rPr lang="en-US" sz="105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</a:t>
            </a:r>
            <a:r>
              <a:rPr lang="en-US" sz="10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IEA PVPS (2023): global trends in photovoltaic applications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274320" y="4892040"/>
            <a:ext cx="8595360" cy="411480"/>
          </a:xfrm>
          <a:prstGeom prst="rect">
            <a:avLst/>
          </a:prstGeom>
          <a:solidFill>
            <a:srgbClr val="1A2A10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274320" y="48920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i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Gap: Limited work combining real-time balcony PV monitoring with smart home infrastructure using real-world operational data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20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203A43"/>
          </a:solidFill>
          <a:ln w="12700">
            <a:solidFill>
              <a:srgbClr val="203A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109728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10972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OBLO Smart Home Architecture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274320" y="777240"/>
            <a:ext cx="4114800" cy="2057400"/>
          </a:xfrm>
          <a:prstGeom prst="rect">
            <a:avLst/>
          </a:prstGeom>
          <a:solidFill>
            <a:srgbClr val="1A3040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274320" y="777240"/>
            <a:ext cx="64008" cy="20574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" y="914400"/>
            <a:ext cx="438912" cy="40233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05840" y="86868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 (Gateway)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438912" y="1344168"/>
            <a:ext cx="38404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hub. Manages all peripheral devices. Supports IP, BLE, ZigBee, Z-Wave, Matter. Receives and processes PV production data.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4754880" y="777240"/>
            <a:ext cx="4114800" cy="2057400"/>
          </a:xfrm>
          <a:prstGeom prst="rect">
            <a:avLst/>
          </a:prstGeom>
          <a:solidFill>
            <a:srgbClr val="1A3040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4754880" y="777240"/>
            <a:ext cx="64008" cy="2057400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914400"/>
            <a:ext cx="438912" cy="40233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486400" y="86868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Service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4919472" y="1344168"/>
            <a:ext cx="38404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Enables remote access outside local network. Routes HTTP/MQTT between client app and controller. Stores per-device data with unique IDs.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274320" y="2944368"/>
            <a:ext cx="4114800" cy="2057400"/>
          </a:xfrm>
          <a:prstGeom prst="rect">
            <a:avLst/>
          </a:prstGeom>
          <a:solidFill>
            <a:srgbClr val="1A3040"/>
          </a:solidFill>
          <a:ln w="12700">
            <a:solidFill>
              <a:srgbClr val="3498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274320" y="2944368"/>
            <a:ext cx="64008" cy="2057400"/>
          </a:xfrm>
          <a:prstGeom prst="rect">
            <a:avLst/>
          </a:prstGeom>
          <a:solidFill>
            <a:srgbClr val="3498DB"/>
          </a:solidFill>
          <a:ln w="12700">
            <a:solidFill>
              <a:srgbClr val="3498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8912" y="3081528"/>
            <a:ext cx="438912" cy="40233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005840" y="3035808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Application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438912" y="3511296"/>
            <a:ext cx="38404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or web interface. Displays real-time power output, hourly/daily/monthly energy statistics. Supports local (MQTT) and remote (HTTP) modes.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4754880" y="2944368"/>
            <a:ext cx="4114800" cy="2057400"/>
          </a:xfrm>
          <a:prstGeom prst="rect">
            <a:avLst/>
          </a:prstGeom>
          <a:solidFill>
            <a:srgbClr val="1A3040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5"/>
          <p:cNvSpPr/>
          <p:nvPr/>
        </p:nvSpPr>
        <p:spPr>
          <a:xfrm>
            <a:off x="4754880" y="2944368"/>
            <a:ext cx="64008" cy="2057400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9472" y="3081528"/>
            <a:ext cx="438912" cy="40233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486400" y="3035808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Peripheral Devices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4919472" y="3511296"/>
            <a:ext cx="38404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Sensors (data collection) and actuators (command execution). Balcony PV acts as an energy sensor — power (W) and cumulative energy (kWh).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2027"/>
          </a:solidFill>
          <a:ln w="12700">
            <a:solidFill>
              <a:srgbClr val="0F20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109728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10972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— Hardware Setup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274320" y="777240"/>
            <a:ext cx="4114800" cy="4069080"/>
          </a:xfrm>
          <a:prstGeom prst="rect">
            <a:avLst/>
          </a:prstGeom>
          <a:solidFill>
            <a:srgbClr val="E8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274320" y="777240"/>
            <a:ext cx="4114800" cy="438912"/>
          </a:xfrm>
          <a:prstGeom prst="rect">
            <a:avLst/>
          </a:prstGeom>
          <a:solidFill>
            <a:srgbClr val="203A43"/>
          </a:solidFill>
          <a:ln w="12700">
            <a:solidFill>
              <a:srgbClr val="203A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274320" y="777240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 Installation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12984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solar panels: </a:t>
            </a: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in parallel to one microinverter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57200" y="1728216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capacity: </a:t>
            </a: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 W peak (2 × 300 W panels)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57200" y="215798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Inverter comm.: </a:t>
            </a: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proprietary 2.4 GHz RF protocol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57200" y="2587752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battery: </a:t>
            </a: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energy consumed or fed into household network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3017520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Location: </a:t>
            </a: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Suhr, Switzerland (47.37°N, 8.08°E)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754880" y="777240"/>
            <a:ext cx="4114800" cy="4069080"/>
          </a:xfrm>
          <a:prstGeom prst="rect">
            <a:avLst/>
          </a:prstGeom>
          <a:solidFill>
            <a:srgbClr val="E8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4754880" y="777240"/>
            <a:ext cx="4114800" cy="438912"/>
          </a:xfrm>
          <a:prstGeom prst="rect">
            <a:avLst/>
          </a:prstGeom>
          <a:solidFill>
            <a:srgbClr val="203A43"/>
          </a:solidFill>
          <a:ln w="12700">
            <a:solidFill>
              <a:srgbClr val="203A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4754880" y="777240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DTU (Data Transfer Unit)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937760" y="1298448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MCU: </a:t>
            </a: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ESP8266 (Wemos D1 mini)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4937760" y="1728216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 module: </a:t>
            </a: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NRF24L01+ 2.4 GHz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4937760" y="2157984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Firmware: </a:t>
            </a: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OpenDTU project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937760" y="2587752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Discovery: </a:t>
            </a: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mDNS — no static IP needed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4937760" y="3017520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Interface: </a:t>
            </a: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 HTTP server, JSON REST API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20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203A43"/>
          </a:solidFill>
          <a:ln w="12700">
            <a:solidFill>
              <a:srgbClr val="203A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109728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10972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— Data Flow &amp; Software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274320" y="822960"/>
            <a:ext cx="1572768" cy="2103120"/>
          </a:xfrm>
          <a:prstGeom prst="rect">
            <a:avLst/>
          </a:prstGeom>
          <a:solidFill>
            <a:srgbClr val="1A3040"/>
          </a:solidFill>
          <a:ln w="1905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804672" y="914400"/>
            <a:ext cx="502920" cy="45720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804672" y="9144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320040" y="1435608"/>
            <a:ext cx="14813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 Link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320040" y="1810512"/>
            <a:ext cx="1481328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Microinverter → DTU (ESP8266)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Proprietary 2.4 GHz RF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1856232" y="1837944"/>
            <a:ext cx="91440" cy="73152"/>
          </a:xfrm>
          <a:prstGeom prst="rect">
            <a:avLst/>
          </a:prstGeom>
          <a:solidFill>
            <a:srgbClr val="8EAEBE"/>
          </a:solidFill>
          <a:ln w="12700">
            <a:solidFill>
              <a:srgbClr val="8EAE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1956816" y="822960"/>
            <a:ext cx="1572768" cy="2103120"/>
          </a:xfrm>
          <a:prstGeom prst="rect">
            <a:avLst/>
          </a:prstGeom>
          <a:solidFill>
            <a:srgbClr val="1A3040"/>
          </a:solidFill>
          <a:ln w="1905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2487168" y="914400"/>
            <a:ext cx="502920" cy="457200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2487168" y="9144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2002536" y="1435608"/>
            <a:ext cx="14813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2002536" y="1810512"/>
            <a:ext cx="1481328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DTU HTTP server returns JSON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 voltage, current, power, energy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3538728" y="1837944"/>
            <a:ext cx="91440" cy="73152"/>
          </a:xfrm>
          <a:prstGeom prst="rect">
            <a:avLst/>
          </a:prstGeom>
          <a:solidFill>
            <a:srgbClr val="8EAEBE"/>
          </a:solidFill>
          <a:ln w="12700">
            <a:solidFill>
              <a:srgbClr val="8EAE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3639312" y="822960"/>
            <a:ext cx="1572768" cy="2103120"/>
          </a:xfrm>
          <a:prstGeom prst="rect">
            <a:avLst/>
          </a:prstGeom>
          <a:solidFill>
            <a:srgbClr val="1A3040"/>
          </a:solidFill>
          <a:ln w="19050">
            <a:solidFill>
              <a:srgbClr val="3498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4169664" y="914400"/>
            <a:ext cx="502920" cy="457200"/>
          </a:xfrm>
          <a:prstGeom prst="ellipse">
            <a:avLst/>
          </a:prstGeom>
          <a:solidFill>
            <a:srgbClr val="3498DB"/>
          </a:solidFill>
          <a:ln w="12700">
            <a:solidFill>
              <a:srgbClr val="3498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4169664" y="9144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3685032" y="1435608"/>
            <a:ext cx="14813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Polling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85032" y="1810512"/>
            <a:ext cx="1481328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OBLO Controller polls DTU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10 minutes via HTTP GET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5221224" y="1837944"/>
            <a:ext cx="91440" cy="73152"/>
          </a:xfrm>
          <a:prstGeom prst="rect">
            <a:avLst/>
          </a:prstGeom>
          <a:solidFill>
            <a:srgbClr val="8EAEBE"/>
          </a:solidFill>
          <a:ln w="12700">
            <a:solidFill>
              <a:srgbClr val="8EAE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5321808" y="822960"/>
            <a:ext cx="1572768" cy="2103120"/>
          </a:xfrm>
          <a:prstGeom prst="rect">
            <a:avLst/>
          </a:prstGeom>
          <a:solidFill>
            <a:srgbClr val="1A3040"/>
          </a:solidFill>
          <a:ln w="1905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5852160" y="914400"/>
            <a:ext cx="502920" cy="457200"/>
          </a:xfrm>
          <a:prstGeom prst="ellipse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5852160" y="9144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367528" y="1435608"/>
            <a:ext cx="14813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5367528" y="1810512"/>
            <a:ext cx="1481328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 parses JSON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to OBLO device properties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6903720" y="1837944"/>
            <a:ext cx="91440" cy="73152"/>
          </a:xfrm>
          <a:prstGeom prst="rect">
            <a:avLst/>
          </a:prstGeom>
          <a:solidFill>
            <a:srgbClr val="8EAEBE"/>
          </a:solidFill>
          <a:ln w="12700">
            <a:solidFill>
              <a:srgbClr val="8EAE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6"/>
          <p:cNvSpPr/>
          <p:nvPr/>
        </p:nvSpPr>
        <p:spPr>
          <a:xfrm>
            <a:off x="7004304" y="822960"/>
            <a:ext cx="1572768" cy="2103120"/>
          </a:xfrm>
          <a:prstGeom prst="rect">
            <a:avLst/>
          </a:prstGeom>
          <a:solidFill>
            <a:srgbClr val="1A3040"/>
          </a:solidFill>
          <a:ln w="1905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7"/>
          <p:cNvSpPr/>
          <p:nvPr/>
        </p:nvSpPr>
        <p:spPr>
          <a:xfrm>
            <a:off x="7534656" y="914400"/>
            <a:ext cx="502920" cy="45720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7534656" y="9144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7050024" y="1435608"/>
            <a:ext cx="14813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MQTT / Cloud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7050024" y="1810512"/>
            <a:ext cx="1481328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pushed to cloud &amp; mobile app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/ daily / monthly aggregation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274320" y="3063240"/>
            <a:ext cx="8595360" cy="658368"/>
          </a:xfrm>
          <a:prstGeom prst="rect">
            <a:avLst/>
          </a:prstGeom>
          <a:solidFill>
            <a:srgbClr val="0A1A25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274320" y="3063240"/>
            <a:ext cx="8595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Monitored Parameters:   AC Voltage (V)   ·   AC Current (A)   ·   Total Energy Generated (kWh)   ·   Instantaneous Power Output (W)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2027"/>
          </a:solidFill>
          <a:ln w="12700">
            <a:solidFill>
              <a:srgbClr val="0F20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109728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10972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Setup &amp; Methodology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274320" y="777240"/>
            <a:ext cx="8595360" cy="566928"/>
          </a:xfrm>
          <a:prstGeom prst="rect">
            <a:avLst/>
          </a:prstGeom>
          <a:solidFill>
            <a:srgbClr val="E8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274320" y="777240"/>
            <a:ext cx="54864" cy="56692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457200" y="777240"/>
            <a:ext cx="1371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920240" y="777240"/>
            <a:ext cx="6766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2025 – February 2026 (6 months)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74320" y="1399032"/>
            <a:ext cx="85953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274320" y="1399032"/>
            <a:ext cx="54864" cy="566928"/>
          </a:xfrm>
          <a:prstGeom prst="rect">
            <a:avLst/>
          </a:prstGeom>
          <a:solidFill>
            <a:srgbClr val="3498DB"/>
          </a:solidFill>
          <a:ln w="12700">
            <a:solidFill>
              <a:srgbClr val="3498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457200" y="1399032"/>
            <a:ext cx="1371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49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920240" y="1399032"/>
            <a:ext cx="6766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Suhr, Switzerland  ·  47.37°N, 8.08°E  ·  Temperate Central European climate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74320" y="2020824"/>
            <a:ext cx="8595360" cy="566928"/>
          </a:xfrm>
          <a:prstGeom prst="rect">
            <a:avLst/>
          </a:prstGeom>
          <a:solidFill>
            <a:srgbClr val="E8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274320" y="2020824"/>
            <a:ext cx="54864" cy="566928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457200" y="2020824"/>
            <a:ext cx="1371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920240" y="2020824"/>
            <a:ext cx="6766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irradiation: 1000–1400 kWh/m²  ·  Significant seasonal variation  ·  Low winter irradiation (Dec–Jan)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274320" y="2642616"/>
            <a:ext cx="85953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274320" y="2642616"/>
            <a:ext cx="54864" cy="566928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457200" y="2642616"/>
            <a:ext cx="1371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920240" y="2642616"/>
            <a:ext cx="6766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via microinverter → DTU → OBLO controller → cloud DB  ·  No manual intervention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274320" y="3264408"/>
            <a:ext cx="8595360" cy="566928"/>
          </a:xfrm>
          <a:prstGeom prst="rect">
            <a:avLst/>
          </a:prstGeom>
          <a:solidFill>
            <a:srgbClr val="E8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274320" y="3264408"/>
            <a:ext cx="54864" cy="56692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457200" y="3264408"/>
            <a:ext cx="1371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Aggregation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1920240" y="3264408"/>
            <a:ext cx="6766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Sampled at regular intervals → aggregated into hourly, daily, monthly statistics within OBLO cloud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274320" y="3886200"/>
            <a:ext cx="85953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274320" y="3886200"/>
            <a:ext cx="54864" cy="56692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457200" y="3886200"/>
            <a:ext cx="1371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evaluated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1920240" y="3886200"/>
            <a:ext cx="6766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energy production  ·  Financial savings  ·  CO₂ reduction  ·  Specific yield  ·  Capacity factor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20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203A43"/>
          </a:solidFill>
          <a:ln w="12700">
            <a:solidFill>
              <a:srgbClr val="203A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109728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10972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Monthly Energy Production</a:t>
            </a:r>
            <a:endParaRPr lang="en-US" sz="20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274320" y="777240"/>
          <a:ext cx="5760720" cy="3749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Shape 2"/>
          <p:cNvSpPr/>
          <p:nvPr/>
        </p:nvSpPr>
        <p:spPr>
          <a:xfrm>
            <a:off x="6217920" y="777240"/>
            <a:ext cx="2880360" cy="886968"/>
          </a:xfrm>
          <a:prstGeom prst="rect">
            <a:avLst/>
          </a:prstGeom>
          <a:solidFill>
            <a:srgbClr val="1A3040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3"/>
          <p:cNvSpPr/>
          <p:nvPr/>
        </p:nvSpPr>
        <p:spPr>
          <a:xfrm>
            <a:off x="6217920" y="777240"/>
            <a:ext cx="54864" cy="88696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6355080" y="813816"/>
            <a:ext cx="2651760" cy="487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178.6 kWh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355080" y="1265072"/>
            <a:ext cx="2651760" cy="3547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6-month total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6217920" y="1728216"/>
            <a:ext cx="2880360" cy="886968"/>
          </a:xfrm>
          <a:prstGeom prst="rect">
            <a:avLst/>
          </a:prstGeom>
          <a:solidFill>
            <a:srgbClr val="1A3040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6217920" y="1728216"/>
            <a:ext cx="54864" cy="886968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6355080" y="1764792"/>
            <a:ext cx="2651760" cy="487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kWh</a:t>
            </a:r>
            <a:endParaRPr lang="en-US" sz="1900" dirty="0"/>
          </a:p>
        </p:txBody>
      </p:sp>
      <p:sp>
        <p:nvSpPr>
          <p:cNvPr id="13" name="Text 9"/>
          <p:cNvSpPr/>
          <p:nvPr/>
        </p:nvSpPr>
        <p:spPr>
          <a:xfrm>
            <a:off x="6355080" y="2216048"/>
            <a:ext cx="2651760" cy="3547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(September)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217920" y="2679192"/>
            <a:ext cx="2880360" cy="886968"/>
          </a:xfrm>
          <a:prstGeom prst="rect">
            <a:avLst/>
          </a:prstGeom>
          <a:solidFill>
            <a:srgbClr val="1A3040"/>
          </a:solidFill>
          <a:ln w="12700">
            <a:solidFill>
              <a:srgbClr val="3498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6217920" y="2679192"/>
            <a:ext cx="54864" cy="886968"/>
          </a:xfrm>
          <a:prstGeom prst="rect">
            <a:avLst/>
          </a:prstGeom>
          <a:solidFill>
            <a:srgbClr val="3498DB"/>
          </a:solidFill>
          <a:ln w="12700">
            <a:solidFill>
              <a:srgbClr val="3498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6355080" y="2715768"/>
            <a:ext cx="2651760" cy="487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49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12.2 kWh</a:t>
            </a:r>
            <a:endParaRPr lang="en-US" sz="1900" dirty="0"/>
          </a:p>
        </p:txBody>
      </p:sp>
      <p:sp>
        <p:nvSpPr>
          <p:cNvPr id="17" name="Text 13"/>
          <p:cNvSpPr/>
          <p:nvPr/>
        </p:nvSpPr>
        <p:spPr>
          <a:xfrm>
            <a:off x="6355080" y="3167024"/>
            <a:ext cx="2651760" cy="3547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(December)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217920" y="3630168"/>
            <a:ext cx="2880360" cy="886968"/>
          </a:xfrm>
          <a:prstGeom prst="rect">
            <a:avLst/>
          </a:prstGeom>
          <a:solidFill>
            <a:srgbClr val="1A3040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6217920" y="3630168"/>
            <a:ext cx="54864" cy="886968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6"/>
          <p:cNvSpPr/>
          <p:nvPr/>
        </p:nvSpPr>
        <p:spPr>
          <a:xfrm>
            <a:off x="6355080" y="3666744"/>
            <a:ext cx="2651760" cy="487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5.4×</a:t>
            </a:r>
            <a:endParaRPr lang="en-US" sz="1900" dirty="0"/>
          </a:p>
        </p:txBody>
      </p:sp>
      <p:sp>
        <p:nvSpPr>
          <p:cNvPr id="21" name="Text 17"/>
          <p:cNvSpPr/>
          <p:nvPr/>
        </p:nvSpPr>
        <p:spPr>
          <a:xfrm>
            <a:off x="6355080" y="4118000"/>
            <a:ext cx="2651760" cy="3547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 vs Dec ratio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2027"/>
          </a:solidFill>
          <a:ln w="12700">
            <a:solidFill>
              <a:srgbClr val="0F20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109728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10972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Daily Production Profile (September)</a:t>
            </a:r>
            <a:endParaRPr lang="en-US" sz="20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274320" y="777240"/>
          <a:ext cx="6858000" cy="3474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Shape 2"/>
          <p:cNvSpPr/>
          <p:nvPr/>
        </p:nvSpPr>
        <p:spPr>
          <a:xfrm>
            <a:off x="274320" y="4389120"/>
            <a:ext cx="4114800" cy="475488"/>
          </a:xfrm>
          <a:prstGeom prst="rect">
            <a:avLst/>
          </a:prstGeom>
          <a:solidFill>
            <a:srgbClr val="E8F4F8"/>
          </a:solidFill>
          <a:ln w="1905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3"/>
          <p:cNvSpPr/>
          <p:nvPr/>
        </p:nvSpPr>
        <p:spPr>
          <a:xfrm>
            <a:off x="365760" y="4389120"/>
            <a:ext cx="3931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days: </a:t>
            </a: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~3.5 kWh/day on sunny days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4846320" y="4389120"/>
            <a:ext cx="4114800" cy="475488"/>
          </a:xfrm>
          <a:prstGeom prst="rect">
            <a:avLst/>
          </a:prstGeom>
          <a:solidFill>
            <a:srgbClr val="E8F4F8"/>
          </a:solidFill>
          <a:ln w="1905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4937760" y="4389120"/>
            <a:ext cx="3931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 days: </a:t>
            </a: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 kWh on overcast/cloudy days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7315200" y="822960"/>
            <a:ext cx="1691640" cy="822960"/>
          </a:xfrm>
          <a:prstGeom prst="rect">
            <a:avLst/>
          </a:prstGeom>
          <a:solidFill>
            <a:srgbClr val="E8F4F8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7"/>
          <p:cNvSpPr/>
          <p:nvPr/>
        </p:nvSpPr>
        <p:spPr>
          <a:xfrm>
            <a:off x="7315200" y="859536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~3.5 kWh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7315200" y="12344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day (Sep)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7315200" y="1755648"/>
            <a:ext cx="1691640" cy="822960"/>
          </a:xfrm>
          <a:prstGeom prst="rect">
            <a:avLst/>
          </a:prstGeom>
          <a:solidFill>
            <a:srgbClr val="E8F4F8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0"/>
          <p:cNvSpPr/>
          <p:nvPr/>
        </p:nvSpPr>
        <p:spPr>
          <a:xfrm>
            <a:off x="7315200" y="1792224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0.5 kWh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7315200" y="2167128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winter days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7315200" y="2688336"/>
            <a:ext cx="1691640" cy="822960"/>
          </a:xfrm>
          <a:prstGeom prst="rect">
            <a:avLst/>
          </a:prstGeom>
          <a:solidFill>
            <a:srgbClr val="E8F4F8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7315200" y="2724912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7315200" y="3099816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dominant factor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20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203A43"/>
          </a:solidFill>
          <a:ln w="12700">
            <a:solidFill>
              <a:srgbClr val="203A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109728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10972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Metrics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274320" y="777240"/>
            <a:ext cx="4114800" cy="1783080"/>
          </a:xfrm>
          <a:prstGeom prst="rect">
            <a:avLst/>
          </a:prstGeom>
          <a:solidFill>
            <a:srgbClr val="1A3040"/>
          </a:solidFill>
          <a:ln w="1905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274320" y="777240"/>
            <a:ext cx="4114800" cy="4114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274320" y="77724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Savings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74320" y="1216152"/>
            <a:ext cx="4114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53.58 CHF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365760" y="182880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E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178.6 kWh × 0.30 CHF/kWh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365760" y="223113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Swiss residential tariff (ElCom 2024)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4754880" y="777240"/>
            <a:ext cx="4114800" cy="1783080"/>
          </a:xfrm>
          <a:prstGeom prst="rect">
            <a:avLst/>
          </a:prstGeom>
          <a:solidFill>
            <a:srgbClr val="1A3040"/>
          </a:solidFill>
          <a:ln w="1905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754880" y="777240"/>
            <a:ext cx="4114800" cy="411480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4754880" y="77724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 Emission Avoided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754880" y="1216152"/>
            <a:ext cx="4114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17.86 kg CO₂</a:t>
            </a:r>
            <a:endParaRPr lang="en-US" sz="2800" dirty="0"/>
          </a:p>
        </p:txBody>
      </p:sp>
      <p:sp>
        <p:nvSpPr>
          <p:cNvPr id="15" name="Text 12"/>
          <p:cNvSpPr/>
          <p:nvPr/>
        </p:nvSpPr>
        <p:spPr>
          <a:xfrm>
            <a:off x="4846320" y="182880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E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178.6 kWh × 100 g CO₂/kWh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846320" y="223113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 electricity mix emission factor (treeze 2021)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274320" y="2651760"/>
            <a:ext cx="4114800" cy="1783080"/>
          </a:xfrm>
          <a:prstGeom prst="rect">
            <a:avLst/>
          </a:prstGeom>
          <a:solidFill>
            <a:srgbClr val="1A3040"/>
          </a:solidFill>
          <a:ln w="19050">
            <a:solidFill>
              <a:srgbClr val="3498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274320" y="2651760"/>
            <a:ext cx="4114800" cy="411480"/>
          </a:xfrm>
          <a:prstGeom prst="rect">
            <a:avLst/>
          </a:prstGeom>
          <a:solidFill>
            <a:srgbClr val="3498DB"/>
          </a:solidFill>
          <a:ln w="12700">
            <a:solidFill>
              <a:srgbClr val="3498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274320" y="265176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Yield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274320" y="3090672"/>
            <a:ext cx="4114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349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298 kWh/kWp</a:t>
            </a:r>
            <a:endParaRPr lang="en-US" sz="2800" dirty="0"/>
          </a:p>
        </p:txBody>
      </p:sp>
      <p:sp>
        <p:nvSpPr>
          <p:cNvPr id="21" name="Text 18"/>
          <p:cNvSpPr/>
          <p:nvPr/>
        </p:nvSpPr>
        <p:spPr>
          <a:xfrm>
            <a:off x="365760" y="370332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E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178.6 kWh ÷ 0.6 kWp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365760" y="410565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expected range for balcony PV systems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4754880" y="2651760"/>
            <a:ext cx="4114800" cy="1783080"/>
          </a:xfrm>
          <a:prstGeom prst="rect">
            <a:avLst/>
          </a:prstGeom>
          <a:solidFill>
            <a:srgbClr val="1A3040"/>
          </a:solidFill>
          <a:ln w="1905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4754880" y="2651760"/>
            <a:ext cx="4114800" cy="411480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4754880" y="265176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Factor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754880" y="3090672"/>
            <a:ext cx="4114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6.8 %</a:t>
            </a:r>
            <a:endParaRPr lang="en-US" sz="2800" dirty="0"/>
          </a:p>
        </p:txBody>
      </p:sp>
      <p:sp>
        <p:nvSpPr>
          <p:cNvPr id="27" name="Text 24"/>
          <p:cNvSpPr/>
          <p:nvPr/>
        </p:nvSpPr>
        <p:spPr>
          <a:xfrm>
            <a:off x="4846320" y="370332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E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178.6 ÷ 2628 kWh × 100%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4846320" y="410565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 (autumn–winter); reflects day/night &amp; weather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2027"/>
          </a:solidFill>
          <a:ln w="12700">
            <a:solidFill>
              <a:srgbClr val="0F20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109728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10972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Reliability &amp; Operational Results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274320" y="777240"/>
            <a:ext cx="4114800" cy="2011680"/>
          </a:xfrm>
          <a:prstGeom prst="rect">
            <a:avLst/>
          </a:prstGeom>
          <a:solidFill>
            <a:srgbClr val="E8F4F8"/>
          </a:solidFill>
          <a:ln w="1905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960120"/>
            <a:ext cx="502920" cy="47548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97280" y="941832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Data Loss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457200" y="1508760"/>
            <a:ext cx="37947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significant data gaps recorded during the entire 6-month monitoring period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4754880" y="777240"/>
            <a:ext cx="4114800" cy="2011680"/>
          </a:xfrm>
          <a:prstGeom prst="rect">
            <a:avLst/>
          </a:prstGeom>
          <a:solidFill>
            <a:srgbClr val="E8F4F8"/>
          </a:solidFill>
          <a:ln w="1905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960120"/>
            <a:ext cx="502920" cy="475488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5577840" y="941832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MQTT</a:t>
            </a:r>
            <a:endParaRPr lang="en-US" sz="1300" dirty="0"/>
          </a:p>
        </p:txBody>
      </p:sp>
      <p:sp>
        <p:nvSpPr>
          <p:cNvPr id="12" name="Text 7"/>
          <p:cNvSpPr/>
          <p:nvPr/>
        </p:nvSpPr>
        <p:spPr>
          <a:xfrm>
            <a:off x="4937760" y="1508760"/>
            <a:ext cx="37947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 between inverter interface, controller, cloud, and mobile app ran without interruption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274320" y="2880360"/>
            <a:ext cx="4114800" cy="2011680"/>
          </a:xfrm>
          <a:prstGeom prst="rect">
            <a:avLst/>
          </a:prstGeom>
          <a:solidFill>
            <a:srgbClr val="E8F4F8"/>
          </a:solidFill>
          <a:ln w="1905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063240"/>
            <a:ext cx="502920" cy="47548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097280" y="3044952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Negligible Latency</a:t>
            </a:r>
            <a:endParaRPr lang="en-US" sz="1300" dirty="0"/>
          </a:p>
        </p:txBody>
      </p:sp>
      <p:sp>
        <p:nvSpPr>
          <p:cNvPr id="16" name="Text 10"/>
          <p:cNvSpPr/>
          <p:nvPr/>
        </p:nvSpPr>
        <p:spPr>
          <a:xfrm>
            <a:off x="457200" y="3611880"/>
            <a:ext cx="37947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 from energy production measurement to app visualization was negligible for residential use</a:t>
            </a:r>
            <a:endParaRPr lang="en-US" sz="1100" dirty="0"/>
          </a:p>
        </p:txBody>
      </p:sp>
      <p:sp>
        <p:nvSpPr>
          <p:cNvPr id="17" name="Shape 11"/>
          <p:cNvSpPr/>
          <p:nvPr/>
        </p:nvSpPr>
        <p:spPr>
          <a:xfrm>
            <a:off x="4754880" y="2880360"/>
            <a:ext cx="4114800" cy="2011680"/>
          </a:xfrm>
          <a:prstGeom prst="rect">
            <a:avLst/>
          </a:prstGeom>
          <a:solidFill>
            <a:srgbClr val="E8F4F8"/>
          </a:solidFill>
          <a:ln w="19050">
            <a:solidFill>
              <a:srgbClr val="3498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3063240"/>
            <a:ext cx="502920" cy="475488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5577840" y="3044952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Seamless Integration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4937760" y="3611880"/>
            <a:ext cx="37947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 unit successfully abstracted as a virtual energy sensor within OBLO — transparent to rest of platform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20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203A43"/>
          </a:solidFill>
          <a:ln w="12700">
            <a:solidFill>
              <a:srgbClr val="203A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109728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10972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&amp; Limitations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274320" y="777240"/>
            <a:ext cx="4114800" cy="3749040"/>
          </a:xfrm>
          <a:prstGeom prst="rect">
            <a:avLst/>
          </a:prstGeom>
          <a:solidFill>
            <a:srgbClr val="1A3040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274320" y="77724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Key Discussion Points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11480" y="1261872"/>
            <a:ext cx="38404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0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yield 298 kWh/kWp within expected literature range (Krauter &amp; Bendfeld 2024)
</a:t>
            </a:r>
            <a:r>
              <a:rPr lang="en-US" sz="105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0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factor 6.8% is seasonal — not representative of annual performance
</a:t>
            </a:r>
            <a:r>
              <a:rPr lang="en-US" sz="105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0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with OBLO adds monitoring value over standalone PV systems
</a:t>
            </a:r>
            <a:r>
              <a:rPr lang="en-US" sz="105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0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Balcony systems are complementary to, not a replacement for, rooftop installations
</a:t>
            </a:r>
            <a:r>
              <a:rPr lang="en-US" sz="105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0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 advantage: plug-in, no ownership of roof required, simple regulations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754880" y="777240"/>
            <a:ext cx="4114800" cy="3749040"/>
          </a:xfrm>
          <a:prstGeom prst="rect">
            <a:avLst/>
          </a:prstGeom>
          <a:solidFill>
            <a:srgbClr val="1A3040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4754880" y="77724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Limitations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892040" y="1261872"/>
            <a:ext cx="38404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0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installation only — results may not generalize to all orientations/climates
</a:t>
            </a: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0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 window: 6 months, autumn–winter. Summer performance not captured
</a:t>
            </a: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0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constraints: non-optimal panel orientation, potential shading from buildings
</a:t>
            </a: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0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battery storage — energy not used immediately is exported, not stored
</a:t>
            </a: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0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model assumes fixed tariff — real savings depend on consumption patterns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20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203A43"/>
          </a:solidFill>
          <a:ln w="12700">
            <a:solidFill>
              <a:srgbClr val="203A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109728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10972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Future Work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274320" y="777240"/>
            <a:ext cx="5669280" cy="3794760"/>
          </a:xfrm>
          <a:prstGeom prst="rect">
            <a:avLst/>
          </a:prstGeom>
          <a:solidFill>
            <a:srgbClr val="1A3040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274320" y="777240"/>
            <a:ext cx="5669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411480" y="1261872"/>
            <a:ext cx="539496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r>
              <a:rPr lang="en-US" sz="110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Balcony PV systems can be seamlessly integrated as virtual energy sensors within an existing smart home platform
</a:t>
            </a: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r>
              <a:rPr lang="en-US" sz="110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178.6 kWh produced over 6 months → 53.58 CHF saved · 17.86 kg CO₂ avoided — measurable real-world impact
</a:t>
            </a: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r>
              <a:rPr lang="en-US" sz="110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yield (298 kWh/kWp) and capacity factor (6.8%) consistent with literature for autumn–winter conditions
</a:t>
            </a: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</a:t>
            </a:r>
            <a:r>
              <a:rPr lang="en-US" sz="110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integration adds monitoring and awareness value beyond standalone PV installations
</a:t>
            </a: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</a:t>
            </a:r>
            <a:r>
              <a:rPr lang="en-US" sz="110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architecture is scalable and replicable for other devices and deployments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26480" y="777240"/>
            <a:ext cx="2743200" cy="3794760"/>
          </a:xfrm>
          <a:prstGeom prst="rect">
            <a:avLst/>
          </a:prstGeom>
          <a:solidFill>
            <a:srgbClr val="1A3040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126480" y="77724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263640" y="1261872"/>
            <a:ext cx="246888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monitoring: full annual and multi-year dataset
</a:t>
            </a: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forecasting: use historical data + weather API
</a:t>
            </a: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automation: trigger appliances during peak solar output
</a:t>
            </a: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Multi-installation study: different orientations, climates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20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0" y="731520"/>
            <a:ext cx="5486400" cy="5486400"/>
          </a:xfrm>
          <a:prstGeom prst="ellipse">
            <a:avLst/>
          </a:prstGeom>
          <a:solidFill>
            <a:srgbClr val="F5A623">
              <a:alpha val="10000"/>
            </a:srgbClr>
          </a:solidFill>
          <a:ln w="12700">
            <a:solidFill>
              <a:srgbClr val="F5A623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0" y="365760"/>
            <a:ext cx="1463040" cy="12618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7830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You!</a:t>
            </a:r>
            <a:endParaRPr lang="en-US" sz="4400" dirty="0"/>
          </a:p>
        </p:txBody>
      </p:sp>
      <p:sp>
        <p:nvSpPr>
          <p:cNvPr id="5" name="Shape 2"/>
          <p:cNvSpPr/>
          <p:nvPr/>
        </p:nvSpPr>
        <p:spPr>
          <a:xfrm>
            <a:off x="2743200" y="2743200"/>
            <a:ext cx="365760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457200" y="28346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8E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457200" y="338328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Ognjen Stojisavljević  |  ognjen.stojisavljevic@rt-rk.com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373075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E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RT-RK Institute for Computer Based Systems, Novi Sad, Serbia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914400" y="4160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 by the Ministry of Science, Technological Development and Innovation  ·  Contract 451-03-34/2026-03/200156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</TotalTime>
  <Words>2252</Words>
  <Application>Microsoft Macintosh PowerPoint</Application>
  <PresentationFormat>On-screen Show (16:9)</PresentationFormat>
  <Paragraphs>214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Solar Energy Production in Urban Environments</dc:title>
  <dc:subject>PptxGenJS Presentation</dc:subject>
  <dc:creator>PptxGenJS</dc:creator>
  <cp:lastModifiedBy>Ognjen Stojisavljevic</cp:lastModifiedBy>
  <cp:revision>3</cp:revision>
  <dcterms:created xsi:type="dcterms:W3CDTF">2026-05-25T18:46:10Z</dcterms:created>
  <dcterms:modified xsi:type="dcterms:W3CDTF">2026-05-25T20:26:11Z</dcterms:modified>
</cp:coreProperties>
</file>