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6498"/>
  </p:normalViewPr>
  <p:slideViewPr>
    <p:cSldViewPr snapToGrid="0" snapToObjects="1">
      <p:cViewPr varScale="1">
        <p:scale>
          <a:sx n="125" d="100"/>
          <a:sy n="125" d="100"/>
        </p:scale>
        <p:origin x="16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83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• Pozdraviti sve prisutne i zahvaliti se</a:t>
            </a:r>
          </a:p>
          <a:p>
            <a:r>
              <a:rPr lang="en-US"/>
              <a:t>• Predstaviti sebe i profesora</a:t>
            </a:r>
          </a:p>
          <a:p>
            <a:r>
              <a:rPr lang="en-US"/>
              <a:t>• Tema rada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Jednu istalaciju pametne kuce moze koristiti vise korisnika</a:t>
            </a:r>
            <a:r>
              <a:rPr lang="en-US" dirty="0"/>
              <a:t>
</a:t>
            </a:r>
            <a:r>
              <a:rPr lang="en-US"/>
              <a:t>• Razliciti korisnici imaju razlicite potrebe</a:t>
            </a:r>
          </a:p>
          <a:p>
            <a:r>
              <a:rPr lang="en-US"/>
              <a:t>• Odjedjene korisnike treba ogranici prema njihoim potrebama
• Gost/Vlasnik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Cilj rada je realizacija korisnickih poduloga na svim slojevima sistema</a:t>
            </a:r>
            <a:r>
              <a:rPr lang="en-US" dirty="0"/>
              <a:t>
</a:t>
            </a:r>
            <a:r>
              <a:rPr lang="en-US"/>
              <a:t>• Podrzati razlicite korisnicke poduloge</a:t>
            </a:r>
          </a:p>
          <a:p>
            <a:r>
              <a:rPr lang="en-US"/>
              <a:t>• Pristup treba ograniciti po zonama</a:t>
            </a:r>
          </a:p>
          <a:p>
            <a:r>
              <a:rPr lang="en-US"/>
              <a:t>• Prava podeljena </a:t>
            </a:r>
            <a:r>
              <a:rPr lang="en-US" dirty="0"/>
              <a:t>на read, execute и manage.
</a:t>
            </a:r>
            <a:r>
              <a:rPr lang="en-US"/>
              <a:t>• Vremensko ogranicenje profila</a:t>
            </a:r>
          </a:p>
          <a:p>
            <a:r>
              <a:rPr lang="en-US"/>
              <a:t>• Konacna provera zahteva treba da bude na kontroleru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Iz literature koje smo koristili za ovaj rad prepoznajemo RBAC i ABAC</a:t>
            </a:r>
          </a:p>
          <a:p>
            <a:r>
              <a:rPr lang="en-US"/>
              <a:t>• RBAC prava se vezuju za korisnicku ulogu</a:t>
            </a:r>
          </a:p>
          <a:p>
            <a:r>
              <a:rPr lang="en-US"/>
              <a:t>• ABAC pristup se odredjuje na osnovu atributa i konteksta</a:t>
            </a:r>
          </a:p>
          <a:p>
            <a:r>
              <a:rPr lang="en-US"/>
              <a:t>• Nase resenje koristi kombinaciju ovih pristupa</a:t>
            </a:r>
          </a:p>
          <a:p>
            <a:r>
              <a:rPr lang="en-US"/>
              <a:t>• Poduloga predstavlja osnovni pristupni kontekst</a:t>
            </a:r>
          </a:p>
          <a:p>
            <a:r>
              <a:rPr lang="en-US"/>
              <a:t>• Kontekst se dalje odredjuje izabranim kontrolerom, zonama i vremenom.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OBLO sistem je jedno od resenja za sistem pametne kuce</a:t>
            </a:r>
          </a:p>
          <a:p>
            <a:r>
              <a:rPr lang="en-US"/>
              <a:t>• OBLO je sistem koji se sastoji od sledecih medjusobno povezanih komponenti:</a:t>
            </a:r>
          </a:p>
          <a:p>
            <a:r>
              <a:rPr lang="en-US"/>
              <a:t>- Kontroler predstavlja mozak sistema i njegov izvrsni sloj</a:t>
            </a:r>
          </a:p>
          <a:p>
            <a:r>
              <a:rPr lang="en-US"/>
              <a:t>- Servis u oblaku upravlja udaljenim pristupom i korisnickim podacima</a:t>
            </a:r>
          </a:p>
          <a:p>
            <a:r>
              <a:rPr lang="en-US"/>
              <a:t>- Klijentska aplikacija omogucava upravljanje i prikaz sistema korisniku</a:t>
            </a:r>
          </a:p>
          <a:p>
            <a:r>
              <a:rPr lang="en-US"/>
              <a:t>- Periferni uredjaji: senzori/aktuatori - javljaju stanja uredjaja i izvrsavaju komadne
</a:t>
            </a:r>
          </a:p>
          <a:p>
            <a:r>
              <a:rPr lang="en-US"/>
              <a:t>• Zadatak rada je bio da na postojece OBLO resenje nadogradimo poduloga</a:t>
            </a:r>
          </a:p>
          <a:p>
            <a:r>
              <a:rPr lang="en-US"/>
              <a:t>• Mehanizam poduloga mora funkcionisati na nivou app, GW, clouda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Osnovni pristup nije jasno razdvojio korisnike</a:t>
            </a:r>
          </a:p>
          <a:p>
            <a:r>
              <a:rPr lang="en-US"/>
              <a:t>• Svaki korisnik koji ima pristup nekog kontroleru imao je kontrolu nad celim sistemom</a:t>
            </a:r>
          </a:p>
          <a:p>
            <a:r>
              <a:rPr lang="en-US"/>
              <a:t>• Cela kontrola nad sistemom - kotrola nad svim zonama u sistemu</a:t>
            </a:r>
          </a:p>
          <a:p>
            <a:r>
              <a:rPr lang="en-US"/>
              <a:t>• Ne postoji razdvajanje po tipu zeljene operacije (upravljanje/administracija/pregled)</a:t>
            </a:r>
          </a:p>
          <a:p>
            <a:r>
              <a:rPr lang="en-US"/>
              <a:t>• Korisnicke poduloge poput gosta i instalatera zahtevaju i vremensko ogranicenje</a:t>
            </a:r>
          </a:p>
          <a:p>
            <a:r>
              <a:rPr lang="en-US"/>
              <a:t>• Zbog ovih navedenih problema uveli smo mehanizam poduloga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•Poduloga predstavlja ulogu korisnika u kontekstu odredjenog kontrolera.</a:t>
            </a:r>
            <a:r>
              <a:rPr lang="en-US" dirty="0"/>
              <a:t>
</a:t>
            </a:r>
            <a:r>
              <a:rPr lang="en-US"/>
              <a:t>• Sto znaci da nije globalna uloga odnosno uloga korisnickog naloga.</a:t>
            </a:r>
            <a:r>
              <a:rPr lang="en-US" dirty="0"/>
              <a:t>
</a:t>
            </a:r>
            <a:r>
              <a:rPr lang="en-US"/>
              <a:t>• Isti korisnicki nalog moze biti vlasnik nad kontrolerom odnosno sistemom u svom stanu, stanar na nekoj drugoj lokaciji na primer vikendici kod prijatelja, gost u hotelu.</a:t>
            </a:r>
            <a:r>
              <a:rPr lang="en-US" dirty="0"/>
              <a:t>
</a:t>
            </a:r>
            <a:r>
              <a:rPr lang="en-US"/>
              <a:t>• Poduloga odredjuje pristupni kontekst odredjenom kontroleru ili isntalaciji..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U datom resenju definisano je 5 korisnickih poduloga</a:t>
            </a:r>
          </a:p>
          <a:p>
            <a:r>
              <a:rPr lang="en-US"/>
              <a:t>• Vlasnik ima punu kontrolu nad sistemom i profilima. MANAGE</a:t>
            </a:r>
            <a:r>
              <a:rPr lang="en-US" dirty="0"/>
              <a:t>
</a:t>
            </a:r>
            <a:r>
              <a:rPr lang="en-US"/>
              <a:t>• Upravnik je poduloga koja moze da pravi druge korisnicke poduloge. READ</a:t>
            </a:r>
          </a:p>
          <a:p>
            <a:r>
              <a:rPr lang="en-US"/>
              <a:t>• Stanar koristi sistem u dodeljenim zonama sistema. EXECUTE</a:t>
            </a:r>
            <a:r>
              <a:rPr lang="en-US" dirty="0"/>
              <a:t>
</a:t>
            </a:r>
            <a:r>
              <a:rPr lang="en-US"/>
              <a:t>• Gost koristi sistem u dodeljenim zonama vremenski ogranicen. EXECUTE</a:t>
            </a:r>
          </a:p>
          <a:p>
            <a:r>
              <a:rPr lang="en-US"/>
              <a:t>• Instalater dobija vlasnicka prava tokom servisnog perioda. MANAGE</a:t>
            </a:r>
          </a:p>
          <a:p>
            <a:r>
              <a:rPr lang="en-US"/>
              <a:t>• Svaka poduloga ima jasno odredjenu namenu.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Pristup je definisan kroz tri osnovna prava</a:t>
            </a:r>
          </a:p>
          <a:p>
            <a:r>
              <a:rPr lang="en-US"/>
              <a:t>• Read omogucava citanje podataka</a:t>
            </a:r>
          </a:p>
          <a:p>
            <a:r>
              <a:rPr lang="en-US"/>
              <a:t>• Execute omogucava citanje odnosno izvrsavanje podataka</a:t>
            </a:r>
          </a:p>
          <a:p>
            <a:r>
              <a:rPr lang="en-US"/>
              <a:t>• Manage omogucava citanje, izvrsavanje, administratorske operacije</a:t>
            </a:r>
          </a:p>
          <a:p>
            <a:r>
              <a:rPr lang="en-US"/>
              <a:t>• ACL povezuje resurs sa odredjenim korisnickim pravom</a:t>
            </a:r>
          </a:p>
          <a:p>
            <a:r>
              <a:rPr lang="en-US"/>
              <a:t>• Na taj nacin kad kreiramo korisnicku podulogu ogranicavamo je na odredjeni resurs.</a:t>
            </a:r>
          </a:p>
          <a:p>
            <a:r>
              <a:rPr lang="en-US"/>
              <a:t>• U trenutnoj implementaciji resourceType je ogranicen na zone, medjutim u daljem razvijanju mehanizma to moze biti konrektan uredjaj ili neki tip operacije, sta god zamislimo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Korisnik dobija jasno definisan pristup dodeljenim zonama</a:t>
            </a:r>
          </a:p>
          <a:p>
            <a:r>
              <a:rPr lang="en-US"/>
              <a:t>• Na taj nacin ogranicavamo korisnika samo na deo dodeljenog sistema</a:t>
            </a:r>
          </a:p>
          <a:p>
            <a:r>
              <a:rPr lang="en-US"/>
              <a:t>• Lokalni model se prilagodjava dodeljenom delu sistema</a:t>
            </a:r>
          </a:p>
          <a:p>
            <a:r>
              <a:rPr lang="en-US"/>
              <a:t>• MQTT dogadjaji iz sistema se prilagodjavaju dodeljenom delu sistema</a:t>
            </a:r>
          </a:p>
          <a:p>
            <a:r>
              <a:rPr lang="en-US"/>
              <a:t>• Ne zelimo obavestenja iz nedodeljenih zona</a:t>
            </a:r>
          </a:p>
          <a:p>
            <a:r>
              <a:rPr lang="en-US"/>
              <a:t>• Kontroler proverava dodatno pristup na neki korisnicki upit ili komandu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Vremenski ogranicen pristup koristi se kod privremenih profila</a:t>
            </a:r>
          </a:p>
          <a:p>
            <a:r>
              <a:rPr lang="en-US"/>
              <a:t>• Gost ima pristup samo tokom definisanog vreman</a:t>
            </a:r>
          </a:p>
          <a:p>
            <a:r>
              <a:rPr lang="en-US"/>
              <a:t>• Instalater ima pristup samo tokom servisnog perioda</a:t>
            </a:r>
          </a:p>
          <a:p>
            <a:r>
              <a:rPr lang="en-US"/>
              <a:t>• Nakon isteka vremenskog roka sistem se automatski uklanja datom korisniku</a:t>
            </a:r>
          </a:p>
          <a:p>
            <a:r>
              <a:rPr lang="en-US"/>
              <a:t>• Sistem osvezava korisnicke podatke nakon isteka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Servis u oblaku upravlja korisnickim podulogama ACL i sinhronizacijom sa GW</a:t>
            </a:r>
          </a:p>
          <a:p>
            <a:r>
              <a:rPr lang="en-US"/>
              <a:t>• Kontroler proverava i primenjuje pristupna prava</a:t>
            </a:r>
          </a:p>
          <a:p>
            <a:r>
              <a:rPr lang="en-US"/>
              <a:t>• Aplikacija prikazuje deo sistema dostupan datom korisniku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Upravljanje profilima je realizovano pomocu REST API sloja</a:t>
            </a:r>
          </a:p>
          <a:p>
            <a:r>
              <a:rPr lang="en-US"/>
              <a:t>• Podrzano je:</a:t>
            </a:r>
          </a:p>
          <a:p>
            <a:r>
              <a:rPr lang="en-US"/>
              <a:t>- kreiranje</a:t>
            </a:r>
          </a:p>
          <a:p>
            <a:r>
              <a:rPr lang="en-US"/>
              <a:t>- OTP verifikacija</a:t>
            </a:r>
          </a:p>
          <a:p>
            <a:r>
              <a:rPr lang="en-US"/>
              <a:t>- modifikacija postojeceg</a:t>
            </a:r>
          </a:p>
          <a:p>
            <a:r>
              <a:rPr lang="en-US"/>
              <a:t>- brisanje </a:t>
            </a:r>
          </a:p>
          <a:p>
            <a:r>
              <a:rPr lang="en-US"/>
              <a:t>- poseban tok za instalaterski pristup</a:t>
            </a:r>
          </a:p>
          <a:p>
            <a:endParaRPr lang="en-US"/>
          </a:p>
          <a:p>
            <a:r>
              <a:rPr lang="en-US"/>
              <a:t>• </a:t>
            </a:r>
            <a:r>
              <a:rPr lang="en-US" dirty="0"/>
              <a:t>REST </a:t>
            </a:r>
            <a:r>
              <a:rPr lang="en-US"/>
              <a:t>API pokriva ceo zivotni ciklus korisnickih profila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Razlikovacemo standardni rezim i instalaterski pristup u vidu zivotnog ciklusa</a:t>
            </a:r>
          </a:p>
          <a:p>
            <a:endParaRPr lang="en-US"/>
          </a:p>
          <a:p>
            <a:r>
              <a:rPr lang="en-US"/>
              <a:t>• Zivotni ciklus zapocinje kreiranjem</a:t>
            </a:r>
          </a:p>
          <a:p>
            <a:r>
              <a:rPr lang="en-US"/>
              <a:t>• Za verifikovanje koristi se OTP mehanizam</a:t>
            </a:r>
          </a:p>
          <a:p>
            <a:r>
              <a:rPr lang="en-US"/>
              <a:t>• Nakon uspesne verifikacije tek onda profil postaje aktivan i moguce za koriscenje</a:t>
            </a:r>
          </a:p>
          <a:p>
            <a:r>
              <a:rPr lang="en-US"/>
              <a:t>• Profil se moze modifikovati tokom svog postojanja</a:t>
            </a:r>
          </a:p>
          <a:p>
            <a:r>
              <a:rPr lang="en-US"/>
              <a:t>• Brisanjem ili istekom vremeskog pristupa profil nestaje</a:t>
            </a:r>
          </a:p>
          <a:p>
            <a:endParaRPr lang="en-US"/>
          </a:p>
          <a:p>
            <a:r>
              <a:rPr lang="en-US"/>
              <a:t>• Instalaterski tok izgleda tako sto servis zatrazi pristup od korisnika pomocu GW serial numbera a zatim mu korisnik odobri ili odbije. Pristup nestaje nakon isteka roka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Postojeci MQTT mehanizam prosiren je u kontekstu korisnickih poduloga</a:t>
            </a:r>
          </a:p>
          <a:p>
            <a:r>
              <a:rPr lang="en-US"/>
              <a:t>• U standardnom rezimu sistema koji ne podrzava ovaj mehanizam MQTT mehanizam ostaje nepromenjen</a:t>
            </a:r>
          </a:p>
          <a:p>
            <a:r>
              <a:rPr lang="en-US"/>
              <a:t>• Kod aktivne poduloge bitna informacija je subroleID kojim se korisnik definise i prepoznaje u sistemu</a:t>
            </a:r>
          </a:p>
          <a:p>
            <a:r>
              <a:rPr lang="en-US"/>
              <a:t>• Tako se zahtev vezuje za konkretnu podulogu odnosno subroleID</a:t>
            </a:r>
          </a:p>
          <a:p>
            <a:r>
              <a:rPr lang="en-US"/>
              <a:t>• Kontroler na osnovu subroleID proverava da li je zahtev validan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Промена профила мора да се одрази на локално стање апликације.
• ACL подаци се ажурирају након промене профила.
• Локални модел се освежава са актуелним приступом.
• MQTT претплате се усклађују са дозвољеним зонама.
• Недозвољене зоне се више не прате.
• На тај начин локални модел и комуникација остају усклађени.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Апликација није коначна безбедносна граница.
• Контролер проверава активну подулогу и ACL листу.
• Проверава се зона ресурса и тип операције.
• Проверава се и статус профила.
• Дозвољена команда се извршава.
• Недозвољена команда се одбија.
• Контролер представља коначну тачку примене приступних правила.
• Главна порука је: апликација приказује, контролер одлучује.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Testirani su glavni funkcionalni delovi resenja</a:t>
            </a:r>
          </a:p>
          <a:p>
            <a:r>
              <a:rPr lang="en-US"/>
              <a:t>• Verifikovan je zivotni ciklus profila</a:t>
            </a:r>
          </a:p>
          <a:p>
            <a:r>
              <a:rPr lang="en-US"/>
              <a:t>• Kao i ogranicenje po zonama i vremenu</a:t>
            </a:r>
          </a:p>
          <a:p>
            <a:r>
              <a:rPr lang="en-US"/>
              <a:t>• MQTT mehanizam, pretplate i dogadjaji</a:t>
            </a:r>
          </a:p>
          <a:p>
            <a:r>
              <a:rPr lang="en-US"/>
              <a:t>• Testirani su razliciti nivoi prava</a:t>
            </a:r>
          </a:p>
          <a:p>
            <a:r>
              <a:rPr lang="en-US"/>
              <a:t>• Iako aplikacija nedozvoljava recimo da korisnik radi administrativnu operaciju koja zahteva pristup manage, u svrhu poslednjeg testa, napravili smo okruzenje u kojem je to bilo moguce, da bi testirali izvrsni deo odnosno provera na kontroleru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Merenje je ponovljeno preko ~ 20 puta</a:t>
            </a:r>
          </a:p>
          <a:p>
            <a:r>
              <a:rPr lang="en-US"/>
              <a:t>• Poredjene je standardni rezim OBLO resenja i rezim sa korisnickim podulogama</a:t>
            </a:r>
          </a:p>
          <a:p>
            <a:r>
              <a:rPr lang="en-US"/>
              <a:t>• Dodatna ACL obrada zanemarljivo utice ~ par ms </a:t>
            </a:r>
          </a:p>
          <a:p>
            <a:r>
              <a:rPr lang="en-US"/>
              <a:t>• Vremenska razlika je ocekivana, cak i u istom rezimu postoje relativna odstupanja zato smo i merili sredju vrednost</a:t>
            </a:r>
          </a:p>
          <a:p>
            <a:r>
              <a:rPr lang="en-US"/>
              <a:t>• Brojke pokazuju da nismo uticali na performanse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• Mehanizam poduloga uspesno realizovan i uklopljen u OBLO sistem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• funkcionalno testiranje uspesno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• uvodjem ovog mehanizma nisu narusavane perforamse</a:t>
            </a:r>
          </a:p>
          <a:p>
            <a:endParaRPr lang="en-US"/>
          </a:p>
          <a:p>
            <a:r>
              <a:rPr lang="en-US"/>
              <a:t>• Hvala na paznji sad je vreme za pitanja ukoliko ih ima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108960" cy="3108960"/>
          </a:xfrm>
          <a:prstGeom prst="roundRect">
            <a:avLst>
              <a:gd name="adj" fmla="val 11765"/>
            </a:avLst>
          </a:prstGeom>
          <a:solidFill>
            <a:srgbClr val="0E7C66">
              <a:alpha val="22000"/>
            </a:srgbClr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Shape 1"/>
          <p:cNvSpPr/>
          <p:nvPr/>
        </p:nvSpPr>
        <p:spPr>
          <a:xfrm>
            <a:off x="10424160" y="4937760"/>
            <a:ext cx="2926080" cy="2926080"/>
          </a:xfrm>
          <a:prstGeom prst="roundRect">
            <a:avLst>
              <a:gd name="adj" fmla="val 12500"/>
            </a:avLst>
          </a:prstGeom>
          <a:solidFill>
            <a:srgbClr val="D98A1F">
              <a:alpha val="18000"/>
            </a:srgbClr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Напредни систем контроле приступа у систему паметне куће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41248" y="3794760"/>
            <a:ext cx="1828800" cy="27432"/>
          </a:xfrm>
          <a:prstGeom prst="rect">
            <a:avLst/>
          </a:prstGeom>
          <a:solidFill>
            <a:srgbClr val="D98A1F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Кандидат: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537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Ментор: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проф. др Марија Антић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Универзитет у Новом Саду · Факултет техничких наука · Нови Сад, 2026.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Мотивација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Једнак приступ за све кориснике није довољан.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9525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8" name="Text 6"/>
          <p:cNvSpPr txBox="1"/>
          <p:nvPr/>
        </p:nvSpPr>
        <p:spPr>
          <a:xfrm>
            <a:off x="731520" y="2336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219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Више корисника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5603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 систем користи више особа истовремено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090672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9525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2" name="Shape 10"/>
          <p:cNvSpPr/>
          <p:nvPr/>
        </p:nvSpPr>
        <p:spPr>
          <a:xfrm>
            <a:off x="731520" y="3319272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3" name="Text 11"/>
          <p:cNvSpPr txBox="1"/>
          <p:nvPr/>
        </p:nvSpPr>
        <p:spPr>
          <a:xfrm>
            <a:off x="731520" y="33238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2095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Различите потребе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5478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Корисници немају исте потребе ни одговорности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078224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9525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7" name="Shape 15"/>
          <p:cNvSpPr/>
          <p:nvPr/>
        </p:nvSpPr>
        <p:spPr>
          <a:xfrm>
            <a:off x="731520" y="4306824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8" name="Text 16"/>
          <p:cNvSpPr txBox="1"/>
          <p:nvPr/>
        </p:nvSpPr>
        <p:spPr>
          <a:xfrm>
            <a:off x="731520" y="4311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1970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Контекст приступа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53542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Приступ треба ограничити по улози, зони и времену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06577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9525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22" name="Shape 20"/>
          <p:cNvSpPr/>
          <p:nvPr/>
        </p:nvSpPr>
        <p:spPr>
          <a:xfrm>
            <a:off x="731520" y="5294376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3" name="Text 21"/>
          <p:cNvSpPr txBox="1"/>
          <p:nvPr/>
        </p:nvSpPr>
        <p:spPr>
          <a:xfrm>
            <a:off x="731520" y="52989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1846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Заштита на више слојева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52297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Ограничење у апликацији није једини механизам заштите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2103120"/>
            <a:ext cx="5303520" cy="3950208"/>
          </a:xfrm>
          <a:prstGeom prst="roundRect">
            <a:avLst>
              <a:gd name="adj" fmla="val 2315"/>
            </a:avLst>
          </a:prstGeom>
          <a:solidFill>
            <a:srgbClr val="12233A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7" name="Shape 25"/>
          <p:cNvSpPr/>
          <p:nvPr/>
        </p:nvSpPr>
        <p:spPr>
          <a:xfrm>
            <a:off x="6675120" y="2395728"/>
            <a:ext cx="457200" cy="457200"/>
          </a:xfrm>
          <a:prstGeom prst="ellipse">
            <a:avLst/>
          </a:prstGeom>
          <a:solidFill>
            <a:srgbClr val="D98A1F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8" name="Text 26"/>
          <p:cNvSpPr txBox="1"/>
          <p:nvPr/>
        </p:nvSpPr>
        <p:spPr>
          <a:xfrm>
            <a:off x="6675120" y="24003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2423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Реални сценарио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31089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Станари, гости, апартмани, хотели, сервисери — није прихватљиво да сви имају исти ниво контроле.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434340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D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 у апартману треба да управља само својим простором — не и системским подешавањима ни другим корисницима.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 · Мастер рад · 2026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ЗАДАТАК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Циљ рада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11556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6" name="Text 4"/>
          <p:cNvSpPr txBox="1"/>
          <p:nvPr/>
        </p:nvSpPr>
        <p:spPr>
          <a:xfrm>
            <a:off x="822960" y="16276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Реализација механизма </a:t>
            </a:r>
            <a:r>
              <a:rPr lang="en-US" sz="19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корисничких подулога</a:t>
            </a:r>
            <a:r>
              <a:rPr lang="en-US" sz="1900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кроз више слојева система — а не само сакривање опција у апликацији.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02920" y="288036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8" name="Shape 6"/>
          <p:cNvSpPr/>
          <p:nvPr/>
        </p:nvSpPr>
        <p:spPr>
          <a:xfrm>
            <a:off x="1298448" y="3200400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9" name="Text 7"/>
          <p:cNvSpPr txBox="1"/>
          <p:nvPr/>
        </p:nvSpPr>
        <p:spPr>
          <a:xfrm>
            <a:off x="1298448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319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Различити профили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7548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додела профила корисницима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52344" y="288036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3" name="Shape 11"/>
          <p:cNvSpPr/>
          <p:nvPr/>
        </p:nvSpPr>
        <p:spPr>
          <a:xfrm>
            <a:off x="3547872" y="3200400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4" name="Text 12"/>
          <p:cNvSpPr txBox="1"/>
          <p:nvPr/>
        </p:nvSpPr>
        <p:spPr>
          <a:xfrm>
            <a:off x="3547872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889504" y="39319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Ограничење по зонама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2889504" y="47548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приступ само додељеном простору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01768" y="288036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8" name="Shape 16"/>
          <p:cNvSpPr/>
          <p:nvPr/>
        </p:nvSpPr>
        <p:spPr>
          <a:xfrm>
            <a:off x="5797296" y="3200400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9" name="Text 17"/>
          <p:cNvSpPr txBox="1"/>
          <p:nvPr/>
        </p:nvSpPr>
        <p:spPr>
          <a:xfrm>
            <a:off x="5797296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138928" y="39319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Нивои права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138928" y="47548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execute · manage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51192" y="288036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23" name="Shape 21"/>
          <p:cNvSpPr/>
          <p:nvPr/>
        </p:nvSpPr>
        <p:spPr>
          <a:xfrm>
            <a:off x="8046720" y="3200400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4" name="Text 22"/>
          <p:cNvSpPr txBox="1"/>
          <p:nvPr/>
        </p:nvSpPr>
        <p:spPr>
          <a:xfrm>
            <a:off x="80467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388352" y="39319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Временско ограничење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388352" y="47548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приступ важи ограничен период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500616" y="288036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28" name="Shape 26"/>
          <p:cNvSpPr/>
          <p:nvPr/>
        </p:nvSpPr>
        <p:spPr>
          <a:xfrm>
            <a:off x="10296144" y="3200400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9" name="Text 27"/>
          <p:cNvSpPr txBox="1"/>
          <p:nvPr/>
        </p:nvSpPr>
        <p:spPr>
          <a:xfrm>
            <a:off x="10296144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637776" y="39319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Провера на контролеру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9637776" y="47548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коначна одлука на извршном слоју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 · Мастер рад · 2026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ТЕОРИЈСКА ОСНОВА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Модели контроле приступа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611880" cy="3246120"/>
          </a:xfrm>
          <a:prstGeom prst="roundRect">
            <a:avLst>
              <a:gd name="adj" fmla="val 2817"/>
            </a:avLst>
          </a:prstGeom>
          <a:solidFill>
            <a:srgbClr val="F4F7F6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611880" cy="822960"/>
          </a:xfrm>
          <a:prstGeom prst="roundRect">
            <a:avLst>
              <a:gd name="adj" fmla="val 11111"/>
            </a:avLst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3611880" cy="27432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8" name="Text 6"/>
          <p:cNvSpPr txBox="1"/>
          <p:nvPr/>
        </p:nvSpPr>
        <p:spPr>
          <a:xfrm>
            <a:off x="502920" y="16459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786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63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се везују за улогу корисника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005840" y="411480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66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2" name="Text 10"/>
          <p:cNvSpPr txBox="1"/>
          <p:nvPr/>
        </p:nvSpPr>
        <p:spPr>
          <a:xfrm>
            <a:off x="1005840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власник · станар · гост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88536" y="1600200"/>
            <a:ext cx="3611880" cy="3246120"/>
          </a:xfrm>
          <a:prstGeom prst="roundRect">
            <a:avLst>
              <a:gd name="adj" fmla="val 2817"/>
            </a:avLst>
          </a:prstGeom>
          <a:solidFill>
            <a:srgbClr val="F7EEDD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4" name="Shape 12"/>
          <p:cNvSpPr/>
          <p:nvPr/>
        </p:nvSpPr>
        <p:spPr>
          <a:xfrm>
            <a:off x="4288536" y="1600200"/>
            <a:ext cx="3611880" cy="822960"/>
          </a:xfrm>
          <a:prstGeom prst="roundRect">
            <a:avLst>
              <a:gd name="adj" fmla="val 11111"/>
            </a:avLst>
          </a:prstGeom>
          <a:solidFill>
            <a:srgbClr val="D98A1F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5" name="Shape 13"/>
          <p:cNvSpPr/>
          <p:nvPr/>
        </p:nvSpPr>
        <p:spPr>
          <a:xfrm>
            <a:off x="4288536" y="2148840"/>
            <a:ext cx="3611880" cy="274320"/>
          </a:xfrm>
          <a:prstGeom prst="rect">
            <a:avLst/>
          </a:prstGeom>
          <a:solidFill>
            <a:srgbClr val="D98A1F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6" name="Text 14"/>
          <p:cNvSpPr txBox="1"/>
          <p:nvPr/>
        </p:nvSpPr>
        <p:spPr>
          <a:xfrm>
            <a:off x="4288536" y="16459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ABAC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471416" y="25786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Attribute-Based Access Control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62856" y="3063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Приступ зависи од атрибута и контекста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791456" y="411480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20" name="Text 18"/>
          <p:cNvSpPr txBox="1"/>
          <p:nvPr/>
        </p:nvSpPr>
        <p:spPr>
          <a:xfrm>
            <a:off x="4791456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· ресурс · време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74152" y="1600200"/>
            <a:ext cx="3611880" cy="3246120"/>
          </a:xfrm>
          <a:prstGeom prst="roundRect">
            <a:avLst>
              <a:gd name="adj" fmla="val 2817"/>
            </a:avLst>
          </a:prstGeom>
          <a:solidFill>
            <a:srgbClr val="12233A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2" name="Shape 20"/>
          <p:cNvSpPr/>
          <p:nvPr/>
        </p:nvSpPr>
        <p:spPr>
          <a:xfrm>
            <a:off x="8074152" y="1600200"/>
            <a:ext cx="3611880" cy="822960"/>
          </a:xfrm>
          <a:prstGeom prst="roundRect">
            <a:avLst>
              <a:gd name="adj" fmla="val 11111"/>
            </a:avLst>
          </a:prstGeom>
          <a:solidFill>
            <a:srgbClr val="12233A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3" name="Shape 21"/>
          <p:cNvSpPr/>
          <p:nvPr/>
        </p:nvSpPr>
        <p:spPr>
          <a:xfrm>
            <a:off x="8074152" y="2148840"/>
            <a:ext cx="3611880" cy="274320"/>
          </a:xfrm>
          <a:prstGeom prst="rect">
            <a:avLst/>
          </a:prstGeom>
          <a:solidFill>
            <a:srgbClr val="12233A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4" name="Text 22"/>
          <p:cNvSpPr txBox="1"/>
          <p:nvPr/>
        </p:nvSpPr>
        <p:spPr>
          <a:xfrm>
            <a:off x="8074152" y="164592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Предложени модел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257032" y="25786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Корисничка подулога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348472" y="3063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Подулога + контролер + ACL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577072" y="411480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1B3350"/>
          </a:solidFill>
          <a:ln w="1270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28" name="Text 26"/>
          <p:cNvSpPr txBox="1"/>
          <p:nvPr/>
        </p:nvSpPr>
        <p:spPr>
          <a:xfrm>
            <a:off x="8577072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 · право · време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 · Мастер рад · 2026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OBLO систем паметне куће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Основне компоненте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04922"/>
            <a:ext cx="310896" cy="310896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7" name="Text 5"/>
          <p:cNvSpPr txBox="1"/>
          <p:nvPr/>
        </p:nvSpPr>
        <p:spPr>
          <a:xfrm>
            <a:off x="548640" y="28049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Cyrl-RS" sz="1200" b="1" dirty="0">
                <a:solidFill>
                  <a:srgbClr val="FFFFFF"/>
                </a:solidFill>
                <a:latin typeface="Cambria" pitchFamily="34" charset="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9293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Сервис у облаку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удаљени приступ, налози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6791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Контролер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990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локална логика, уређаји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310896" cy="310896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5" name="Text 13"/>
          <p:cNvSpPr txBox="1"/>
          <p:nvPr/>
        </p:nvSpPr>
        <p:spPr>
          <a:xfrm>
            <a:off x="54864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Клијентска апликација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7398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приказ и управљање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70248"/>
            <a:ext cx="310896" cy="310896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9" name="Text 17"/>
          <p:cNvSpPr txBox="1"/>
          <p:nvPr/>
        </p:nvSpPr>
        <p:spPr>
          <a:xfrm>
            <a:off x="548640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1788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Периферни уређаји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4897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сензори и актуатори</a:t>
            </a:r>
            <a:endParaRPr lang="en-US" sz="1150" dirty="0"/>
          </a:p>
        </p:txBody>
      </p:sp>
      <p:pic>
        <p:nvPicPr>
          <p:cNvPr id="22" name="Image 0" descr="/home/claude/figs/f_ob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714" y="1371600"/>
            <a:ext cx="7501692" cy="47091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 · Мастер рад · 2026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69FA01E7-3394-0C5B-EF88-8C269A5248EB}"/>
              </a:ext>
            </a:extLst>
          </p:cNvPr>
          <p:cNvSpPr/>
          <p:nvPr/>
        </p:nvSpPr>
        <p:spPr>
          <a:xfrm>
            <a:off x="548640" y="2089404"/>
            <a:ext cx="310896" cy="310896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8D776C30-2F05-DF4A-4A1B-90864E192E72}"/>
              </a:ext>
            </a:extLst>
          </p:cNvPr>
          <p:cNvSpPr txBox="1"/>
          <p:nvPr/>
        </p:nvSpPr>
        <p:spPr>
          <a:xfrm>
            <a:off x="548640" y="20894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Ограничење једнокорисничког модела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F4F7F6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7" name="Text 5"/>
          <p:cNvSpPr txBox="1"/>
          <p:nvPr/>
        </p:nvSpPr>
        <p:spPr>
          <a:xfrm>
            <a:off x="822960" y="21442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94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Приступ целом систему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26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корисник види и мења све, без обзира на потребу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F4F7F6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3" name="Text 11"/>
          <p:cNvSpPr txBox="1"/>
          <p:nvPr/>
        </p:nvSpPr>
        <p:spPr>
          <a:xfrm>
            <a:off x="7086600" y="2194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раздвајања по зонама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926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 просторног ограничења над деловима система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F4F7F6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6" name="Shape 14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7" name="Text 15"/>
          <p:cNvSpPr txBox="1"/>
          <p:nvPr/>
        </p:nvSpPr>
        <p:spPr>
          <a:xfrm>
            <a:off x="822960" y="4256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297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раздвајања по операцији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029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разликује преглед, извршавање и администрацију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80760" y="393192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F4F7F6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23" name="Text 21"/>
          <p:cNvSpPr txBox="1"/>
          <p:nvPr/>
        </p:nvSpPr>
        <p:spPr>
          <a:xfrm>
            <a:off x="7086600" y="4297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Привремени приступ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5029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 и сервисер захтевају додатну контролу трајања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 · Мастер рад · 2026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C8313849-59EB-71E9-A7F4-02B3ED1B981E}"/>
              </a:ext>
            </a:extLst>
          </p:cNvPr>
          <p:cNvSpPr/>
          <p:nvPr/>
        </p:nvSpPr>
        <p:spPr>
          <a:xfrm>
            <a:off x="6400800" y="2185416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572D307F-756F-8EA3-7C14-FFD2C0C92376}"/>
              </a:ext>
            </a:extLst>
          </p:cNvPr>
          <p:cNvSpPr/>
          <p:nvPr/>
        </p:nvSpPr>
        <p:spPr>
          <a:xfrm>
            <a:off x="6400800" y="4251960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078FEA85-6608-D1FC-8F11-70EA398E306D}"/>
              </a:ext>
            </a:extLst>
          </p:cNvPr>
          <p:cNvSpPr txBox="1"/>
          <p:nvPr/>
        </p:nvSpPr>
        <p:spPr>
          <a:xfrm>
            <a:off x="640080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Cyrl-RS" sz="1700" b="1" dirty="0">
                <a:solidFill>
                  <a:srgbClr val="FFFFFF"/>
                </a:solidFill>
                <a:latin typeface="Cambria" pitchFamily="34" charset="0"/>
              </a:rPr>
              <a:t>2</a:t>
            </a:r>
            <a:endParaRPr lang="en-US" sz="17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5063405C-A5B3-08F4-ED28-EF2E261ED62D}"/>
              </a:ext>
            </a:extLst>
          </p:cNvPr>
          <p:cNvSpPr txBox="1"/>
          <p:nvPr/>
        </p:nvSpPr>
        <p:spPr>
          <a:xfrm>
            <a:off x="640080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Cyrl-RS" sz="1700" b="1" dirty="0">
                <a:solidFill>
                  <a:srgbClr val="FFFFFF"/>
                </a:solidFill>
                <a:latin typeface="Cambria" pitchFamily="34" charset="0"/>
              </a:rPr>
              <a:t>4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1D9E82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D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КЉУЧНА ИДЕЈА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Корисничка подулога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CFE0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Подулога није глобална улога налога, 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већ улога коју корисник има у контексту једног контролера.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 корисник може истовремено бити: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B3350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8" name="Shape 6"/>
          <p:cNvSpPr/>
          <p:nvPr/>
        </p:nvSpPr>
        <p:spPr>
          <a:xfrm>
            <a:off x="1143000" y="3566160"/>
            <a:ext cx="640080" cy="64008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9" name="Text 7"/>
          <p:cNvSpPr txBox="1"/>
          <p:nvPr/>
        </p:nvSpPr>
        <p:spPr>
          <a:xfrm>
            <a:off x="114300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Власник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D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свом стану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34840" y="324612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B3350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3" name="Shape 11"/>
          <p:cNvSpPr/>
          <p:nvPr/>
        </p:nvSpPr>
        <p:spPr>
          <a:xfrm>
            <a:off x="4754880" y="3566160"/>
            <a:ext cx="640080" cy="64008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4" name="Text 12"/>
          <p:cNvSpPr txBox="1"/>
          <p:nvPr/>
        </p:nvSpPr>
        <p:spPr>
          <a:xfrm>
            <a:off x="475488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Станар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D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другој инсталацији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324612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B3350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8" name="Shape 16"/>
          <p:cNvSpPr/>
          <p:nvPr/>
        </p:nvSpPr>
        <p:spPr>
          <a:xfrm>
            <a:off x="8366760" y="3566160"/>
            <a:ext cx="640080" cy="64008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9" name="Text 17"/>
          <p:cNvSpPr txBox="1"/>
          <p:nvPr/>
        </p:nvSpPr>
        <p:spPr>
          <a:xfrm>
            <a:off x="836676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Гост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385048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D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хотелској соби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КОНЦЕПТ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Типови корисничких профила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1945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2194560" cy="274320"/>
          </a:xfrm>
          <a:prstGeom prst="rect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8" name="Text 6"/>
          <p:cNvSpPr txBox="1"/>
          <p:nvPr/>
        </p:nvSpPr>
        <p:spPr>
          <a:xfrm>
            <a:off x="502920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Власник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5176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Пуна контрола над инсталацијом и профилима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4348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F7F6"/>
          </a:solidFill>
          <a:ln w="12700">
            <a:solidFill>
              <a:srgbClr val="0E7C66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1" name="Text 9"/>
          <p:cNvSpPr txBox="1"/>
          <p:nvPr/>
        </p:nvSpPr>
        <p:spPr>
          <a:xfrm>
            <a:off x="685800" y="4434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7C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07208" y="1691640"/>
            <a:ext cx="21945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3" name="Shape 11"/>
          <p:cNvSpPr/>
          <p:nvPr/>
        </p:nvSpPr>
        <p:spPr>
          <a:xfrm>
            <a:off x="2807208" y="16916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D9E82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4" name="Shape 12"/>
          <p:cNvSpPr/>
          <p:nvPr/>
        </p:nvSpPr>
        <p:spPr>
          <a:xfrm>
            <a:off x="2807208" y="2194560"/>
            <a:ext cx="2194560" cy="274320"/>
          </a:xfrm>
          <a:prstGeom prst="rect">
            <a:avLst/>
          </a:prstGeom>
          <a:solidFill>
            <a:srgbClr val="1D9E82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5" name="Text 13"/>
          <p:cNvSpPr txBox="1"/>
          <p:nvPr/>
        </p:nvSpPr>
        <p:spPr>
          <a:xfrm>
            <a:off x="2807208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Управник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2990088" y="265176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Управљање профилима и приступом, без права контроле уређаја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990088" y="44348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F7F6"/>
          </a:solidFill>
          <a:ln w="12700">
            <a:solidFill>
              <a:srgbClr val="1D9E82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8" name="Text 16"/>
          <p:cNvSpPr txBox="1"/>
          <p:nvPr/>
        </p:nvSpPr>
        <p:spPr>
          <a:xfrm>
            <a:off x="2990088" y="4434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9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</a:t>
            </a:r>
            <a:r>
              <a:rPr lang="en-US" sz="1150" b="1">
                <a:solidFill>
                  <a:srgbClr val="1D9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r>
              <a:rPr lang="sr-Cyrl-RS" sz="1150" b="1">
                <a:solidFill>
                  <a:srgbClr val="1D9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управљање </a:t>
            </a:r>
            <a:r>
              <a:rPr lang="en-US" sz="1150" b="1">
                <a:solidFill>
                  <a:srgbClr val="1D9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профили</a:t>
            </a:r>
            <a:r>
              <a:rPr lang="sr-Cyrl-RS" sz="1150" b="1">
                <a:solidFill>
                  <a:srgbClr val="1D9E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111496" y="1691640"/>
            <a:ext cx="21945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20" name="Shape 18"/>
          <p:cNvSpPr/>
          <p:nvPr/>
        </p:nvSpPr>
        <p:spPr>
          <a:xfrm>
            <a:off x="5111496" y="16916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2233A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1" name="Shape 19"/>
          <p:cNvSpPr/>
          <p:nvPr/>
        </p:nvSpPr>
        <p:spPr>
          <a:xfrm>
            <a:off x="5111496" y="2194560"/>
            <a:ext cx="2194560" cy="274320"/>
          </a:xfrm>
          <a:prstGeom prst="rect">
            <a:avLst/>
          </a:prstGeom>
          <a:solidFill>
            <a:srgbClr val="12233A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2" name="Text 20"/>
          <p:cNvSpPr txBox="1"/>
          <p:nvPr/>
        </p:nvSpPr>
        <p:spPr>
          <a:xfrm>
            <a:off x="5111496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Станар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5294376" y="265176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Коришћење система у додељеним зонама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294376" y="44348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F7F6"/>
          </a:solidFill>
          <a:ln w="1270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25" name="Text 23"/>
          <p:cNvSpPr txBox="1"/>
          <p:nvPr/>
        </p:nvSpPr>
        <p:spPr>
          <a:xfrm>
            <a:off x="5294376" y="4434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15784" y="1691640"/>
            <a:ext cx="21945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27" name="Shape 25"/>
          <p:cNvSpPr/>
          <p:nvPr/>
        </p:nvSpPr>
        <p:spPr>
          <a:xfrm>
            <a:off x="7415784" y="16916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D98A1F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8" name="Shape 26"/>
          <p:cNvSpPr/>
          <p:nvPr/>
        </p:nvSpPr>
        <p:spPr>
          <a:xfrm>
            <a:off x="7415784" y="2194560"/>
            <a:ext cx="2194560" cy="274320"/>
          </a:xfrm>
          <a:prstGeom prst="rect">
            <a:avLst/>
          </a:prstGeom>
          <a:solidFill>
            <a:srgbClr val="D98A1F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9" name="Text 27"/>
          <p:cNvSpPr txBox="1"/>
          <p:nvPr/>
        </p:nvSpPr>
        <p:spPr>
          <a:xfrm>
            <a:off x="7415784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Гост</a:t>
            </a:r>
            <a:endParaRPr lang="en-US" sz="1650" dirty="0"/>
          </a:p>
        </p:txBody>
      </p:sp>
      <p:sp>
        <p:nvSpPr>
          <p:cNvPr id="30" name="Text 28"/>
          <p:cNvSpPr txBox="1"/>
          <p:nvPr/>
        </p:nvSpPr>
        <p:spPr>
          <a:xfrm>
            <a:off x="7598664" y="265176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Привремени приступ додељеним зонама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98664" y="44348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F7F6"/>
          </a:solidFill>
          <a:ln w="12700">
            <a:solidFill>
              <a:srgbClr val="D98A1F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32" name="Text 30"/>
          <p:cNvSpPr txBox="1"/>
          <p:nvPr/>
        </p:nvSpPr>
        <p:spPr>
          <a:xfrm>
            <a:off x="7598664" y="4434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720072" y="1691640"/>
            <a:ext cx="21945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34" name="Shape 32"/>
          <p:cNvSpPr/>
          <p:nvPr/>
        </p:nvSpPr>
        <p:spPr>
          <a:xfrm>
            <a:off x="9720072" y="16916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8A5A1A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5" name="Shape 33"/>
          <p:cNvSpPr/>
          <p:nvPr/>
        </p:nvSpPr>
        <p:spPr>
          <a:xfrm>
            <a:off x="9720072" y="2194560"/>
            <a:ext cx="2194560" cy="274320"/>
          </a:xfrm>
          <a:prstGeom prst="rect">
            <a:avLst/>
          </a:prstGeom>
          <a:solidFill>
            <a:srgbClr val="8A5A1A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6" name="Text 34"/>
          <p:cNvSpPr txBox="1"/>
          <p:nvPr/>
        </p:nvSpPr>
        <p:spPr>
          <a:xfrm>
            <a:off x="9720072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Инсталатер</a:t>
            </a:r>
            <a:endParaRPr lang="en-US" sz="1650" dirty="0"/>
          </a:p>
        </p:txBody>
      </p:sp>
      <p:sp>
        <p:nvSpPr>
          <p:cNvPr id="37" name="Text 35"/>
          <p:cNvSpPr txBox="1"/>
          <p:nvPr/>
        </p:nvSpPr>
        <p:spPr>
          <a:xfrm>
            <a:off x="9902952" y="265176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Проширена права само током сервиса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902952" y="44348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4F7F6"/>
          </a:solidFill>
          <a:ln w="12700">
            <a:solidFill>
              <a:srgbClr val="8A5A1A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39" name="Text 37"/>
          <p:cNvSpPr txBox="1"/>
          <p:nvPr/>
        </p:nvSpPr>
        <p:spPr>
          <a:xfrm>
            <a:off x="9902952" y="4434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A5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" y="5257800"/>
            <a:ext cx="11155680" cy="685800"/>
          </a:xfrm>
          <a:prstGeom prst="roundRect">
            <a:avLst>
              <a:gd name="adj" fmla="val 10667"/>
            </a:avLst>
          </a:prstGeom>
          <a:solidFill>
            <a:srgbClr val="E3F1EC"/>
          </a:solidFill>
          <a:ln w="12700">
            <a:solidFill>
              <a:srgbClr val="C4DED4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41" name="Text 39"/>
          <p:cNvSpPr txBox="1"/>
          <p:nvPr/>
        </p:nvSpPr>
        <p:spPr>
          <a:xfrm>
            <a:off x="731520" y="52578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раду је дефинисано пет подулога — </a:t>
            </a: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свака са јасно одређеном наменом и обимом права.</a:t>
            </a:r>
            <a:endParaRPr lang="en-US" sz="14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 · Мастер рад · 2026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 ПРИСТУПА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Приступна права и ACL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4F7F6"/>
          </a:solidFill>
          <a:ln w="9525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6" name="Shape 4"/>
          <p:cNvSpPr/>
          <p:nvPr/>
        </p:nvSpPr>
        <p:spPr>
          <a:xfrm>
            <a:off x="685800" y="1837944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7" name="Text 5"/>
          <p:cNvSpPr txBox="1"/>
          <p:nvPr/>
        </p:nvSpPr>
        <p:spPr>
          <a:xfrm>
            <a:off x="685800" y="18379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6002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читање података и стања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4F7F6"/>
          </a:solidFill>
          <a:ln w="9525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0" name="Shape 8"/>
          <p:cNvSpPr/>
          <p:nvPr/>
        </p:nvSpPr>
        <p:spPr>
          <a:xfrm>
            <a:off x="685800" y="2798064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1D9E82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1" name="Text 9"/>
          <p:cNvSpPr txBox="1"/>
          <p:nvPr/>
        </p:nvSpPr>
        <p:spPr>
          <a:xfrm>
            <a:off x="685800" y="279806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5603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извршавање команди над уређајима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4F7F6"/>
          </a:solidFill>
          <a:ln w="9525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4" name="Shape 12"/>
          <p:cNvSpPr/>
          <p:nvPr/>
        </p:nvSpPr>
        <p:spPr>
          <a:xfrm>
            <a:off x="685800" y="3758184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12233A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5" name="Text 13"/>
          <p:cNvSpPr txBox="1"/>
          <p:nvPr/>
        </p:nvSpPr>
        <p:spPr>
          <a:xfrm>
            <a:off x="685800" y="375818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3520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управљање системом или профилима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526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чине хијерархију: manage укључује execute, execute укључује read.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6002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12233A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9" name="Text 17"/>
          <p:cNvSpPr txBox="1"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ACL запис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24028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resourceType</a:t>
            </a:r>
            <a:r>
              <a:rPr lang="en-US" sz="1250" dirty="0">
                <a:solidFill>
                  <a:srgbClr val="CFE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тип ресурса (нпр. зона)
</a:t>
            </a:r>
            <a:r>
              <a:rPr lang="en-US" sz="125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resourceId</a:t>
            </a:r>
            <a:r>
              <a:rPr lang="en-US" sz="1250" dirty="0">
                <a:solidFill>
                  <a:srgbClr val="CFE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идентификатор ресурса
</a:t>
            </a:r>
            <a:r>
              <a:rPr lang="en-US" sz="1250" dirty="0">
                <a:solidFill>
                  <a:srgbClr val="D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</a:t>
            </a:r>
            <a:r>
              <a:rPr lang="en-US" sz="1250" dirty="0">
                <a:solidFill>
                  <a:srgbClr val="CFE0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ниво права</a:t>
            </a:r>
            <a:endParaRPr lang="en-US" sz="1250" dirty="0"/>
          </a:p>
        </p:txBody>
      </p:sp>
      <p:pic>
        <p:nvPicPr>
          <p:cNvPr id="21" name="Image 0" descr="/home/claude/figs/f_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502568"/>
            <a:ext cx="5394960" cy="2047423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 · Мастер рад · 2026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 ПРИСТУПА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Ограничење приступа по зонама</a:t>
            </a:r>
            <a:endParaRPr lang="en-US" sz="2800" dirty="0"/>
          </a:p>
        </p:txBody>
      </p:sp>
      <p:pic>
        <p:nvPicPr>
          <p:cNvPr id="5" name="Image 0" descr="/home/claude/figs/f_z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08" y="1371600"/>
            <a:ext cx="3800704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1645920"/>
            <a:ext cx="6720840" cy="1005840"/>
          </a:xfrm>
          <a:prstGeom prst="roundRect">
            <a:avLst>
              <a:gd name="adj" fmla="val 7273"/>
            </a:avLst>
          </a:prstGeom>
          <a:solidFill>
            <a:srgbClr val="F4F7F6"/>
          </a:solidFill>
          <a:ln w="9525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7" name="Shape 4"/>
          <p:cNvSpPr/>
          <p:nvPr/>
        </p:nvSpPr>
        <p:spPr>
          <a:xfrm>
            <a:off x="5212080" y="1920240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8" name="Text 5"/>
          <p:cNvSpPr txBox="1"/>
          <p:nvPr/>
        </p:nvSpPr>
        <p:spPr>
          <a:xfrm>
            <a:off x="5212080" y="1924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17830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Само додељене зоне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217627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корисник добија приступ ограниченом простору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937760" y="2761488"/>
            <a:ext cx="6720840" cy="1005840"/>
          </a:xfrm>
          <a:prstGeom prst="roundRect">
            <a:avLst>
              <a:gd name="adj" fmla="val 7273"/>
            </a:avLst>
          </a:prstGeom>
          <a:solidFill>
            <a:srgbClr val="F4F7F6"/>
          </a:solidFill>
          <a:ln w="9525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2" name="Shape 9"/>
          <p:cNvSpPr/>
          <p:nvPr/>
        </p:nvSpPr>
        <p:spPr>
          <a:xfrm>
            <a:off x="5212080" y="3035808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3" name="Text 10"/>
          <p:cNvSpPr txBox="1"/>
          <p:nvPr/>
        </p:nvSpPr>
        <p:spPr>
          <a:xfrm>
            <a:off x="5212080" y="3040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897880" y="28986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Ресурси ван листе скривени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5897880" y="32918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 што није у ACL листи није доступно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937760" y="3877056"/>
            <a:ext cx="6720840" cy="1005840"/>
          </a:xfrm>
          <a:prstGeom prst="roundRect">
            <a:avLst>
              <a:gd name="adj" fmla="val 7273"/>
            </a:avLst>
          </a:prstGeom>
          <a:solidFill>
            <a:srgbClr val="F4F7F6"/>
          </a:solidFill>
          <a:ln w="9525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7" name="Shape 14"/>
          <p:cNvSpPr/>
          <p:nvPr/>
        </p:nvSpPr>
        <p:spPr>
          <a:xfrm>
            <a:off x="5212080" y="4151376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8" name="Text 15"/>
          <p:cNvSpPr txBox="1"/>
          <p:nvPr/>
        </p:nvSpPr>
        <p:spPr>
          <a:xfrm>
            <a:off x="5212080" y="41559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897880" y="40142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MQTT догађаји филтрирани</a:t>
            </a:r>
            <a:endParaRPr lang="en-US" sz="1550" dirty="0"/>
          </a:p>
        </p:txBody>
      </p:sp>
      <p:sp>
        <p:nvSpPr>
          <p:cNvPr id="20" name="Text 17"/>
          <p:cNvSpPr txBox="1"/>
          <p:nvPr/>
        </p:nvSpPr>
        <p:spPr>
          <a:xfrm>
            <a:off x="5897880" y="440740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стижу само догађаји дозвољених зона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937760" y="4992624"/>
            <a:ext cx="6720840" cy="1005840"/>
          </a:xfrm>
          <a:prstGeom prst="roundRect">
            <a:avLst>
              <a:gd name="adj" fmla="val 7273"/>
            </a:avLst>
          </a:prstGeom>
          <a:solidFill>
            <a:srgbClr val="F4F7F6"/>
          </a:solidFill>
          <a:ln w="9525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22" name="Shape 19"/>
          <p:cNvSpPr/>
          <p:nvPr/>
        </p:nvSpPr>
        <p:spPr>
          <a:xfrm>
            <a:off x="5212080" y="5266944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3" name="Text 20"/>
          <p:cNvSpPr txBox="1"/>
          <p:nvPr/>
        </p:nvSpPr>
        <p:spPr>
          <a:xfrm>
            <a:off x="5212080" y="52715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897880" y="512978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Провера на контролеру</a:t>
            </a:r>
            <a:endParaRPr lang="en-US" sz="1550" dirty="0"/>
          </a:p>
        </p:txBody>
      </p:sp>
      <p:sp>
        <p:nvSpPr>
          <p:cNvPr id="25" name="Text 22"/>
          <p:cNvSpPr txBox="1"/>
          <p:nvPr/>
        </p:nvSpPr>
        <p:spPr>
          <a:xfrm>
            <a:off x="5897880" y="552297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команде се верификују на извршном слоју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 · Мастер рад · 2026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 ПРИСТУПА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Временски ограничен приступ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Примењује се на: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F7EEDD"/>
          </a:solidFill>
          <a:ln w="12700">
            <a:solidFill>
              <a:srgbClr val="E6D3B0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7" name="Shape 5"/>
          <p:cNvSpPr/>
          <p:nvPr/>
        </p:nvSpPr>
        <p:spPr>
          <a:xfrm>
            <a:off x="822960" y="2441448"/>
            <a:ext cx="457200" cy="457200"/>
          </a:xfrm>
          <a:prstGeom prst="ellipse">
            <a:avLst/>
          </a:prstGeom>
          <a:solidFill>
            <a:srgbClr val="D98A1F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8" name="Text 6"/>
          <p:cNvSpPr txBox="1"/>
          <p:nvPr/>
        </p:nvSpPr>
        <p:spPr>
          <a:xfrm>
            <a:off x="822960" y="2446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331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8A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Госта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770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 током боравка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42900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F7EEDD"/>
          </a:solidFill>
          <a:ln w="12700">
            <a:solidFill>
              <a:srgbClr val="E6D3B0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2" name="Shape 10"/>
          <p:cNvSpPr/>
          <p:nvPr/>
        </p:nvSpPr>
        <p:spPr>
          <a:xfrm>
            <a:off x="822960" y="3813048"/>
            <a:ext cx="457200" cy="457200"/>
          </a:xfrm>
          <a:prstGeom prst="ellipse">
            <a:avLst/>
          </a:prstGeom>
          <a:solidFill>
            <a:srgbClr val="D98A1F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3" name="Text 11"/>
          <p:cNvSpPr txBox="1"/>
          <p:nvPr/>
        </p:nvSpPr>
        <p:spPr>
          <a:xfrm>
            <a:off x="822960" y="38176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703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8A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Инсталатера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142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 током сервисне интервенције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97880" y="1554480"/>
            <a:ext cx="5760720" cy="4114800"/>
          </a:xfrm>
          <a:prstGeom prst="roundRect">
            <a:avLst>
              <a:gd name="adj" fmla="val 2222"/>
            </a:avLst>
          </a:prstGeom>
          <a:solidFill>
            <a:srgbClr val="F4F7F6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7" name="Text 15"/>
          <p:cNvSpPr txBox="1"/>
          <p:nvPr/>
        </p:nvSpPr>
        <p:spPr>
          <a:xfrm>
            <a:off x="6172200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Ефекат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2468880"/>
            <a:ext cx="329184" cy="329184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9" name="Text 17"/>
          <p:cNvSpPr txBox="1"/>
          <p:nvPr/>
        </p:nvSpPr>
        <p:spPr>
          <a:xfrm>
            <a:off x="6217920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Приступ важи ограничено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2715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 током дефинисаног периода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3474720"/>
            <a:ext cx="329184" cy="329184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3" name="Text 21"/>
          <p:cNvSpPr txBox="1"/>
          <p:nvPr/>
        </p:nvSpPr>
        <p:spPr>
          <a:xfrm>
            <a:off x="621792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Истеком престаје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3721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 више није важећи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480560"/>
            <a:ext cx="329184" cy="329184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7" name="Text 25"/>
          <p:cNvSpPr txBox="1"/>
          <p:nvPr/>
        </p:nvSpPr>
        <p:spPr>
          <a:xfrm>
            <a:off x="6217920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4389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 се освежава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47274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доступни подаци се ажурирају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 · Мастер рад · 2026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РАСПОДЕЛА ОДГОВОРНОСТИ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решења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977640" cy="1234440"/>
          </a:xfrm>
          <a:prstGeom prst="roundRect">
            <a:avLst>
              <a:gd name="adj" fmla="val 7407"/>
            </a:avLst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6" name="Text 4"/>
          <p:cNvSpPr txBox="1"/>
          <p:nvPr/>
        </p:nvSpPr>
        <p:spPr>
          <a:xfrm>
            <a:off x="777240" y="18013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Сервис у облаку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58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4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 · ACL · верификација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3977640" cy="1234440"/>
          </a:xfrm>
          <a:prstGeom prst="roundRect">
            <a:avLst>
              <a:gd name="adj" fmla="val 7407"/>
            </a:avLst>
          </a:prstGeom>
          <a:solidFill>
            <a:srgbClr val="1D9E82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9" name="Text 7"/>
          <p:cNvSpPr txBox="1"/>
          <p:nvPr/>
        </p:nvSpPr>
        <p:spPr>
          <a:xfrm>
            <a:off x="777240" y="32186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Контролер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675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4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примена правила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434840"/>
            <a:ext cx="3977640" cy="1234440"/>
          </a:xfrm>
          <a:prstGeom prst="roundRect">
            <a:avLst>
              <a:gd name="adj" fmla="val 7407"/>
            </a:avLst>
          </a:prstGeom>
          <a:solidFill>
            <a:srgbClr val="12233A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2" name="Text 10"/>
          <p:cNvSpPr txBox="1"/>
          <p:nvPr/>
        </p:nvSpPr>
        <p:spPr>
          <a:xfrm>
            <a:off x="777240" y="46360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Апликација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093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4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приказ дозвољеног модела</a:t>
            </a:r>
            <a:endParaRPr lang="en-US" sz="1300" dirty="0"/>
          </a:p>
        </p:txBody>
      </p:sp>
      <p:pic>
        <p:nvPicPr>
          <p:cNvPr id="14" name="Image 0" descr="/home/claude/figs/f_ar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003" y="1508760"/>
            <a:ext cx="5574594" cy="44348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 · Мастер рад · 2026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ИМПЛЕМЕНТАЦИЈА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слој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Управљање профилима реализовано је преко REST команди које повезују апликацију и сервис у облаку.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55778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7" name="Shape 5"/>
          <p:cNvSpPr/>
          <p:nvPr/>
        </p:nvSpPr>
        <p:spPr>
          <a:xfrm>
            <a:off x="758952" y="2404872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8" name="Text 6"/>
          <p:cNvSpPr txBox="1"/>
          <p:nvPr/>
        </p:nvSpPr>
        <p:spPr>
          <a:xfrm>
            <a:off x="758952" y="24094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286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Креирање профила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7249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· нови профил за контролер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2103120"/>
            <a:ext cx="55778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2" name="Shape 10"/>
          <p:cNvSpPr/>
          <p:nvPr/>
        </p:nvSpPr>
        <p:spPr>
          <a:xfrm>
            <a:off x="6336792" y="2404872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3" name="Text 11"/>
          <p:cNvSpPr txBox="1"/>
          <p:nvPr/>
        </p:nvSpPr>
        <p:spPr>
          <a:xfrm>
            <a:off x="6336792" y="24094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286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Читање листе профила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7249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· сви профили инсталације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401568"/>
            <a:ext cx="55778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7" name="Shape 15"/>
          <p:cNvSpPr/>
          <p:nvPr/>
        </p:nvSpPr>
        <p:spPr>
          <a:xfrm>
            <a:off x="758952" y="3703320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8" name="Text 16"/>
          <p:cNvSpPr txBox="1"/>
          <p:nvPr/>
        </p:nvSpPr>
        <p:spPr>
          <a:xfrm>
            <a:off x="758952" y="37078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584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OTP верификација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· потврда приступа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3401568"/>
            <a:ext cx="55778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22" name="Shape 20"/>
          <p:cNvSpPr/>
          <p:nvPr/>
        </p:nvSpPr>
        <p:spPr>
          <a:xfrm>
            <a:off x="6336792" y="3703320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3" name="Text 21"/>
          <p:cNvSpPr txBox="1"/>
          <p:nvPr/>
        </p:nvSpPr>
        <p:spPr>
          <a:xfrm>
            <a:off x="6336792" y="37078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3584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Измена профила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· подулога, зоне, трајање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700016"/>
            <a:ext cx="55778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27" name="Shape 25"/>
          <p:cNvSpPr/>
          <p:nvPr/>
        </p:nvSpPr>
        <p:spPr>
          <a:xfrm>
            <a:off x="758952" y="5001768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8" name="Text 26"/>
          <p:cNvSpPr txBox="1"/>
          <p:nvPr/>
        </p:nvSpPr>
        <p:spPr>
          <a:xfrm>
            <a:off x="758952" y="5006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1463040" y="48828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Брисање профила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463040" y="5321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· уклањање приступа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80760" y="4700016"/>
            <a:ext cx="55778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32" name="Shape 30"/>
          <p:cNvSpPr/>
          <p:nvPr/>
        </p:nvSpPr>
        <p:spPr>
          <a:xfrm>
            <a:off x="6336792" y="5001768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3" name="Text 31"/>
          <p:cNvSpPr txBox="1"/>
          <p:nvPr/>
        </p:nvSpPr>
        <p:spPr>
          <a:xfrm>
            <a:off x="6336792" y="5006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48828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Инсталатерски приступ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5321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захтев и одобравање сервиса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 · Мастер рад · 2026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ИМПЛЕМЕНТАЦИЈА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Животни циклус профила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28016" cy="128016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6" name="Text 4"/>
          <p:cNvSpPr txBox="1"/>
          <p:nvPr/>
        </p:nvSpPr>
        <p:spPr>
          <a:xfrm>
            <a:off x="731520" y="13716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Стандардни профил</a:t>
            </a:r>
            <a:endParaRPr lang="en-US" sz="1500" dirty="0"/>
          </a:p>
        </p:txBody>
      </p:sp>
      <p:pic>
        <p:nvPicPr>
          <p:cNvPr id="7" name="Image 0" descr="/home/claude/figs/f_li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333" y="1783080"/>
            <a:ext cx="7012854" cy="1783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3950208"/>
            <a:ext cx="128016" cy="128016"/>
          </a:xfrm>
          <a:prstGeom prst="ellipse">
            <a:avLst/>
          </a:prstGeom>
          <a:solidFill>
            <a:srgbClr val="D98A1F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9" name="Text 6"/>
          <p:cNvSpPr txBox="1"/>
          <p:nvPr/>
        </p:nvSpPr>
        <p:spPr>
          <a:xfrm>
            <a:off x="731520" y="384048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Инсталатерски приступ</a:t>
            </a:r>
            <a:endParaRPr lang="en-US" sz="1500" dirty="0"/>
          </a:p>
        </p:txBody>
      </p:sp>
      <p:pic>
        <p:nvPicPr>
          <p:cNvPr id="10" name="Image 1" descr="/home/claude/figs/f_instal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555" y="4251960"/>
            <a:ext cx="7022409" cy="17373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 · Мастер рад · 2026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ИМПЛЕМЕНТАЦИЈА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MQTT комуникација и subroleUserId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4F7F6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6" name="Text 4"/>
          <p:cNvSpPr txBox="1"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Стандардни режим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93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корисник + контролер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постојећа topic шема, без промена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E3F1EC"/>
          </a:solidFill>
          <a:ln w="15875">
            <a:solidFill>
              <a:srgbClr val="0E7C66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0" name="Text 8"/>
          <p:cNvSpPr txBox="1"/>
          <p:nvPr/>
        </p:nvSpPr>
        <p:spPr>
          <a:xfrm>
            <a:off x="644652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Режим са подулогом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1993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корисник + контролер + </a:t>
            </a:r>
            <a:r>
              <a:rPr lang="en-US" sz="1350" b="1" dirty="0">
                <a:solidFill>
                  <a:srgbClr val="9A5B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subroleUserId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захтев се везује за активни приступни контекст</a:t>
            </a:r>
            <a:endParaRPr lang="en-US" sz="1200" dirty="0"/>
          </a:p>
        </p:txBody>
      </p:sp>
      <p:pic>
        <p:nvPicPr>
          <p:cNvPr id="13" name="Image 0" descr="/home/claude/figs/f_mq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384" y="3063240"/>
            <a:ext cx="6650751" cy="288036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 · Мастер рад · 2026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ИМПЛЕМЕНТАЦИЈА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Синхронизација и MQTT претплате</a:t>
            </a:r>
            <a:endParaRPr lang="en-US" sz="2800" dirty="0"/>
          </a:p>
        </p:txBody>
      </p:sp>
      <p:pic>
        <p:nvPicPr>
          <p:cNvPr id="5" name="Image 0" descr="/home/claude/figs/f_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955" y="1508760"/>
            <a:ext cx="7299609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397764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F4F7F6"/>
          </a:solidFill>
          <a:ln w="9525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7" name="Text 4"/>
          <p:cNvSpPr txBox="1"/>
          <p:nvPr/>
        </p:nvSpPr>
        <p:spPr>
          <a:xfrm>
            <a:off x="685800" y="420624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Промена профила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8920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ажурира ACL податке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00984" y="397764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F4F7F6"/>
          </a:solidFill>
          <a:ln w="9525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0" name="Text 7"/>
          <p:cNvSpPr txBox="1"/>
          <p:nvPr/>
        </p:nvSpPr>
        <p:spPr>
          <a:xfrm>
            <a:off x="3483864" y="420624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Апликација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3483864" y="48920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освежава локални модел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99048" y="397764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F4F7F6"/>
          </a:solidFill>
          <a:ln w="9525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3" name="Text 10"/>
          <p:cNvSpPr txBox="1"/>
          <p:nvPr/>
        </p:nvSpPr>
        <p:spPr>
          <a:xfrm>
            <a:off x="6281928" y="420624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MQTT претплате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6281928" y="48920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усклађују се са зонама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897112" y="397764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F4F7F6"/>
          </a:solidFill>
          <a:ln w="9525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6" name="Text 13"/>
          <p:cNvSpPr txBox="1"/>
          <p:nvPr/>
        </p:nvSpPr>
        <p:spPr>
          <a:xfrm>
            <a:off x="9079992" y="420624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Недоступне зоне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9079992" y="48920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 више не прате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 · Мастер рад · 2026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1D9E82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D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БЕЗБЕДНОСТ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Контролер као извршни слој заштите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обради сваког захтева контролер проверава: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1B3350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7" name="Shape 5"/>
          <p:cNvSpPr/>
          <p:nvPr/>
        </p:nvSpPr>
        <p:spPr>
          <a:xfrm>
            <a:off x="1591056" y="2542032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8" name="Text 6"/>
          <p:cNvSpPr txBox="1"/>
          <p:nvPr/>
        </p:nvSpPr>
        <p:spPr>
          <a:xfrm>
            <a:off x="1591056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Активна подулога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0" y="228600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1B3350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1" name="Shape 9"/>
          <p:cNvSpPr/>
          <p:nvPr/>
        </p:nvSpPr>
        <p:spPr>
          <a:xfrm>
            <a:off x="3785616" y="2542032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2" name="Text 10"/>
          <p:cNvSpPr txBox="1"/>
          <p:nvPr/>
        </p:nvSpPr>
        <p:spPr>
          <a:xfrm>
            <a:off x="3785616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145536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ACL листа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12080" y="228600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1B3350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5" name="Shape 13"/>
          <p:cNvSpPr/>
          <p:nvPr/>
        </p:nvSpPr>
        <p:spPr>
          <a:xfrm>
            <a:off x="5980176" y="2542032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6" name="Text 14"/>
          <p:cNvSpPr txBox="1"/>
          <p:nvPr/>
        </p:nvSpPr>
        <p:spPr>
          <a:xfrm>
            <a:off x="5980176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40096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Зона ресурса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06640" y="228600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1B3350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9" name="Shape 17"/>
          <p:cNvSpPr/>
          <p:nvPr/>
        </p:nvSpPr>
        <p:spPr>
          <a:xfrm>
            <a:off x="8174736" y="2542032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0" name="Text 18"/>
          <p:cNvSpPr txBox="1"/>
          <p:nvPr/>
        </p:nvSpPr>
        <p:spPr>
          <a:xfrm>
            <a:off x="8174736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534656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 операције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01200" y="2286000"/>
            <a:ext cx="2084832" cy="1371600"/>
          </a:xfrm>
          <a:prstGeom prst="roundRect">
            <a:avLst>
              <a:gd name="adj" fmla="val 6667"/>
            </a:avLst>
          </a:prstGeom>
          <a:solidFill>
            <a:srgbClr val="1B3350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3" name="Shape 21"/>
          <p:cNvSpPr/>
          <p:nvPr/>
        </p:nvSpPr>
        <p:spPr>
          <a:xfrm>
            <a:off x="10369296" y="2542032"/>
            <a:ext cx="548640" cy="54864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4" name="Text 22"/>
          <p:cNvSpPr txBox="1"/>
          <p:nvPr/>
        </p:nvSpPr>
        <p:spPr>
          <a:xfrm>
            <a:off x="10369296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729216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Статус профила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02336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1B3350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7" name="Shape 25"/>
          <p:cNvSpPr/>
          <p:nvPr/>
        </p:nvSpPr>
        <p:spPr>
          <a:xfrm>
            <a:off x="1143000" y="4343400"/>
            <a:ext cx="457200" cy="457200"/>
          </a:xfrm>
          <a:prstGeom prst="ellipse">
            <a:avLst/>
          </a:prstGeom>
          <a:solidFill>
            <a:srgbClr val="D98A1F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8" name="Text 26"/>
          <p:cNvSpPr txBox="1"/>
          <p:nvPr/>
        </p:nvSpPr>
        <p:spPr>
          <a:xfrm>
            <a:off x="1143000" y="43479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1783080" y="4206240"/>
            <a:ext cx="9326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D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Кључна порука: 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апликација може да сакрије недозвољене опције, али коначна провера мора бити на контролеру. Ако команда није у складу са ACL правилима, контролер је не извршава.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Text 1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ВЕРИФИКАЦИЈА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Тестирање система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Тестирањем су покривени главни делови решења.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4F7F6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7" name="Shape 5"/>
          <p:cNvSpPr/>
          <p:nvPr/>
        </p:nvSpPr>
        <p:spPr>
          <a:xfrm>
            <a:off x="758952" y="2331720"/>
            <a:ext cx="502920" cy="50292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8" name="Text 6"/>
          <p:cNvSpPr txBox="1"/>
          <p:nvPr/>
        </p:nvSpPr>
        <p:spPr>
          <a:xfrm>
            <a:off x="758952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0574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Животни циклус профила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080760" y="20574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4F7F6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1" name="Shape 9"/>
          <p:cNvSpPr/>
          <p:nvPr/>
        </p:nvSpPr>
        <p:spPr>
          <a:xfrm>
            <a:off x="6336792" y="2331720"/>
            <a:ext cx="502920" cy="50292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2" name="Text 10"/>
          <p:cNvSpPr txBox="1"/>
          <p:nvPr/>
        </p:nvSpPr>
        <p:spPr>
          <a:xfrm>
            <a:off x="6336792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0574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Ограничење по зонама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4F7F6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5" name="Shape 13"/>
          <p:cNvSpPr/>
          <p:nvPr/>
        </p:nvSpPr>
        <p:spPr>
          <a:xfrm>
            <a:off x="758952" y="3566160"/>
            <a:ext cx="502920" cy="50292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6" name="Text 14"/>
          <p:cNvSpPr txBox="1"/>
          <p:nvPr/>
        </p:nvSpPr>
        <p:spPr>
          <a:xfrm>
            <a:off x="758952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29184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MQTT догађаји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080760" y="329184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4F7F6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19" name="Shape 17"/>
          <p:cNvSpPr/>
          <p:nvPr/>
        </p:nvSpPr>
        <p:spPr>
          <a:xfrm>
            <a:off x="6336792" y="3566160"/>
            <a:ext cx="502920" cy="50292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0" name="Text 18"/>
          <p:cNvSpPr txBox="1"/>
          <p:nvPr/>
        </p:nvSpPr>
        <p:spPr>
          <a:xfrm>
            <a:off x="6336792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29184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Временски ограничен приступ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4F7F6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23" name="Shape 21"/>
          <p:cNvSpPr/>
          <p:nvPr/>
        </p:nvSpPr>
        <p:spPr>
          <a:xfrm>
            <a:off x="758952" y="4800600"/>
            <a:ext cx="502920" cy="50292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4" name="Text 22"/>
          <p:cNvSpPr txBox="1"/>
          <p:nvPr/>
        </p:nvSpPr>
        <p:spPr>
          <a:xfrm>
            <a:off x="758952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45262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· execute · manage права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080760" y="452628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4F7F6"/>
          </a:solidFill>
          <a:ln w="12700">
            <a:solidFill>
              <a:srgbClr val="D9E2DE"/>
            </a:solidFill>
            <a:prstDash val="solid"/>
          </a:ln>
        </p:spPr>
        <p:txBody>
          <a:bodyPr/>
          <a:lstStyle/>
          <a:p>
            <a:endParaRPr lang="en-RS"/>
          </a:p>
        </p:txBody>
      </p:sp>
      <p:sp>
        <p:nvSpPr>
          <p:cNvPr id="27" name="Shape 25"/>
          <p:cNvSpPr/>
          <p:nvPr/>
        </p:nvSpPr>
        <p:spPr>
          <a:xfrm>
            <a:off x="6336792" y="4800600"/>
            <a:ext cx="502920" cy="502920"/>
          </a:xfrm>
          <a:prstGeom prst="ellipse">
            <a:avLst/>
          </a:prstGeom>
          <a:solidFill>
            <a:srgbClr val="0E7C66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28" name="Text 26"/>
          <p:cNvSpPr txBox="1"/>
          <p:nvPr/>
        </p:nvSpPr>
        <p:spPr>
          <a:xfrm>
            <a:off x="6336792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45262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Одбијање недозвољене команде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190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 · Мастер рад · 2026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3291840" cy="3291840"/>
          </a:xfrm>
          <a:prstGeom prst="roundRect">
            <a:avLst>
              <a:gd name="adj" fmla="val 11111"/>
            </a:avLst>
          </a:prstGeom>
          <a:solidFill>
            <a:srgbClr val="0E7C66">
              <a:alpha val="20000"/>
            </a:srgbClr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Shape 1"/>
          <p:cNvSpPr/>
          <p:nvPr/>
        </p:nvSpPr>
        <p:spPr>
          <a:xfrm>
            <a:off x="457200" y="475488"/>
            <a:ext cx="164592" cy="164592"/>
          </a:xfrm>
          <a:prstGeom prst="ellipse">
            <a:avLst/>
          </a:prstGeom>
          <a:solidFill>
            <a:srgbClr val="1D9E82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4" name="Text 2"/>
          <p:cNvSpPr txBox="1"/>
          <p:nvPr/>
        </p:nvSpPr>
        <p:spPr>
          <a:xfrm>
            <a:off x="713232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D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РЕЗУЛТАТИ И ЗАКЉУЧАК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Утицај на перформансе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9966960" cy="548640"/>
          </a:xfrm>
          <a:prstGeom prst="rect">
            <a:avLst/>
          </a:prstGeom>
          <a:solidFill>
            <a:srgbClr val="1B3350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7" name="Text 5"/>
          <p:cNvSpPr txBox="1"/>
          <p:nvPr/>
        </p:nvSpPr>
        <p:spPr>
          <a:xfrm>
            <a:off x="1051560" y="1737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Сценарио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Стандардно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 подулогом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286000"/>
            <a:ext cx="9966960" cy="603504"/>
          </a:xfrm>
          <a:prstGeom prst="rect">
            <a:avLst/>
          </a:prstGeom>
          <a:solidFill>
            <a:srgbClr val="16293F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1" name="Text 9"/>
          <p:cNvSpPr txBox="1"/>
          <p:nvPr/>
        </p:nvSpPr>
        <p:spPr>
          <a:xfrm>
            <a:off x="1051560" y="22860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Синхронизација модела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2860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5694 ms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228600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5638 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2889504"/>
            <a:ext cx="9966960" cy="603504"/>
          </a:xfrm>
          <a:prstGeom prst="rect">
            <a:avLst/>
          </a:prstGeom>
          <a:solidFill>
            <a:srgbClr val="12233A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15" name="Text 13"/>
          <p:cNvSpPr txBox="1"/>
          <p:nvPr/>
        </p:nvSpPr>
        <p:spPr>
          <a:xfrm>
            <a:off x="1051560" y="288950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SetServiceValueCmd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88950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ms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288950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6758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Разлика код синхронизације је у оквиру варијације мерења (20 понављања) — иста вредност се не може поновити тачно</a:t>
            </a:r>
            <a:r>
              <a:rPr lang="en-US" sz="1200" i="1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Закључак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6634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механизам подулога реализован и уклопљен у OBLO</a:t>
            </a:r>
            <a:endParaRPr lang="en-US" sz="150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приступ по контролеру, зони, праву и времену</a:t>
            </a:r>
            <a:endParaRPr lang="en-US" sz="150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C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тестирање потврдило исправност; без нарушавања перформанси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3291840" cy="3291840"/>
          </a:xfrm>
          <a:prstGeom prst="roundRect">
            <a:avLst>
              <a:gd name="adj" fmla="val 11111"/>
            </a:avLst>
          </a:prstGeom>
          <a:solidFill>
            <a:srgbClr val="0E7C66">
              <a:alpha val="20000"/>
            </a:srgbClr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3" name="Shape 1"/>
          <p:cNvSpPr/>
          <p:nvPr/>
        </p:nvSpPr>
        <p:spPr>
          <a:xfrm>
            <a:off x="10241280" y="4754880"/>
            <a:ext cx="3108960" cy="3108960"/>
          </a:xfrm>
          <a:prstGeom prst="roundRect">
            <a:avLst>
              <a:gd name="adj" fmla="val 11765"/>
            </a:avLst>
          </a:prstGeom>
          <a:solidFill>
            <a:srgbClr val="D98A1F">
              <a:alpha val="16000"/>
            </a:srgbClr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4" name="Shape 2"/>
          <p:cNvSpPr/>
          <p:nvPr/>
        </p:nvSpPr>
        <p:spPr>
          <a:xfrm>
            <a:off x="841248" y="2514600"/>
            <a:ext cx="1828800" cy="27432"/>
          </a:xfrm>
          <a:prstGeom prst="rect">
            <a:avLst/>
          </a:prstGeom>
          <a:solidFill>
            <a:srgbClr val="D98A1F"/>
          </a:solidFill>
          <a:ln/>
        </p:spPr>
        <p:txBody>
          <a:bodyPr/>
          <a:lstStyle/>
          <a:p>
            <a:endParaRPr lang="en-RS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Хвала на пажњи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1D9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Питања и дискусија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Огњен Стојисављевић</a:t>
            </a:r>
            <a:r>
              <a:rPr lang="en-US" sz="13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r>
              <a:rPr lang="en-US" sz="13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Ментор: проф. др Марија Антић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2168</Words>
  <Application>Microsoft Macintosh PowerPoint</Application>
  <PresentationFormat>Widescreen</PresentationFormat>
  <Paragraphs>409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Напредни систем контроле приступа (User Subroles)</dc:title>
  <dc:subject>PptxGenJS Presentation</dc:subject>
  <dc:creator>Огњен Стојисављевић</dc:creator>
  <cp:lastModifiedBy>Ognjen Stojisavljevic</cp:lastModifiedBy>
  <cp:revision>8</cp:revision>
  <dcterms:created xsi:type="dcterms:W3CDTF">2026-09-08T23:10:31Z</dcterms:created>
  <dcterms:modified xsi:type="dcterms:W3CDTF">2026-09-09T16:12:16Z</dcterms:modified>
</cp:coreProperties>
</file>